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David McComas, Susanne Strege and Jonathan Wilmot, "Core Flight System (cFS) a Low Cost Solution for SmallSats", NASA GSFC, August 2015, NTRS 20150018075, page 8. https://ntrs.nasa.gov/citations/20150018075. Work of the US Gov. Public Use Permitted. Revised version. Every change and every rejected change is in slides/02-cfs-key-features/log-revised.md.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41148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2015 cFS design, a mission builds its own apps, libraries and platform support and reuses the NASA-maintained framework</a:t>
            </a:r>
            <a:endParaRPr lang="en-US" sz="2800" dirty="0"/>
          </a:p>
        </p:txBody>
      </p:sp>
      <p:sp>
        <p:nvSpPr>
          <p:cNvPr id="3" name="Subtitle"/>
          <p:cNvSpPr/>
          <p:nvPr/>
        </p:nvSpPr>
        <p:spPr>
          <a:xfrm>
            <a:off x="457200" y="132588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diagram from the August 2015 cFS briefing for SmallSats, redrawn. Colors show who built or maintained each part at the time.</a:t>
            </a:r>
            <a:endParaRPr lang="en-US" sz="1400" dirty="0"/>
          </a:p>
        </p:txBody>
      </p:sp>
      <p:sp>
        <p:nvSpPr>
          <p:cNvPr id="4" name="Layer name 1"/>
          <p:cNvSpPr/>
          <p:nvPr/>
        </p:nvSpPr>
        <p:spPr>
          <a:xfrm>
            <a:off x="457200" y="178308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and cFS application layer</a:t>
            </a:r>
            <a:endParaRPr lang="en-US" sz="1400" dirty="0"/>
          </a:p>
        </p:txBody>
      </p:sp>
      <p:sp>
        <p:nvSpPr>
          <p:cNvPr id="5" name="Layer name 2"/>
          <p:cNvSpPr/>
          <p:nvPr/>
        </p:nvSpPr>
        <p:spPr>
          <a:xfrm>
            <a:off x="457200" y="257860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and cFS library layer</a:t>
            </a:r>
            <a:endParaRPr lang="en-US" sz="1400" dirty="0"/>
          </a:p>
        </p:txBody>
      </p:sp>
      <p:sp>
        <p:nvSpPr>
          <p:cNvPr id="6" name="Layer rule 1"/>
          <p:cNvSpPr/>
          <p:nvPr/>
        </p:nvSpPr>
        <p:spPr>
          <a:xfrm>
            <a:off x="457200" y="2523744"/>
            <a:ext cx="7772400" cy="0"/>
          </a:xfrm>
          <a:prstGeom prst="line">
            <a:avLst/>
          </a:prstGeom>
          <a:noFill/>
          <a:ln w="9525">
            <a:solidFill>
              <a:srgbClr val="C9CED6"/>
            </a:solidFill>
            <a:prstDash val="solid"/>
          </a:ln>
        </p:spPr>
      </p:sp>
      <p:sp>
        <p:nvSpPr>
          <p:cNvPr id="7" name="Layer name 3"/>
          <p:cNvSpPr/>
          <p:nvPr/>
        </p:nvSpPr>
        <p:spPr>
          <a:xfrm>
            <a:off x="457200" y="3191256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cFE core layer</a:t>
            </a:r>
            <a:endParaRPr lang="en-US" sz="1400" dirty="0"/>
          </a:p>
        </p:txBody>
      </p:sp>
      <p:sp>
        <p:nvSpPr>
          <p:cNvPr id="8" name="Layer rule 2"/>
          <p:cNvSpPr/>
          <p:nvPr/>
        </p:nvSpPr>
        <p:spPr>
          <a:xfrm>
            <a:off x="457200" y="3136392"/>
            <a:ext cx="7772400" cy="0"/>
          </a:xfrm>
          <a:prstGeom prst="line">
            <a:avLst/>
          </a:prstGeom>
          <a:noFill/>
          <a:ln w="9525">
            <a:solidFill>
              <a:srgbClr val="C9CED6"/>
            </a:solidFill>
            <a:prstDash val="solid"/>
          </a:ln>
        </p:spPr>
      </p:sp>
      <p:sp>
        <p:nvSpPr>
          <p:cNvPr id="9" name="Layer name 4"/>
          <p:cNvSpPr/>
          <p:nvPr/>
        </p:nvSpPr>
        <p:spPr>
          <a:xfrm>
            <a:off x="457200" y="4123944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Abstraction library layer</a:t>
            </a:r>
            <a:endParaRPr lang="en-US" sz="1400" dirty="0"/>
          </a:p>
        </p:txBody>
      </p:sp>
      <p:sp>
        <p:nvSpPr>
          <p:cNvPr id="10" name="Layer rule 3"/>
          <p:cNvSpPr/>
          <p:nvPr/>
        </p:nvSpPr>
        <p:spPr>
          <a:xfrm>
            <a:off x="457200" y="4069080"/>
            <a:ext cx="7772400" cy="0"/>
          </a:xfrm>
          <a:prstGeom prst="line">
            <a:avLst/>
          </a:prstGeom>
          <a:noFill/>
          <a:ln w="9525">
            <a:solidFill>
              <a:srgbClr val="C9CED6"/>
            </a:solidFill>
            <a:prstDash val="solid"/>
          </a:ln>
        </p:spPr>
      </p:sp>
      <p:sp>
        <p:nvSpPr>
          <p:cNvPr id="11" name="Layer name 5"/>
          <p:cNvSpPr/>
          <p:nvPr/>
        </p:nvSpPr>
        <p:spPr>
          <a:xfrm>
            <a:off x="457200" y="5056632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RTOS and boot layer</a:t>
            </a:r>
            <a:endParaRPr lang="en-US" sz="1400" dirty="0"/>
          </a:p>
        </p:txBody>
      </p:sp>
      <p:sp>
        <p:nvSpPr>
          <p:cNvPr id="12" name="Layer rule 4"/>
          <p:cNvSpPr/>
          <p:nvPr/>
        </p:nvSpPr>
        <p:spPr>
          <a:xfrm>
            <a:off x="457200" y="5001768"/>
            <a:ext cx="7772400" cy="0"/>
          </a:xfrm>
          <a:prstGeom prst="line">
            <a:avLst/>
          </a:prstGeom>
          <a:noFill/>
          <a:ln w="9525">
            <a:solidFill>
              <a:srgbClr val="C9CED6"/>
            </a:solidFill>
            <a:prstDash val="solid"/>
          </a:ln>
        </p:spPr>
      </p:sp>
      <p:sp>
        <p:nvSpPr>
          <p:cNvPr id="13" name="Part 1: cFE apps (x5)"/>
          <p:cNvSpPr/>
          <p:nvPr/>
        </p:nvSpPr>
        <p:spPr>
          <a:xfrm>
            <a:off x="2011680" y="1783080"/>
            <a:ext cx="790042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6B7480"/>
            </a:solidFill>
            <a:prstDash val="dash"/>
          </a:ln>
        </p:spPr>
        <p:txBody>
          <a:bodyPr wrap="square" lIns="38100" tIns="12700" rIns="38100" bIns="12700" rtlCol="0" anchor="ctr"/>
          <a:lstStyle/>
          <a:p>
            <a:pPr algn="ctr" indent="0" marL="0">
              <a:lnSpc>
                <a:spcPts val="132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cFE apps</a:t>
            </a:r>
            <a:endParaRPr lang="en-US" sz="1200" dirty="0"/>
          </a:p>
          <a:p>
            <a:pPr algn="ctr" indent="0" marL="0">
              <a:lnSpc>
                <a:spcPts val="132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(x5)</a:t>
            </a:r>
            <a:endParaRPr lang="en-US" sz="1200" dirty="0"/>
          </a:p>
        </p:txBody>
      </p:sp>
      <p:sp>
        <p:nvSpPr>
          <p:cNvPr id="14" name="Part 2: Software Bus Network"/>
          <p:cNvSpPr/>
          <p:nvPr/>
        </p:nvSpPr>
        <p:spPr>
          <a:xfrm>
            <a:off x="2876594" y="1783080"/>
            <a:ext cx="1010107" cy="685800"/>
          </a:xfrm>
          <a:prstGeom prst="rect">
            <a:avLst/>
          </a:prstGeom>
          <a:solidFill>
            <a:srgbClr val="A9BED3"/>
          </a:solidFill>
          <a:ln w="9525">
            <a:solidFill>
              <a:srgbClr val="A9BED3"/>
            </a:solidFill>
          </a:ln>
        </p:spPr>
        <p:txBody>
          <a:bodyPr wrap="square" lIns="38100" tIns="12700" rIns="38100" bIns="12700" rtlCol="0" anchor="ctr"/>
          <a:lstStyle/>
          <a:p>
            <a:pPr algn="ctr" indent="0" marL="0">
              <a:lnSpc>
                <a:spcPts val="132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</a:t>
            </a:r>
            <a:endParaRPr lang="en-US" sz="1200" dirty="0"/>
          </a:p>
          <a:p>
            <a:pPr algn="ctr" indent="0" marL="0">
              <a:lnSpc>
                <a:spcPts val="132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 Network</a:t>
            </a:r>
            <a:endParaRPr lang="en-US" sz="1200" dirty="0"/>
          </a:p>
        </p:txBody>
      </p:sp>
      <p:sp>
        <p:nvSpPr>
          <p:cNvPr id="15" name="Part 3: cFS App 1"/>
          <p:cNvSpPr/>
          <p:nvPr/>
        </p:nvSpPr>
        <p:spPr>
          <a:xfrm>
            <a:off x="3961573" y="1783080"/>
            <a:ext cx="815492" cy="685800"/>
          </a:xfrm>
          <a:prstGeom prst="rect">
            <a:avLst/>
          </a:prstGeom>
          <a:solidFill>
            <a:srgbClr val="2F5D8A"/>
          </a:solidFill>
          <a:ln w="9525">
            <a:solidFill>
              <a:srgbClr val="2F5D8A"/>
            </a:solidFill>
          </a:ln>
        </p:spPr>
        <p:txBody>
          <a:bodyPr wrap="square" lIns="38100" tIns="12700" rIns="38100" bIns="12700" rtlCol="0" anchor="ctr"/>
          <a:lstStyle/>
          <a:p>
            <a:pPr algn="ctr" indent="0" marL="0">
              <a:lnSpc>
                <a:spcPts val="132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cFS</a:t>
            </a:r>
            <a:endParaRPr lang="en-US" sz="1200" dirty="0"/>
          </a:p>
          <a:p>
            <a:pPr algn="ctr" indent="0" marL="0">
              <a:lnSpc>
                <a:spcPts val="132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1</a:t>
            </a:r>
            <a:endParaRPr lang="en-US" sz="1200" dirty="0"/>
          </a:p>
        </p:txBody>
      </p:sp>
      <p:sp>
        <p:nvSpPr>
          <p:cNvPr id="16" name="Ellipsis"/>
          <p:cNvSpPr/>
          <p:nvPr/>
        </p:nvSpPr>
        <p:spPr>
          <a:xfrm>
            <a:off x="4851937" y="1783080"/>
            <a:ext cx="274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</a:t>
            </a:r>
            <a:endParaRPr lang="en-US" sz="1400" dirty="0"/>
          </a:p>
        </p:txBody>
      </p:sp>
      <p:sp>
        <p:nvSpPr>
          <p:cNvPr id="17" name="Part 4: cFS App n(13)"/>
          <p:cNvSpPr/>
          <p:nvPr/>
        </p:nvSpPr>
        <p:spPr>
          <a:xfrm>
            <a:off x="5201129" y="1783080"/>
            <a:ext cx="815492" cy="685800"/>
          </a:xfrm>
          <a:prstGeom prst="rect">
            <a:avLst/>
          </a:prstGeom>
          <a:solidFill>
            <a:srgbClr val="2F5D8A"/>
          </a:solidFill>
          <a:ln w="9525">
            <a:solidFill>
              <a:srgbClr val="2F5D8A"/>
            </a:solidFill>
          </a:ln>
        </p:spPr>
        <p:txBody>
          <a:bodyPr wrap="square" lIns="38100" tIns="12700" rIns="38100" bIns="12700" rtlCol="0" anchor="ctr"/>
          <a:lstStyle/>
          <a:p>
            <a:pPr algn="ctr" indent="0" marL="0">
              <a:lnSpc>
                <a:spcPts val="132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cFS</a:t>
            </a:r>
            <a:endParaRPr lang="en-US" sz="1200" dirty="0"/>
          </a:p>
          <a:p>
            <a:pPr algn="ctr" indent="0" marL="0">
              <a:lnSpc>
                <a:spcPts val="132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n(13)</a:t>
            </a:r>
            <a:endParaRPr lang="en-US" sz="1200" dirty="0"/>
          </a:p>
        </p:txBody>
      </p:sp>
      <p:sp>
        <p:nvSpPr>
          <p:cNvPr id="18" name="Part 5: Mission App 1"/>
          <p:cNvSpPr/>
          <p:nvPr/>
        </p:nvSpPr>
        <p:spPr>
          <a:xfrm>
            <a:off x="6091493" y="1783080"/>
            <a:ext cx="662788" cy="685800"/>
          </a:xfrm>
          <a:prstGeom prst="rect">
            <a:avLst/>
          </a:prstGeom>
          <a:solidFill>
            <a:srgbClr val="D9822B"/>
          </a:solidFill>
          <a:ln w="9525">
            <a:solidFill>
              <a:srgbClr val="D9822B"/>
            </a:solidFill>
          </a:ln>
        </p:spPr>
        <p:txBody>
          <a:bodyPr wrap="square" lIns="38100" tIns="12700" rIns="38100" bIns="12700" rtlCol="0" anchor="ctr"/>
          <a:lstStyle/>
          <a:p>
            <a:pPr algn="ctr" indent="0" marL="0">
              <a:lnSpc>
                <a:spcPts val="132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</a:t>
            </a:r>
            <a:endParaRPr lang="en-US" sz="1200" dirty="0"/>
          </a:p>
          <a:p>
            <a:pPr algn="ctr" indent="0" marL="0">
              <a:lnSpc>
                <a:spcPts val="132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1</a:t>
            </a:r>
            <a:endParaRPr lang="en-US" sz="1200" dirty="0"/>
          </a:p>
        </p:txBody>
      </p:sp>
      <p:sp>
        <p:nvSpPr>
          <p:cNvPr id="19" name="Part 6: Mission App 2"/>
          <p:cNvSpPr/>
          <p:nvPr/>
        </p:nvSpPr>
        <p:spPr>
          <a:xfrm>
            <a:off x="6829153" y="1783080"/>
            <a:ext cx="662788" cy="685800"/>
          </a:xfrm>
          <a:prstGeom prst="rect">
            <a:avLst/>
          </a:prstGeom>
          <a:solidFill>
            <a:srgbClr val="D9822B"/>
          </a:solidFill>
          <a:ln w="9525">
            <a:solidFill>
              <a:srgbClr val="D9822B"/>
            </a:solidFill>
          </a:ln>
        </p:spPr>
        <p:txBody>
          <a:bodyPr wrap="square" lIns="38100" tIns="12700" rIns="38100" bIns="12700" rtlCol="0" anchor="ctr"/>
          <a:lstStyle/>
          <a:p>
            <a:pPr algn="ctr" indent="0" marL="0">
              <a:lnSpc>
                <a:spcPts val="132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</a:t>
            </a:r>
            <a:endParaRPr lang="en-US" sz="1200" dirty="0"/>
          </a:p>
          <a:p>
            <a:pPr algn="ctr" indent="0" marL="0">
              <a:lnSpc>
                <a:spcPts val="132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2</a:t>
            </a:r>
            <a:endParaRPr lang="en-US" sz="1200" dirty="0"/>
          </a:p>
        </p:txBody>
      </p:sp>
      <p:sp>
        <p:nvSpPr>
          <p:cNvPr id="20" name="Part 7: Mission App N"/>
          <p:cNvSpPr/>
          <p:nvPr/>
        </p:nvSpPr>
        <p:spPr>
          <a:xfrm>
            <a:off x="7566812" y="1783080"/>
            <a:ext cx="662788" cy="685800"/>
          </a:xfrm>
          <a:prstGeom prst="rect">
            <a:avLst/>
          </a:prstGeom>
          <a:solidFill>
            <a:srgbClr val="D9822B"/>
          </a:solidFill>
          <a:ln w="9525">
            <a:solidFill>
              <a:srgbClr val="D9822B"/>
            </a:solidFill>
          </a:ln>
        </p:spPr>
        <p:txBody>
          <a:bodyPr wrap="square" lIns="38100" tIns="12700" rIns="38100" bIns="12700" rtlCol="0" anchor="ctr"/>
          <a:lstStyle/>
          <a:p>
            <a:pPr algn="ctr" indent="0" marL="0">
              <a:lnSpc>
                <a:spcPts val="132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</a:t>
            </a:r>
            <a:endParaRPr lang="en-US" sz="1200" dirty="0"/>
          </a:p>
          <a:p>
            <a:pPr algn="ctr" indent="0" marL="0">
              <a:lnSpc>
                <a:spcPts val="132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N</a:t>
            </a:r>
            <a:endParaRPr lang="en-US" sz="1200" dirty="0"/>
          </a:p>
        </p:txBody>
      </p:sp>
      <p:sp>
        <p:nvSpPr>
          <p:cNvPr id="21" name="Part 8: cFS Library"/>
          <p:cNvSpPr/>
          <p:nvPr/>
        </p:nvSpPr>
        <p:spPr>
          <a:xfrm>
            <a:off x="2011680" y="2578608"/>
            <a:ext cx="1371600" cy="502920"/>
          </a:xfrm>
          <a:prstGeom prst="rect">
            <a:avLst/>
          </a:prstGeom>
          <a:solidFill>
            <a:srgbClr val="2F5D8A"/>
          </a:solidFill>
          <a:ln w="9525">
            <a:solidFill>
              <a:srgbClr val="2F5D8A"/>
            </a:solidFill>
          </a:ln>
        </p:spPr>
        <p:txBody>
          <a:bodyPr wrap="square" lIns="38100" tIns="12700" rIns="38100" bIns="12700" rtlCol="0" anchor="ctr"/>
          <a:lstStyle/>
          <a:p>
            <a:pPr algn="ctr" indent="0" marL="0">
              <a:lnSpc>
                <a:spcPts val="132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cFS Library</a:t>
            </a:r>
            <a:endParaRPr lang="en-US" sz="1200" dirty="0"/>
          </a:p>
        </p:txBody>
      </p:sp>
      <p:sp>
        <p:nvSpPr>
          <p:cNvPr id="22" name="Part 9: Mission Library"/>
          <p:cNvSpPr/>
          <p:nvPr/>
        </p:nvSpPr>
        <p:spPr>
          <a:xfrm>
            <a:off x="3520440" y="2578608"/>
            <a:ext cx="1463040" cy="502920"/>
          </a:xfrm>
          <a:prstGeom prst="rect">
            <a:avLst/>
          </a:prstGeom>
          <a:solidFill>
            <a:srgbClr val="D9822B"/>
          </a:solidFill>
          <a:ln w="9525">
            <a:solidFill>
              <a:srgbClr val="D9822B"/>
            </a:solidFill>
          </a:ln>
        </p:spPr>
        <p:txBody>
          <a:bodyPr wrap="square" lIns="38100" tIns="12700" rIns="38100" bIns="12700" rtlCol="0" anchor="ctr"/>
          <a:lstStyle/>
          <a:p>
            <a:pPr algn="ctr" indent="0" marL="0">
              <a:lnSpc>
                <a:spcPts val="132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Library</a:t>
            </a:r>
            <a:endParaRPr lang="en-US" sz="1200" dirty="0"/>
          </a:p>
        </p:txBody>
      </p:sp>
      <p:sp>
        <p:nvSpPr>
          <p:cNvPr id="23" name="API bar: cFE API"/>
          <p:cNvSpPr/>
          <p:nvPr/>
        </p:nvSpPr>
        <p:spPr>
          <a:xfrm>
            <a:off x="2011680" y="3191256"/>
            <a:ext cx="6217920" cy="274320"/>
          </a:xfrm>
          <a:prstGeom prst="rect">
            <a:avLst/>
          </a:prstGeom>
          <a:solidFill>
            <a:srgbClr val="2F5D8A"/>
          </a:solidFill>
          <a:ln w="9525">
            <a:solidFill>
              <a:srgbClr val="2F5D8A"/>
            </a:solidFill>
          </a:ln>
        </p:spPr>
        <p:txBody>
          <a:bodyPr wrap="square" lIns="38100" tIns="12700" rIns="38100" bIns="12700" rtlCol="0" anchor="ctr"/>
          <a:lstStyle/>
          <a:p>
            <a:pPr algn="ctr" indent="0" marL="0">
              <a:lnSpc>
                <a:spcPts val="13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cFE API</a:t>
            </a:r>
            <a:endParaRPr lang="en-US" sz="1200" dirty="0"/>
          </a:p>
        </p:txBody>
      </p:sp>
      <p:sp>
        <p:nvSpPr>
          <p:cNvPr id="24" name="Part 11: cFE Core"/>
          <p:cNvSpPr/>
          <p:nvPr/>
        </p:nvSpPr>
        <p:spPr>
          <a:xfrm>
            <a:off x="2011680" y="3538728"/>
            <a:ext cx="2148840" cy="475488"/>
          </a:xfrm>
          <a:prstGeom prst="rect">
            <a:avLst/>
          </a:prstGeom>
          <a:solidFill>
            <a:srgbClr val="2F5D8A"/>
          </a:solidFill>
          <a:ln w="9525">
            <a:solidFill>
              <a:srgbClr val="2F5D8A"/>
            </a:solidFill>
          </a:ln>
        </p:spPr>
        <p:txBody>
          <a:bodyPr wrap="square" lIns="38100" tIns="12700" rIns="38100" bIns="12700" rtlCol="0" anchor="ctr"/>
          <a:lstStyle/>
          <a:p>
            <a:pPr algn="ctr" indent="0" marL="0">
              <a:lnSpc>
                <a:spcPts val="132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cFE Core</a:t>
            </a:r>
            <a:endParaRPr lang="en-US" sz="1200" dirty="0"/>
          </a:p>
        </p:txBody>
      </p:sp>
      <p:sp>
        <p:nvSpPr>
          <p:cNvPr id="25" name="Part 12: µcFE Core"/>
          <p:cNvSpPr/>
          <p:nvPr/>
        </p:nvSpPr>
        <p:spPr>
          <a:xfrm>
            <a:off x="4297680" y="3538728"/>
            <a:ext cx="1234440" cy="475488"/>
          </a:xfrm>
          <a:prstGeom prst="rect">
            <a:avLst/>
          </a:prstGeom>
          <a:solidFill>
            <a:srgbClr val="A9BED3"/>
          </a:solidFill>
          <a:ln w="9525">
            <a:solidFill>
              <a:srgbClr val="A9BED3"/>
            </a:solidFill>
          </a:ln>
        </p:spPr>
        <p:txBody>
          <a:bodyPr wrap="square" lIns="38100" tIns="12700" rIns="38100" bIns="12700" rtlCol="0" anchor="ctr"/>
          <a:lstStyle/>
          <a:p>
            <a:pPr algn="ctr" indent="0" marL="0">
              <a:lnSpc>
                <a:spcPts val="132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µcFE Core</a:t>
            </a:r>
            <a:endParaRPr lang="en-US" sz="1200" dirty="0"/>
          </a:p>
        </p:txBody>
      </p:sp>
      <p:sp>
        <p:nvSpPr>
          <p:cNvPr id="26" name="Part 13: Time and Space Partitioning (TSP) cFE Core"/>
          <p:cNvSpPr/>
          <p:nvPr/>
        </p:nvSpPr>
        <p:spPr>
          <a:xfrm>
            <a:off x="5669280" y="3538728"/>
            <a:ext cx="2560320" cy="475488"/>
          </a:xfrm>
          <a:prstGeom prst="rect">
            <a:avLst/>
          </a:prstGeom>
          <a:solidFill>
            <a:srgbClr val="A9BED3"/>
          </a:solidFill>
          <a:ln w="9525">
            <a:solidFill>
              <a:srgbClr val="A9BED3"/>
            </a:solidFill>
          </a:ln>
        </p:spPr>
        <p:txBody>
          <a:bodyPr wrap="square" lIns="38100" tIns="12700" rIns="38100" bIns="12700" rtlCol="0" anchor="ctr"/>
          <a:lstStyle/>
          <a:p>
            <a:pPr algn="ctr" indent="0" marL="0">
              <a:lnSpc>
                <a:spcPts val="132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and Space Partitioning</a:t>
            </a:r>
            <a:endParaRPr lang="en-US" sz="1200" dirty="0"/>
          </a:p>
          <a:p>
            <a:pPr algn="ctr" indent="0" marL="0">
              <a:lnSpc>
                <a:spcPts val="132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(TSP) cFE Core</a:t>
            </a:r>
            <a:endParaRPr lang="en-US" sz="1200" dirty="0"/>
          </a:p>
        </p:txBody>
      </p:sp>
      <p:sp>
        <p:nvSpPr>
          <p:cNvPr id="27" name="API bar: OS Abstraction API"/>
          <p:cNvSpPr/>
          <p:nvPr/>
        </p:nvSpPr>
        <p:spPr>
          <a:xfrm>
            <a:off x="2011680" y="4123944"/>
            <a:ext cx="4736592" cy="274320"/>
          </a:xfrm>
          <a:prstGeom prst="rect">
            <a:avLst/>
          </a:prstGeom>
          <a:solidFill>
            <a:srgbClr val="2F5D8A"/>
          </a:solidFill>
          <a:ln w="9525">
            <a:solidFill>
              <a:srgbClr val="2F5D8A"/>
            </a:solidFill>
          </a:ln>
        </p:spPr>
        <p:txBody>
          <a:bodyPr wrap="square" lIns="38100" tIns="12700" rIns="38100" bIns="12700" rtlCol="0" anchor="ctr"/>
          <a:lstStyle/>
          <a:p>
            <a:pPr algn="ctr" indent="0" marL="0">
              <a:lnSpc>
                <a:spcPts val="13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Abstraction API</a:t>
            </a:r>
            <a:endParaRPr lang="en-US" sz="1200" dirty="0"/>
          </a:p>
        </p:txBody>
      </p:sp>
      <p:sp>
        <p:nvSpPr>
          <p:cNvPr id="28" name="API bar: cFE PSP API"/>
          <p:cNvSpPr/>
          <p:nvPr/>
        </p:nvSpPr>
        <p:spPr>
          <a:xfrm>
            <a:off x="6885432" y="4123944"/>
            <a:ext cx="1344168" cy="274320"/>
          </a:xfrm>
          <a:prstGeom prst="rect">
            <a:avLst/>
          </a:prstGeom>
          <a:solidFill>
            <a:srgbClr val="2F5D8A"/>
          </a:solidFill>
          <a:ln w="9525">
            <a:solidFill>
              <a:srgbClr val="2F5D8A"/>
            </a:solidFill>
          </a:ln>
        </p:spPr>
        <p:txBody>
          <a:bodyPr wrap="square" lIns="38100" tIns="12700" rIns="38100" bIns="12700" rtlCol="0" anchor="ctr"/>
          <a:lstStyle/>
          <a:p>
            <a:pPr algn="ctr" indent="0" marL="0">
              <a:lnSpc>
                <a:spcPts val="13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cFE PSP API</a:t>
            </a:r>
            <a:endParaRPr lang="en-US" sz="1200" dirty="0"/>
          </a:p>
        </p:txBody>
      </p:sp>
      <p:sp>
        <p:nvSpPr>
          <p:cNvPr id="29" name="Part 16: OS Abstraction Linux"/>
          <p:cNvSpPr/>
          <p:nvPr/>
        </p:nvSpPr>
        <p:spPr>
          <a:xfrm>
            <a:off x="2011680" y="4471416"/>
            <a:ext cx="1115568" cy="475488"/>
          </a:xfrm>
          <a:prstGeom prst="rect">
            <a:avLst/>
          </a:prstGeom>
          <a:solidFill>
            <a:srgbClr val="2F5D8A"/>
          </a:solidFill>
          <a:ln w="9525">
            <a:solidFill>
              <a:srgbClr val="2F5D8A"/>
            </a:solidFill>
          </a:ln>
        </p:spPr>
        <p:txBody>
          <a:bodyPr wrap="square" lIns="38100" tIns="12700" rIns="38100" bIns="12700" rtlCol="0" anchor="ctr"/>
          <a:lstStyle/>
          <a:p>
            <a:pPr algn="ctr" indent="0" marL="0">
              <a:lnSpc>
                <a:spcPts val="132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Abstraction</a:t>
            </a:r>
            <a:endParaRPr lang="en-US" sz="1200" dirty="0"/>
          </a:p>
          <a:p>
            <a:pPr algn="ctr" indent="0" marL="0">
              <a:lnSpc>
                <a:spcPts val="132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Linux</a:t>
            </a:r>
            <a:endParaRPr lang="en-US" sz="1200" dirty="0"/>
          </a:p>
        </p:txBody>
      </p:sp>
      <p:sp>
        <p:nvSpPr>
          <p:cNvPr id="30" name="Part 17: OS Abstraction RTEMS"/>
          <p:cNvSpPr/>
          <p:nvPr/>
        </p:nvSpPr>
        <p:spPr>
          <a:xfrm>
            <a:off x="3218688" y="4471416"/>
            <a:ext cx="1115568" cy="475488"/>
          </a:xfrm>
          <a:prstGeom prst="rect">
            <a:avLst/>
          </a:prstGeom>
          <a:solidFill>
            <a:srgbClr val="2F5D8A"/>
          </a:solidFill>
          <a:ln w="9525">
            <a:solidFill>
              <a:srgbClr val="2F5D8A"/>
            </a:solidFill>
          </a:ln>
        </p:spPr>
        <p:txBody>
          <a:bodyPr wrap="square" lIns="38100" tIns="12700" rIns="38100" bIns="12700" rtlCol="0" anchor="ctr"/>
          <a:lstStyle/>
          <a:p>
            <a:pPr algn="ctr" indent="0" marL="0">
              <a:lnSpc>
                <a:spcPts val="132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Abstraction</a:t>
            </a:r>
            <a:endParaRPr lang="en-US" sz="1200" dirty="0"/>
          </a:p>
          <a:p>
            <a:pPr algn="ctr" indent="0" marL="0">
              <a:lnSpc>
                <a:spcPts val="132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RTEMS</a:t>
            </a:r>
            <a:endParaRPr lang="en-US" sz="1200" dirty="0"/>
          </a:p>
        </p:txBody>
      </p:sp>
      <p:sp>
        <p:nvSpPr>
          <p:cNvPr id="31" name="Part 18: OS Abstraction VxWorks"/>
          <p:cNvSpPr/>
          <p:nvPr/>
        </p:nvSpPr>
        <p:spPr>
          <a:xfrm>
            <a:off x="4425696" y="4471416"/>
            <a:ext cx="111556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6B7480"/>
            </a:solidFill>
            <a:prstDash val="dash"/>
          </a:ln>
        </p:spPr>
        <p:txBody>
          <a:bodyPr wrap="square" lIns="38100" tIns="12700" rIns="38100" bIns="12700" rtlCol="0" anchor="ctr"/>
          <a:lstStyle/>
          <a:p>
            <a:pPr algn="ctr" indent="0" marL="0">
              <a:lnSpc>
                <a:spcPts val="132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Abstraction</a:t>
            </a:r>
            <a:endParaRPr lang="en-US" sz="1200" dirty="0"/>
          </a:p>
          <a:p>
            <a:pPr algn="ctr" indent="0" marL="0">
              <a:lnSpc>
                <a:spcPts val="132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VxWorks</a:t>
            </a:r>
            <a:endParaRPr lang="en-US" sz="1200" dirty="0"/>
          </a:p>
        </p:txBody>
      </p:sp>
      <p:sp>
        <p:nvSpPr>
          <p:cNvPr id="32" name="Part 19: OS Abstraction TSP"/>
          <p:cNvSpPr/>
          <p:nvPr/>
        </p:nvSpPr>
        <p:spPr>
          <a:xfrm>
            <a:off x="5632704" y="4471416"/>
            <a:ext cx="111556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6B7480"/>
            </a:solidFill>
            <a:prstDash val="dash"/>
          </a:ln>
        </p:spPr>
        <p:txBody>
          <a:bodyPr wrap="square" lIns="38100" tIns="12700" rIns="38100" bIns="12700" rtlCol="0" anchor="ctr"/>
          <a:lstStyle/>
          <a:p>
            <a:pPr algn="ctr" indent="0" marL="0">
              <a:lnSpc>
                <a:spcPts val="132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Abstraction</a:t>
            </a:r>
            <a:endParaRPr lang="en-US" sz="1200" dirty="0"/>
          </a:p>
          <a:p>
            <a:pPr algn="ctr" indent="0" marL="0">
              <a:lnSpc>
                <a:spcPts val="132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TSP</a:t>
            </a:r>
            <a:endParaRPr lang="en-US" sz="1200" dirty="0"/>
          </a:p>
        </p:txBody>
      </p:sp>
      <p:sp>
        <p:nvSpPr>
          <p:cNvPr id="33" name="Part 20: cFE Platform Support Packages"/>
          <p:cNvSpPr/>
          <p:nvPr/>
        </p:nvSpPr>
        <p:spPr>
          <a:xfrm>
            <a:off x="6885432" y="4471416"/>
            <a:ext cx="1344168" cy="475488"/>
          </a:xfrm>
          <a:prstGeom prst="rect">
            <a:avLst/>
          </a:prstGeom>
          <a:solidFill>
            <a:srgbClr val="D9822B"/>
          </a:solidFill>
          <a:ln w="9525">
            <a:solidFill>
              <a:srgbClr val="D9822B"/>
            </a:solidFill>
          </a:ln>
        </p:spPr>
        <p:txBody>
          <a:bodyPr wrap="square" lIns="38100" tIns="12700" rIns="38100" bIns="12700" rtlCol="0" anchor="ctr"/>
          <a:lstStyle/>
          <a:p>
            <a:pPr algn="ctr" indent="0" marL="0">
              <a:lnSpc>
                <a:spcPts val="132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cFE Platform</a:t>
            </a:r>
            <a:endParaRPr lang="en-US" sz="1200" dirty="0"/>
          </a:p>
          <a:p>
            <a:pPr algn="ctr" indent="0" marL="0">
              <a:lnSpc>
                <a:spcPts val="132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Packages</a:t>
            </a:r>
            <a:endParaRPr lang="en-US" sz="1200" dirty="0"/>
          </a:p>
        </p:txBody>
      </p:sp>
      <p:sp>
        <p:nvSpPr>
          <p:cNvPr id="34" name="Part 21: Real Time OS"/>
          <p:cNvSpPr/>
          <p:nvPr/>
        </p:nvSpPr>
        <p:spPr>
          <a:xfrm>
            <a:off x="2011680" y="5056632"/>
            <a:ext cx="1828800" cy="374904"/>
          </a:xfrm>
          <a:prstGeom prst="rect">
            <a:avLst/>
          </a:prstGeom>
          <a:solidFill>
            <a:srgbClr val="FFFFFF"/>
          </a:solidFill>
          <a:ln w="19050">
            <a:solidFill>
              <a:srgbClr val="4A525C"/>
            </a:solidFill>
          </a:ln>
        </p:spPr>
        <p:txBody>
          <a:bodyPr wrap="square" lIns="38100" tIns="12700" rIns="38100" bIns="12700" rtlCol="0" anchor="ctr"/>
          <a:lstStyle/>
          <a:p>
            <a:pPr algn="ctr" indent="0" marL="0">
              <a:lnSpc>
                <a:spcPts val="132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Time OS</a:t>
            </a:r>
            <a:endParaRPr lang="en-US" sz="1200" dirty="0"/>
          </a:p>
        </p:txBody>
      </p:sp>
      <p:sp>
        <p:nvSpPr>
          <p:cNvPr id="35" name="Part 22: Board Support Package"/>
          <p:cNvSpPr/>
          <p:nvPr/>
        </p:nvSpPr>
        <p:spPr>
          <a:xfrm>
            <a:off x="3931920" y="5056632"/>
            <a:ext cx="2194560" cy="374904"/>
          </a:xfrm>
          <a:prstGeom prst="rect">
            <a:avLst/>
          </a:prstGeom>
          <a:solidFill>
            <a:srgbClr val="D9822B"/>
          </a:solidFill>
          <a:ln w="9525">
            <a:solidFill>
              <a:srgbClr val="D9822B"/>
            </a:solidFill>
          </a:ln>
        </p:spPr>
        <p:txBody>
          <a:bodyPr wrap="square" lIns="38100" tIns="12700" rIns="38100" bIns="12700" rtlCol="0" anchor="ctr"/>
          <a:lstStyle/>
          <a:p>
            <a:pPr algn="ctr" indent="0" marL="0">
              <a:lnSpc>
                <a:spcPts val="132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Support Package</a:t>
            </a:r>
            <a:endParaRPr lang="en-US" sz="1200" dirty="0"/>
          </a:p>
        </p:txBody>
      </p:sp>
      <p:sp>
        <p:nvSpPr>
          <p:cNvPr id="36" name="Part 23: PROM Boot FSW"/>
          <p:cNvSpPr/>
          <p:nvPr/>
        </p:nvSpPr>
        <p:spPr>
          <a:xfrm>
            <a:off x="2011680" y="5504688"/>
            <a:ext cx="4114800" cy="374904"/>
          </a:xfrm>
          <a:prstGeom prst="rect">
            <a:avLst/>
          </a:prstGeom>
          <a:solidFill>
            <a:srgbClr val="D9822B"/>
          </a:solidFill>
          <a:ln w="9525">
            <a:solidFill>
              <a:srgbClr val="D9822B"/>
            </a:solidFill>
          </a:ln>
        </p:spPr>
        <p:txBody>
          <a:bodyPr wrap="square" lIns="38100" tIns="12700" rIns="38100" bIns="12700" rtlCol="0" anchor="ctr"/>
          <a:lstStyle/>
          <a:p>
            <a:pPr algn="ctr" indent="0" marL="0">
              <a:lnSpc>
                <a:spcPts val="132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 Boot FSW</a:t>
            </a:r>
            <a:endParaRPr lang="en-US" sz="1200" dirty="0"/>
          </a:p>
        </p:txBody>
      </p:sp>
      <p:sp>
        <p:nvSpPr>
          <p:cNvPr id="37" name="Legend heading"/>
          <p:cNvSpPr/>
          <p:nvPr/>
        </p:nvSpPr>
        <p:spPr>
          <a:xfrm>
            <a:off x="8503920" y="1783080"/>
            <a:ext cx="32305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as of August 2015</a:t>
            </a:r>
            <a:endParaRPr lang="en-US" sz="1400" dirty="0"/>
          </a:p>
        </p:txBody>
      </p:sp>
      <p:sp>
        <p:nvSpPr>
          <p:cNvPr id="38" name="Legend swatch 1"/>
          <p:cNvSpPr/>
          <p:nvPr/>
        </p:nvSpPr>
        <p:spPr>
          <a:xfrm>
            <a:off x="8503920" y="2176272"/>
            <a:ext cx="292608" cy="201168"/>
          </a:xfrm>
          <a:prstGeom prst="rect">
            <a:avLst/>
          </a:prstGeom>
          <a:solidFill>
            <a:srgbClr val="D9822B"/>
          </a:solidFill>
          <a:ln w="9525">
            <a:solidFill>
              <a:srgbClr val="D9822B"/>
            </a:solidFill>
            <a:prstDash val="solid"/>
          </a:ln>
        </p:spPr>
      </p:sp>
      <p:sp>
        <p:nvSpPr>
          <p:cNvPr id="39" name="Legend label 1"/>
          <p:cNvSpPr/>
          <p:nvPr/>
        </p:nvSpPr>
        <p:spPr>
          <a:xfrm>
            <a:off x="8915400" y="2148840"/>
            <a:ext cx="2819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developed</a:t>
            </a:r>
            <a:endParaRPr lang="en-US" sz="1400" dirty="0"/>
          </a:p>
        </p:txBody>
      </p:sp>
      <p:sp>
        <p:nvSpPr>
          <p:cNvPr id="40" name="Legend swatch 2"/>
          <p:cNvSpPr/>
          <p:nvPr/>
        </p:nvSpPr>
        <p:spPr>
          <a:xfrm>
            <a:off x="8503920" y="2505456"/>
            <a:ext cx="292608" cy="201168"/>
          </a:xfrm>
          <a:prstGeom prst="rect">
            <a:avLst/>
          </a:prstGeom>
          <a:solidFill>
            <a:srgbClr val="A9BED3"/>
          </a:solidFill>
          <a:ln w="9525">
            <a:solidFill>
              <a:srgbClr val="A9BED3"/>
            </a:solidFill>
            <a:prstDash val="solid"/>
          </a:ln>
        </p:spPr>
      </p:sp>
      <p:sp>
        <p:nvSpPr>
          <p:cNvPr id="41" name="Legend label 2"/>
          <p:cNvSpPr/>
          <p:nvPr/>
        </p:nvSpPr>
        <p:spPr>
          <a:xfrm>
            <a:off x="8915400" y="2478024"/>
            <a:ext cx="2819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development</a:t>
            </a:r>
            <a:endParaRPr lang="en-US" sz="1400" dirty="0"/>
          </a:p>
        </p:txBody>
      </p:sp>
      <p:sp>
        <p:nvSpPr>
          <p:cNvPr id="42" name="Legend swatch 3"/>
          <p:cNvSpPr/>
          <p:nvPr/>
        </p:nvSpPr>
        <p:spPr>
          <a:xfrm>
            <a:off x="8503920" y="2834640"/>
            <a:ext cx="292608" cy="201168"/>
          </a:xfrm>
          <a:prstGeom prst="rect">
            <a:avLst/>
          </a:prstGeom>
          <a:solidFill>
            <a:srgbClr val="2F5D8A"/>
          </a:solidFill>
          <a:ln w="9525">
            <a:solidFill>
              <a:srgbClr val="2F5D8A"/>
            </a:solidFill>
            <a:prstDash val="solid"/>
          </a:ln>
        </p:spPr>
      </p:sp>
      <p:sp>
        <p:nvSpPr>
          <p:cNvPr id="43" name="Legend label 3"/>
          <p:cNvSpPr/>
          <p:nvPr/>
        </p:nvSpPr>
        <p:spPr>
          <a:xfrm>
            <a:off x="8915400" y="2807208"/>
            <a:ext cx="2819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source, NASA maintained</a:t>
            </a:r>
            <a:endParaRPr lang="en-US" sz="1400" dirty="0"/>
          </a:p>
        </p:txBody>
      </p:sp>
      <p:sp>
        <p:nvSpPr>
          <p:cNvPr id="44" name="Legend swatch 4"/>
          <p:cNvSpPr/>
          <p:nvPr/>
        </p:nvSpPr>
        <p:spPr>
          <a:xfrm>
            <a:off x="8503920" y="3163824"/>
            <a:ext cx="292608" cy="201168"/>
          </a:xfrm>
          <a:prstGeom prst="rect">
            <a:avLst/>
          </a:prstGeom>
          <a:solidFill>
            <a:srgbClr val="FFFFFF"/>
          </a:solidFill>
          <a:ln w="19050">
            <a:solidFill>
              <a:srgbClr val="4A525C"/>
            </a:solidFill>
            <a:prstDash val="solid"/>
          </a:ln>
        </p:spPr>
      </p:sp>
      <p:sp>
        <p:nvSpPr>
          <p:cNvPr id="45" name="Legend label 4"/>
          <p:cNvSpPr/>
          <p:nvPr/>
        </p:nvSpPr>
        <p:spPr>
          <a:xfrm>
            <a:off x="8915400" y="3136392"/>
            <a:ext cx="2819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Third party</a:t>
            </a:r>
            <a:endParaRPr lang="en-US" sz="1400" dirty="0"/>
          </a:p>
        </p:txBody>
      </p:sp>
      <p:sp>
        <p:nvSpPr>
          <p:cNvPr id="46" name="Legend swatch 5"/>
          <p:cNvSpPr/>
          <p:nvPr/>
        </p:nvSpPr>
        <p:spPr>
          <a:xfrm>
            <a:off x="8503920" y="3493008"/>
            <a:ext cx="29260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6B7480"/>
            </a:solidFill>
            <a:prstDash val="dash"/>
          </a:ln>
        </p:spPr>
      </p:sp>
      <p:sp>
        <p:nvSpPr>
          <p:cNvPr id="47" name="Legend label 5"/>
          <p:cNvSpPr/>
          <p:nvPr/>
        </p:nvSpPr>
        <p:spPr>
          <a:xfrm>
            <a:off x="8915400" y="3465576"/>
            <a:ext cx="2819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 not in the source legend</a:t>
            </a:r>
            <a:endParaRPr lang="en-US" sz="1400" dirty="0"/>
          </a:p>
        </p:txBody>
      </p:sp>
      <p:sp>
        <p:nvSpPr>
          <p:cNvPr id="48" name="Legend swatch API"/>
          <p:cNvSpPr/>
          <p:nvPr/>
        </p:nvSpPr>
        <p:spPr>
          <a:xfrm>
            <a:off x="8503920" y="3867912"/>
            <a:ext cx="292608" cy="100584"/>
          </a:xfrm>
          <a:prstGeom prst="rect">
            <a:avLst/>
          </a:prstGeom>
          <a:solidFill>
            <a:srgbClr val="2F5D8A"/>
          </a:solidFill>
          <a:ln w="9525">
            <a:solidFill>
              <a:srgbClr val="2F5D8A"/>
            </a:solidFill>
            <a:prstDash val="solid"/>
          </a:ln>
        </p:spPr>
      </p:sp>
      <p:sp>
        <p:nvSpPr>
          <p:cNvPr id="49" name="Legend label API"/>
          <p:cNvSpPr/>
          <p:nvPr/>
        </p:nvSpPr>
        <p:spPr>
          <a:xfrm>
            <a:off x="8915400" y="3794760"/>
            <a:ext cx="2819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 bar: an API between layers</a:t>
            </a:r>
            <a:endParaRPr lang="en-US" sz="1400" dirty="0"/>
          </a:p>
        </p:txBody>
      </p:sp>
      <p:sp>
        <p:nvSpPr>
          <p:cNvPr id="50" name="Claims heading"/>
          <p:cNvSpPr/>
          <p:nvPr/>
        </p:nvSpPr>
        <p:spPr>
          <a:xfrm>
            <a:off x="8503920" y="4297680"/>
            <a:ext cx="32305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 (source wording)</a:t>
            </a:r>
            <a:endParaRPr lang="en-US" sz="1400" dirty="0"/>
          </a:p>
        </p:txBody>
      </p:sp>
      <p:sp>
        <p:nvSpPr>
          <p:cNvPr id="51" name="Claims"/>
          <p:cNvSpPr/>
          <p:nvPr/>
        </p:nvSpPr>
        <p:spPr>
          <a:xfrm>
            <a:off x="8503920" y="4617720"/>
            <a:ext cx="323057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Layered architecture</a:t>
            </a:r>
            <a:endParaRPr lang="en-US" sz="1400" dirty="0"/>
          </a:p>
          <a:p>
            <a:pPr lvl="1" marL="355600" indent="-1778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components</a:t>
            </a:r>
            <a:endParaRPr lang="en-US" sz="1400" dirty="0"/>
          </a:p>
          <a:p>
            <a:pPr lvl="1" marL="355600" indent="-1778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Independent</a:t>
            </a:r>
            <a:endParaRPr lang="en-US" sz="1400" dirty="0"/>
          </a:p>
          <a:p>
            <a:pPr lvl="1" marL="355600" indent="-1778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Supports advances in technology without changes to the framework</a:t>
            </a:r>
            <a:endParaRPr lang="en-US" sz="1400" dirty="0"/>
          </a:p>
        </p:txBody>
      </p:sp>
      <p:sp>
        <p:nvSpPr>
          <p:cNvPr id="52" name="Source line"/>
          <p:cNvSpPr/>
          <p:nvPr/>
        </p:nvSpPr>
        <p:spPr>
          <a:xfrm>
            <a:off x="457200" y="6053328"/>
            <a:ext cx="112772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D. McComas, S. Strege and J. Wilmot, "Core Flight System (cFS) a Low Cost Solution for SmallSats," NASA GSFC, August 2015, slide 8 (NTRS 20150018075).</a:t>
            </a:r>
            <a:endParaRPr lang="en-US" sz="1050" dirty="0"/>
          </a:p>
        </p:txBody>
      </p:sp>
      <p:sp>
        <p:nvSpPr>
          <p:cNvPr id="53" name="Portfolio footer"/>
          <p:cNvSpPr/>
          <p:nvPr/>
        </p:nvSpPr>
        <p:spPr>
          <a:xfrm>
            <a:off x="457200" y="6254496"/>
            <a:ext cx="11277295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reconstruction of a public NASA slide. Not a NASA document.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PptxGenJS 4.0.1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Arial</vt:lpstr>
      <vt:lpstr>Office Theme</vt:lpstr>
      <vt:lpstr>Slide 1</vt:lpstr>
    </vt:vector>
  </TitlesOfParts>
  <Company/>
  <LinksUpToDate>false</LinksUpToDate>
  <SharedDoc>false</SharedDoc>
  <HyperlinksChanged>false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 the 2015 cFS design, a mission builds its own apps, libraries and platform support (revised)</dc:title>
  <dc:subject>Portfolio reconstruction of a public NASA slide. Not a NASA document.</dc:subject>
  <dc:creator>Logan Ankenbrandt</dc:creator>
  <dc:description>Generated by src/02-cfs-key-features-revised.js with PptxGenJS 4.0.1.</dc:description>
  <cp:lastModifiedBy>PptxGenJS 4.0.1</cp:lastModifiedBy>
  <cp:revision>1</cp:revision>
  <dcterms:created xsi:type="dcterms:W3CDTF">2026-10-08T15:07:54Z</dcterms:created>
  <dcterms:modified xsi:type="dcterms:W3CDTF">2026-10-08T15:07:54Z</dcterms:modified>
</cp:coreProperties>
</file>