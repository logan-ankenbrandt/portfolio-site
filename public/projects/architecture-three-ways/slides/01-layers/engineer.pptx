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457200"/>
            <a:ext cx="11274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OSAL and PSP hide the real-time OS and the board, so the cFE and the apps above it stay platform independent</a:t>
            </a:r>
            <a:endParaRPr lang="en-US" sz="2800" dirty="0"/>
          </a:p>
        </p:txBody>
      </p:sp>
      <p:sp>
        <p:nvSpPr>
          <p:cNvPr id="3" name="Layer name A"/>
          <p:cNvSpPr/>
          <p:nvPr/>
        </p:nvSpPr>
        <p:spPr>
          <a:xfrm>
            <a:off x="457200" y="148132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4" name="Layer name B"/>
          <p:cNvSpPr/>
          <p:nvPr/>
        </p:nvSpPr>
        <p:spPr>
          <a:xfrm>
            <a:off x="457200" y="2340864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layer</a:t>
            </a:r>
            <a:endParaRPr lang="en-US" sz="1100" dirty="0"/>
          </a:p>
        </p:txBody>
      </p:sp>
      <p:sp>
        <p:nvSpPr>
          <p:cNvPr id="5" name="Layer name C"/>
          <p:cNvSpPr/>
          <p:nvPr/>
        </p:nvSpPr>
        <p:spPr>
          <a:xfrm>
            <a:off x="457200" y="2907792"/>
            <a:ext cx="1005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core layer</a:t>
            </a:r>
            <a:endParaRPr lang="en-US" sz="1100" dirty="0"/>
          </a:p>
        </p:txBody>
      </p:sp>
      <p:sp>
        <p:nvSpPr>
          <p:cNvPr id="6" name="Layer name D"/>
          <p:cNvSpPr/>
          <p:nvPr/>
        </p:nvSpPr>
        <p:spPr>
          <a:xfrm>
            <a:off x="457200" y="4041648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library layer</a:t>
            </a:r>
            <a:endParaRPr lang="en-US" sz="1100" dirty="0"/>
          </a:p>
        </p:txBody>
      </p:sp>
      <p:sp>
        <p:nvSpPr>
          <p:cNvPr id="7" name="Layer name E"/>
          <p:cNvSpPr/>
          <p:nvPr/>
        </p:nvSpPr>
        <p:spPr>
          <a:xfrm>
            <a:off x="457200" y="501091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RTOS and boot layer</a:t>
            </a:r>
            <a:endParaRPr lang="en-US" sz="1100" dirty="0"/>
          </a:p>
        </p:txBody>
      </p:sp>
      <p:sp>
        <p:nvSpPr>
          <p:cNvPr id="8" name="Layer rule B"/>
          <p:cNvSpPr/>
          <p:nvPr/>
        </p:nvSpPr>
        <p:spPr>
          <a:xfrm>
            <a:off x="457200" y="2304288"/>
            <a:ext cx="7223760" cy="0"/>
          </a:xfrm>
          <a:prstGeom prst="line">
            <a:avLst/>
          </a:prstGeom>
          <a:noFill/>
          <a:ln w="12700">
            <a:solidFill>
              <a:srgbClr val="C7CDD4"/>
            </a:solidFill>
            <a:prstDash val="dash"/>
          </a:ln>
        </p:spPr>
      </p:sp>
      <p:sp>
        <p:nvSpPr>
          <p:cNvPr id="9" name="Layer rule C"/>
          <p:cNvSpPr/>
          <p:nvPr/>
        </p:nvSpPr>
        <p:spPr>
          <a:xfrm>
            <a:off x="457200" y="2871216"/>
            <a:ext cx="7223760" cy="0"/>
          </a:xfrm>
          <a:prstGeom prst="line">
            <a:avLst/>
          </a:prstGeom>
          <a:noFill/>
          <a:ln w="12700">
            <a:solidFill>
              <a:srgbClr val="C7CDD4"/>
            </a:solidFill>
            <a:prstDash val="dash"/>
          </a:ln>
        </p:spPr>
      </p:sp>
      <p:sp>
        <p:nvSpPr>
          <p:cNvPr id="10" name="Layer rule D"/>
          <p:cNvSpPr/>
          <p:nvPr/>
        </p:nvSpPr>
        <p:spPr>
          <a:xfrm>
            <a:off x="457200" y="4005072"/>
            <a:ext cx="7223760" cy="0"/>
          </a:xfrm>
          <a:prstGeom prst="line">
            <a:avLst/>
          </a:prstGeom>
          <a:noFill/>
          <a:ln w="12700">
            <a:solidFill>
              <a:srgbClr val="C7CDD4"/>
            </a:solidFill>
            <a:prstDash val="dash"/>
          </a:ln>
        </p:spPr>
      </p:sp>
      <p:sp>
        <p:nvSpPr>
          <p:cNvPr id="11" name="Layer rule E"/>
          <p:cNvSpPr/>
          <p:nvPr/>
        </p:nvSpPr>
        <p:spPr>
          <a:xfrm>
            <a:off x="457200" y="4974336"/>
            <a:ext cx="7223760" cy="0"/>
          </a:xfrm>
          <a:prstGeom prst="line">
            <a:avLst/>
          </a:prstGeom>
          <a:noFill/>
          <a:ln w="12700">
            <a:solidFill>
              <a:srgbClr val="C7CDD4"/>
            </a:solidFill>
            <a:prstDash val="dash"/>
          </a:ln>
        </p:spPr>
      </p:sp>
      <p:sp>
        <p:nvSpPr>
          <p:cNvPr id="12" name="cFE Apps stack back"/>
          <p:cNvSpPr/>
          <p:nvPr/>
        </p:nvSpPr>
        <p:spPr>
          <a:xfrm>
            <a:off x="1664208" y="1536192"/>
            <a:ext cx="640080" cy="566928"/>
          </a:xfrm>
          <a:prstGeom prst="roundRect">
            <a:avLst>
              <a:gd name="adj" fmla="val 12903"/>
            </a:avLst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3" name="cFE Apps stack middle"/>
          <p:cNvSpPr/>
          <p:nvPr/>
        </p:nvSpPr>
        <p:spPr>
          <a:xfrm>
            <a:off x="1618488" y="1563624"/>
            <a:ext cx="640080" cy="566928"/>
          </a:xfrm>
          <a:prstGeom prst="roundRect">
            <a:avLst>
              <a:gd name="adj" fmla="val 12903"/>
            </a:avLst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4" name="cFE Apps (x5)"/>
          <p:cNvSpPr/>
          <p:nvPr/>
        </p:nvSpPr>
        <p:spPr>
          <a:xfrm>
            <a:off x="1572768" y="1591056"/>
            <a:ext cx="640080" cy="566928"/>
          </a:xfrm>
          <a:prstGeom prst="roundRect">
            <a:avLst>
              <a:gd name="adj" fmla="val 12903"/>
            </a:avLst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Apps (x5)</a:t>
            </a:r>
            <a:endParaRPr lang="en-US" sz="1100" dirty="0"/>
          </a:p>
        </p:txBody>
      </p:sp>
      <p:sp>
        <p:nvSpPr>
          <p:cNvPr id="15" name="Software Bus Network"/>
          <p:cNvSpPr/>
          <p:nvPr/>
        </p:nvSpPr>
        <p:spPr>
          <a:xfrm>
            <a:off x="2414016" y="1591056"/>
            <a:ext cx="74980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2F5D8A"/>
            </a:solidFill>
            <a:prstDash val="dash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Bus Network</a:t>
            </a:r>
            <a:endParaRPr lang="en-US" sz="1100" dirty="0"/>
          </a:p>
        </p:txBody>
      </p:sp>
      <p:sp>
        <p:nvSpPr>
          <p:cNvPr id="16" name="cFS App 1"/>
          <p:cNvSpPr/>
          <p:nvPr/>
        </p:nvSpPr>
        <p:spPr>
          <a:xfrm>
            <a:off x="3273552" y="1591056"/>
            <a:ext cx="640080" cy="566928"/>
          </a:xfrm>
          <a:prstGeom prst="roundRect">
            <a:avLst>
              <a:gd name="adj" fmla="val 12903"/>
            </a:avLst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App 1</a:t>
            </a:r>
            <a:endParaRPr lang="en-US" sz="1100" dirty="0"/>
          </a:p>
        </p:txBody>
      </p:sp>
      <p:sp>
        <p:nvSpPr>
          <p:cNvPr id="17" name="More cFS apps"/>
          <p:cNvSpPr/>
          <p:nvPr/>
        </p:nvSpPr>
        <p:spPr>
          <a:xfrm>
            <a:off x="3950208" y="1591056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</a:t>
            </a:r>
            <a:endParaRPr lang="en-US" sz="1200" dirty="0"/>
          </a:p>
        </p:txBody>
      </p:sp>
      <p:sp>
        <p:nvSpPr>
          <p:cNvPr id="18" name="cFS App n(13)"/>
          <p:cNvSpPr/>
          <p:nvPr/>
        </p:nvSpPr>
        <p:spPr>
          <a:xfrm>
            <a:off x="4297680" y="1591056"/>
            <a:ext cx="640080" cy="566928"/>
          </a:xfrm>
          <a:prstGeom prst="roundRect">
            <a:avLst>
              <a:gd name="adj" fmla="val 12903"/>
            </a:avLst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App n(13)</a:t>
            </a:r>
            <a:endParaRPr lang="en-US" sz="1100" dirty="0"/>
          </a:p>
        </p:txBody>
      </p:sp>
      <p:sp>
        <p:nvSpPr>
          <p:cNvPr id="19" name="Mission App 1"/>
          <p:cNvSpPr/>
          <p:nvPr/>
        </p:nvSpPr>
        <p:spPr>
          <a:xfrm>
            <a:off x="5047488" y="1591056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App 1</a:t>
            </a:r>
            <a:endParaRPr lang="en-US" sz="1100" dirty="0"/>
          </a:p>
        </p:txBody>
      </p:sp>
      <p:sp>
        <p:nvSpPr>
          <p:cNvPr id="20" name="Mission App 2"/>
          <p:cNvSpPr/>
          <p:nvPr/>
        </p:nvSpPr>
        <p:spPr>
          <a:xfrm>
            <a:off x="5852160" y="1591056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App 2</a:t>
            </a:r>
            <a:endParaRPr lang="en-US" sz="1100" dirty="0"/>
          </a:p>
        </p:txBody>
      </p:sp>
      <p:sp>
        <p:nvSpPr>
          <p:cNvPr id="21" name="Mission App N"/>
          <p:cNvSpPr/>
          <p:nvPr/>
        </p:nvSpPr>
        <p:spPr>
          <a:xfrm>
            <a:off x="6656832" y="1591056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App N</a:t>
            </a:r>
            <a:endParaRPr lang="en-US" sz="1100" dirty="0"/>
          </a:p>
        </p:txBody>
      </p:sp>
      <p:sp>
        <p:nvSpPr>
          <p:cNvPr id="22" name="cFS Library"/>
          <p:cNvSpPr/>
          <p:nvPr/>
        </p:nvSpPr>
        <p:spPr>
          <a:xfrm>
            <a:off x="1572768" y="2404872"/>
            <a:ext cx="1188720" cy="365760"/>
          </a:xfrm>
          <a:prstGeom prst="rect">
            <a:avLst/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Library</a:t>
            </a:r>
            <a:endParaRPr lang="en-US" sz="1100" dirty="0"/>
          </a:p>
        </p:txBody>
      </p:sp>
      <p:sp>
        <p:nvSpPr>
          <p:cNvPr id="23" name="Mission Library"/>
          <p:cNvSpPr/>
          <p:nvPr/>
        </p:nvSpPr>
        <p:spPr>
          <a:xfrm>
            <a:off x="2871216" y="2404872"/>
            <a:ext cx="1188720" cy="365760"/>
          </a:xfrm>
          <a:prstGeom prst="rect">
            <a:avLst/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Library</a:t>
            </a:r>
            <a:endParaRPr lang="en-US" sz="1100" dirty="0"/>
          </a:p>
        </p:txBody>
      </p:sp>
      <p:sp>
        <p:nvSpPr>
          <p:cNvPr id="24" name="cFE API"/>
          <p:cNvSpPr/>
          <p:nvPr/>
        </p:nvSpPr>
        <p:spPr>
          <a:xfrm>
            <a:off x="1572768" y="2944368"/>
            <a:ext cx="6108192" cy="246888"/>
          </a:xfrm>
          <a:prstGeom prst="rect">
            <a:avLst/>
          </a:prstGeom>
          <a:solidFill>
            <a:srgbClr val="2F5D8A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API</a:t>
            </a:r>
            <a:endParaRPr lang="en-US" sz="1100" dirty="0"/>
          </a:p>
        </p:txBody>
      </p:sp>
      <p:sp>
        <p:nvSpPr>
          <p:cNvPr id="25" name="cFE Core"/>
          <p:cNvSpPr/>
          <p:nvPr/>
        </p:nvSpPr>
        <p:spPr>
          <a:xfrm>
            <a:off x="1572768" y="3273552"/>
            <a:ext cx="3017520" cy="640080"/>
          </a:xfrm>
          <a:prstGeom prst="rect">
            <a:avLst/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26" name="Badge 1 cFE services"/>
          <p:cNvSpPr/>
          <p:nvPr/>
        </p:nvSpPr>
        <p:spPr>
          <a:xfrm>
            <a:off x="1636776" y="3474720"/>
            <a:ext cx="237744" cy="237744"/>
          </a:xfrm>
          <a:prstGeom prst="ellipse">
            <a:avLst/>
          </a:prstGeom>
          <a:solidFill>
            <a:srgbClr val="1F23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cFE Core label"/>
          <p:cNvSpPr/>
          <p:nvPr/>
        </p:nvSpPr>
        <p:spPr>
          <a:xfrm>
            <a:off x="1920240" y="343814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Core</a:t>
            </a:r>
            <a:endParaRPr lang="en-US" sz="1200" dirty="0"/>
          </a:p>
        </p:txBody>
      </p:sp>
      <p:sp>
        <p:nvSpPr>
          <p:cNvPr id="28" name="cFE service ES"/>
          <p:cNvSpPr/>
          <p:nvPr/>
        </p:nvSpPr>
        <p:spPr>
          <a:xfrm>
            <a:off x="2670048" y="3611880"/>
            <a:ext cx="347472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2F5D8A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</a:t>
            </a:r>
            <a:endParaRPr lang="en-US" sz="1000" dirty="0"/>
          </a:p>
        </p:txBody>
      </p:sp>
      <p:sp>
        <p:nvSpPr>
          <p:cNvPr id="29" name="cFE service SB"/>
          <p:cNvSpPr/>
          <p:nvPr/>
        </p:nvSpPr>
        <p:spPr>
          <a:xfrm>
            <a:off x="3054096" y="3611880"/>
            <a:ext cx="347472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2F5D8A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</a:t>
            </a:r>
            <a:endParaRPr lang="en-US" sz="1000" dirty="0"/>
          </a:p>
        </p:txBody>
      </p:sp>
      <p:sp>
        <p:nvSpPr>
          <p:cNvPr id="30" name="Badge 2 software bus"/>
          <p:cNvSpPr/>
          <p:nvPr/>
        </p:nvSpPr>
        <p:spPr>
          <a:xfrm>
            <a:off x="3108960" y="3328416"/>
            <a:ext cx="237744" cy="237744"/>
          </a:xfrm>
          <a:prstGeom prst="ellipse">
            <a:avLst/>
          </a:prstGeom>
          <a:solidFill>
            <a:srgbClr val="1F23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cFE service EVS"/>
          <p:cNvSpPr/>
          <p:nvPr/>
        </p:nvSpPr>
        <p:spPr>
          <a:xfrm>
            <a:off x="3438144" y="3611880"/>
            <a:ext cx="347472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2F5D8A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EVS</a:t>
            </a:r>
            <a:endParaRPr lang="en-US" sz="1000" dirty="0"/>
          </a:p>
        </p:txBody>
      </p:sp>
      <p:sp>
        <p:nvSpPr>
          <p:cNvPr id="32" name="cFE service TIME"/>
          <p:cNvSpPr/>
          <p:nvPr/>
        </p:nvSpPr>
        <p:spPr>
          <a:xfrm>
            <a:off x="3822192" y="3611880"/>
            <a:ext cx="347472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2F5D8A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000" dirty="0"/>
          </a:p>
        </p:txBody>
      </p:sp>
      <p:sp>
        <p:nvSpPr>
          <p:cNvPr id="33" name="cFE service TBL"/>
          <p:cNvSpPr/>
          <p:nvPr/>
        </p:nvSpPr>
        <p:spPr>
          <a:xfrm>
            <a:off x="4206240" y="3611880"/>
            <a:ext cx="347472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2F5D8A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</a:t>
            </a:r>
            <a:endParaRPr lang="en-US" sz="1000" dirty="0"/>
          </a:p>
        </p:txBody>
      </p:sp>
      <p:sp>
        <p:nvSpPr>
          <p:cNvPr id="34" name="micro cFE Core"/>
          <p:cNvSpPr/>
          <p:nvPr/>
        </p:nvSpPr>
        <p:spPr>
          <a:xfrm>
            <a:off x="4700016" y="3273552"/>
            <a:ext cx="91440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D8A"/>
            </a:solidFill>
            <a:prstDash val="dash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µcFE Core</a:t>
            </a:r>
            <a:endParaRPr lang="en-US" sz="1100" dirty="0"/>
          </a:p>
        </p:txBody>
      </p:sp>
      <p:sp>
        <p:nvSpPr>
          <p:cNvPr id="35" name="TSP cFE Core"/>
          <p:cNvSpPr/>
          <p:nvPr/>
        </p:nvSpPr>
        <p:spPr>
          <a:xfrm>
            <a:off x="5724144" y="3273552"/>
            <a:ext cx="1956816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D8A"/>
            </a:solidFill>
            <a:prstDash val="dash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&amp; Space Partitioning (TSP) cFE Core</a:t>
            </a:r>
            <a:endParaRPr lang="en-US" sz="1100" dirty="0"/>
          </a:p>
        </p:txBody>
      </p:sp>
      <p:sp>
        <p:nvSpPr>
          <p:cNvPr id="36" name="OS Abstraction API"/>
          <p:cNvSpPr/>
          <p:nvPr/>
        </p:nvSpPr>
        <p:spPr>
          <a:xfrm>
            <a:off x="1572768" y="4078224"/>
            <a:ext cx="4498848" cy="246888"/>
          </a:xfrm>
          <a:prstGeom prst="rect">
            <a:avLst/>
          </a:prstGeom>
          <a:solidFill>
            <a:srgbClr val="2F5D8A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 API</a:t>
            </a:r>
            <a:endParaRPr lang="en-US" sz="1100" dirty="0"/>
          </a:p>
        </p:txBody>
      </p:sp>
      <p:sp>
        <p:nvSpPr>
          <p:cNvPr id="37" name="Badge 3 OSAL"/>
          <p:cNvSpPr/>
          <p:nvPr/>
        </p:nvSpPr>
        <p:spPr>
          <a:xfrm>
            <a:off x="1609344" y="4082796"/>
            <a:ext cx="237744" cy="237744"/>
          </a:xfrm>
          <a:prstGeom prst="ellipse">
            <a:avLst/>
          </a:prstGeom>
          <a:solidFill>
            <a:srgbClr val="1F23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cFE PSP API"/>
          <p:cNvSpPr/>
          <p:nvPr/>
        </p:nvSpPr>
        <p:spPr>
          <a:xfrm>
            <a:off x="6181344" y="4078224"/>
            <a:ext cx="1499616" cy="246888"/>
          </a:xfrm>
          <a:prstGeom prst="rect">
            <a:avLst/>
          </a:prstGeom>
          <a:solidFill>
            <a:srgbClr val="2F5D8A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PSP API</a:t>
            </a:r>
            <a:endParaRPr lang="en-US" sz="1100" dirty="0"/>
          </a:p>
        </p:txBody>
      </p:sp>
      <p:sp>
        <p:nvSpPr>
          <p:cNvPr id="39" name="Badge 4 PSP"/>
          <p:cNvSpPr/>
          <p:nvPr/>
        </p:nvSpPr>
        <p:spPr>
          <a:xfrm>
            <a:off x="6217920" y="4082796"/>
            <a:ext cx="237744" cy="237744"/>
          </a:xfrm>
          <a:prstGeom prst="ellipse">
            <a:avLst/>
          </a:prstGeom>
          <a:solidFill>
            <a:srgbClr val="1F23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OS Abstraction Linux"/>
          <p:cNvSpPr/>
          <p:nvPr/>
        </p:nvSpPr>
        <p:spPr>
          <a:xfrm>
            <a:off x="1572768" y="4398264"/>
            <a:ext cx="1042416" cy="493776"/>
          </a:xfrm>
          <a:prstGeom prst="rect">
            <a:avLst/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 Linux</a:t>
            </a:r>
            <a:endParaRPr lang="en-US" sz="1100" dirty="0"/>
          </a:p>
        </p:txBody>
      </p:sp>
      <p:sp>
        <p:nvSpPr>
          <p:cNvPr id="41" name="OS Abstraction RTEMS"/>
          <p:cNvSpPr/>
          <p:nvPr/>
        </p:nvSpPr>
        <p:spPr>
          <a:xfrm>
            <a:off x="2724912" y="4398264"/>
            <a:ext cx="1042416" cy="493776"/>
          </a:xfrm>
          <a:prstGeom prst="rect">
            <a:avLst/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 RTEMS</a:t>
            </a:r>
            <a:endParaRPr lang="en-US" sz="1100" dirty="0"/>
          </a:p>
        </p:txBody>
      </p:sp>
      <p:sp>
        <p:nvSpPr>
          <p:cNvPr id="42" name="OS Abstraction VxWorks"/>
          <p:cNvSpPr/>
          <p:nvPr/>
        </p:nvSpPr>
        <p:spPr>
          <a:xfrm>
            <a:off x="3877056" y="4398264"/>
            <a:ext cx="104241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7C8591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 VxWorks</a:t>
            </a:r>
            <a:endParaRPr lang="en-US" sz="1100" dirty="0"/>
          </a:p>
        </p:txBody>
      </p:sp>
      <p:sp>
        <p:nvSpPr>
          <p:cNvPr id="43" name="OS Abstraction TSP"/>
          <p:cNvSpPr/>
          <p:nvPr/>
        </p:nvSpPr>
        <p:spPr>
          <a:xfrm>
            <a:off x="5029200" y="4398264"/>
            <a:ext cx="104241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7C8591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 TSP</a:t>
            </a:r>
            <a:endParaRPr lang="en-US" sz="1100" dirty="0"/>
          </a:p>
        </p:txBody>
      </p:sp>
      <p:sp>
        <p:nvSpPr>
          <p:cNvPr id="44" name="PSP stack back"/>
          <p:cNvSpPr/>
          <p:nvPr/>
        </p:nvSpPr>
        <p:spPr>
          <a:xfrm>
            <a:off x="6254496" y="4453128"/>
            <a:ext cx="1426464" cy="475488"/>
          </a:xfrm>
          <a:prstGeom prst="rect">
            <a:avLst/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</p:sp>
      <p:sp>
        <p:nvSpPr>
          <p:cNvPr id="45" name="cFE Platform Support Packages"/>
          <p:cNvSpPr/>
          <p:nvPr/>
        </p:nvSpPr>
        <p:spPr>
          <a:xfrm>
            <a:off x="6181344" y="4398264"/>
            <a:ext cx="1426464" cy="475488"/>
          </a:xfrm>
          <a:prstGeom prst="rect">
            <a:avLst/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Platform Support Packages</a:t>
            </a:r>
            <a:endParaRPr lang="en-US" sz="1100" dirty="0"/>
          </a:p>
        </p:txBody>
      </p:sp>
      <p:sp>
        <p:nvSpPr>
          <p:cNvPr id="46" name="Real Time OS"/>
          <p:cNvSpPr/>
          <p:nvPr/>
        </p:nvSpPr>
        <p:spPr>
          <a:xfrm>
            <a:off x="1572768" y="5102352"/>
            <a:ext cx="1371600" cy="384048"/>
          </a:xfrm>
          <a:prstGeom prst="rect">
            <a:avLst/>
          </a:prstGeom>
          <a:solidFill>
            <a:srgbClr val="E4E7EB"/>
          </a:solidFill>
          <a:ln w="12700">
            <a:solidFill>
              <a:srgbClr val="7C8591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Time OS</a:t>
            </a:r>
            <a:endParaRPr lang="en-US" sz="1100" dirty="0"/>
          </a:p>
        </p:txBody>
      </p:sp>
      <p:sp>
        <p:nvSpPr>
          <p:cNvPr id="47" name="Board Support Package"/>
          <p:cNvSpPr/>
          <p:nvPr/>
        </p:nvSpPr>
        <p:spPr>
          <a:xfrm>
            <a:off x="2944368" y="5102352"/>
            <a:ext cx="1627632" cy="384048"/>
          </a:xfrm>
          <a:prstGeom prst="rect">
            <a:avLst/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Support Package</a:t>
            </a:r>
            <a:endParaRPr lang="en-US" sz="1100" dirty="0"/>
          </a:p>
        </p:txBody>
      </p:sp>
      <p:sp>
        <p:nvSpPr>
          <p:cNvPr id="48" name="PROM Boot FSW"/>
          <p:cNvSpPr/>
          <p:nvPr/>
        </p:nvSpPr>
        <p:spPr>
          <a:xfrm>
            <a:off x="4681728" y="5102352"/>
            <a:ext cx="1371600" cy="384048"/>
          </a:xfrm>
          <a:prstGeom prst="rect">
            <a:avLst/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 Boot FSW</a:t>
            </a:r>
            <a:endParaRPr lang="en-US" sz="1100" dirty="0"/>
          </a:p>
        </p:txBody>
      </p:sp>
      <p:sp>
        <p:nvSpPr>
          <p:cNvPr id="49" name="Role badge 1"/>
          <p:cNvSpPr/>
          <p:nvPr/>
        </p:nvSpPr>
        <p:spPr>
          <a:xfrm>
            <a:off x="7882128" y="1481328"/>
            <a:ext cx="256032" cy="256032"/>
          </a:xfrm>
          <a:prstGeom prst="ellipse">
            <a:avLst/>
          </a:prstGeom>
          <a:solidFill>
            <a:srgbClr val="1F23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Role 1 name"/>
          <p:cNvSpPr/>
          <p:nvPr/>
        </p:nvSpPr>
        <p:spPr>
          <a:xfrm>
            <a:off x="8247888" y="1481328"/>
            <a:ext cx="1596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Core services</a:t>
            </a:r>
            <a:endParaRPr lang="en-US" sz="1400" dirty="0"/>
          </a:p>
        </p:txBody>
      </p:sp>
      <p:sp>
        <p:nvSpPr>
          <p:cNvPr id="51" name="Role 1 cite"/>
          <p:cNvSpPr/>
          <p:nvPr/>
        </p:nvSpPr>
        <p:spPr>
          <a:xfrm>
            <a:off x="9954184" y="1527048"/>
            <a:ext cx="133273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pp. 25, 45, paraphrase</a:t>
            </a:r>
            <a:endParaRPr lang="en-US" sz="1000" dirty="0"/>
          </a:p>
        </p:txBody>
      </p:sp>
      <p:sp>
        <p:nvSpPr>
          <p:cNvPr id="52" name="Role 1 text"/>
          <p:cNvSpPr/>
          <p:nvPr/>
        </p:nvSpPr>
        <p:spPr>
          <a:xfrm>
            <a:off x="8247888" y="1709928"/>
            <a:ext cx="34838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the services common to most flight apps: ES, SB, EVS, TIME and TBL</a:t>
            </a:r>
            <a:endParaRPr lang="en-US" sz="1400" dirty="0"/>
          </a:p>
        </p:txBody>
      </p:sp>
      <p:sp>
        <p:nvSpPr>
          <p:cNvPr id="53" name="Role badge 2"/>
          <p:cNvSpPr/>
          <p:nvPr/>
        </p:nvSpPr>
        <p:spPr>
          <a:xfrm>
            <a:off x="7882128" y="2304288"/>
            <a:ext cx="256032" cy="256032"/>
          </a:xfrm>
          <a:prstGeom prst="ellipse">
            <a:avLst/>
          </a:prstGeom>
          <a:solidFill>
            <a:srgbClr val="1F23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Role 2 name"/>
          <p:cNvSpPr/>
          <p:nvPr/>
        </p:nvSpPr>
        <p:spPr>
          <a:xfrm>
            <a:off x="8247888" y="2304288"/>
            <a:ext cx="15860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bus (SB)</a:t>
            </a:r>
            <a:endParaRPr lang="en-US" sz="1400" dirty="0"/>
          </a:p>
        </p:txBody>
      </p:sp>
      <p:sp>
        <p:nvSpPr>
          <p:cNvPr id="55" name="Role 2 cite"/>
          <p:cNvSpPr/>
          <p:nvPr/>
        </p:nvSpPr>
        <p:spPr>
          <a:xfrm>
            <a:off x="9943694" y="2350008"/>
            <a:ext cx="2667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p45</a:t>
            </a:r>
            <a:endParaRPr lang="en-US" sz="1000" dirty="0"/>
          </a:p>
        </p:txBody>
      </p:sp>
      <p:sp>
        <p:nvSpPr>
          <p:cNvPr id="56" name="Role 2 text"/>
          <p:cNvSpPr/>
          <p:nvPr/>
        </p:nvSpPr>
        <p:spPr>
          <a:xfrm>
            <a:off x="8247888" y="2532888"/>
            <a:ext cx="34838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“Provides an application publish/subscribe messaging service”</a:t>
            </a:r>
            <a:endParaRPr lang="en-US" sz="1400" dirty="0"/>
          </a:p>
        </p:txBody>
      </p:sp>
      <p:sp>
        <p:nvSpPr>
          <p:cNvPr id="57" name="Role badge 3"/>
          <p:cNvSpPr/>
          <p:nvPr/>
        </p:nvSpPr>
        <p:spPr>
          <a:xfrm>
            <a:off x="7882128" y="3127248"/>
            <a:ext cx="256032" cy="256032"/>
          </a:xfrm>
          <a:prstGeom prst="ellipse">
            <a:avLst/>
          </a:prstGeom>
          <a:solidFill>
            <a:srgbClr val="1F23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Role 3 name"/>
          <p:cNvSpPr/>
          <p:nvPr/>
        </p:nvSpPr>
        <p:spPr>
          <a:xfrm>
            <a:off x="8247888" y="3127248"/>
            <a:ext cx="23566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OSAL (OS Abstraction API)</a:t>
            </a:r>
            <a:endParaRPr lang="en-US" sz="1400" dirty="0"/>
          </a:p>
        </p:txBody>
      </p:sp>
      <p:sp>
        <p:nvSpPr>
          <p:cNvPr id="59" name="Role 3 cite"/>
          <p:cNvSpPr/>
          <p:nvPr/>
        </p:nvSpPr>
        <p:spPr>
          <a:xfrm>
            <a:off x="10714279" y="3172968"/>
            <a:ext cx="97967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p23, paraphrase</a:t>
            </a:r>
            <a:endParaRPr lang="en-US" sz="1000" dirty="0"/>
          </a:p>
        </p:txBody>
      </p:sp>
      <p:sp>
        <p:nvSpPr>
          <p:cNvPr id="60" name="Role 3 text"/>
          <p:cNvSpPr/>
          <p:nvPr/>
        </p:nvSpPr>
        <p:spPr>
          <a:xfrm>
            <a:off x="8247888" y="3355848"/>
            <a:ext cx="34838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API to the cFE, whatever real-time OS runs underneath</a:t>
            </a:r>
            <a:endParaRPr lang="en-US" sz="1400" dirty="0"/>
          </a:p>
        </p:txBody>
      </p:sp>
      <p:sp>
        <p:nvSpPr>
          <p:cNvPr id="61" name="Role badge 4"/>
          <p:cNvSpPr/>
          <p:nvPr/>
        </p:nvSpPr>
        <p:spPr>
          <a:xfrm>
            <a:off x="7882128" y="3950208"/>
            <a:ext cx="256032" cy="256032"/>
          </a:xfrm>
          <a:prstGeom prst="ellipse">
            <a:avLst/>
          </a:prstGeom>
          <a:solidFill>
            <a:srgbClr val="1F23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2" name="Role 4 name"/>
          <p:cNvSpPr/>
          <p:nvPr/>
        </p:nvSpPr>
        <p:spPr>
          <a:xfrm>
            <a:off x="8247888" y="3950208"/>
            <a:ext cx="16555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(cFE PSP API)</a:t>
            </a:r>
            <a:endParaRPr lang="en-US" sz="1400" dirty="0"/>
          </a:p>
        </p:txBody>
      </p:sp>
      <p:sp>
        <p:nvSpPr>
          <p:cNvPr id="63" name="Role 4 cite"/>
          <p:cNvSpPr/>
          <p:nvPr/>
        </p:nvSpPr>
        <p:spPr>
          <a:xfrm>
            <a:off x="10013213" y="3995928"/>
            <a:ext cx="97967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p24, paraphrase</a:t>
            </a:r>
            <a:endParaRPr lang="en-US" sz="1000" dirty="0"/>
          </a:p>
        </p:txBody>
      </p:sp>
      <p:sp>
        <p:nvSpPr>
          <p:cNvPr id="64" name="Role 4 text"/>
          <p:cNvSpPr/>
          <p:nvPr/>
        </p:nvSpPr>
        <p:spPr>
          <a:xfrm>
            <a:off x="8247888" y="4178808"/>
            <a:ext cx="34838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API to the avionics hardware and board support package</a:t>
            </a:r>
            <a:endParaRPr lang="en-US" sz="1400" dirty="0"/>
          </a:p>
        </p:txBody>
      </p:sp>
      <p:sp>
        <p:nvSpPr>
          <p:cNvPr id="65" name="Legend title"/>
          <p:cNvSpPr/>
          <p:nvPr/>
        </p:nvSpPr>
        <p:spPr>
          <a:xfrm>
            <a:off x="7882128" y="4846320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August 2015</a:t>
            </a:r>
            <a:endParaRPr lang="en-US" sz="1100" dirty="0"/>
          </a:p>
        </p:txBody>
      </p:sp>
      <p:sp>
        <p:nvSpPr>
          <p:cNvPr id="66" name="Legend swatch Open source, NASA maintained"/>
          <p:cNvSpPr/>
          <p:nvPr/>
        </p:nvSpPr>
        <p:spPr>
          <a:xfrm>
            <a:off x="7882128" y="5065776"/>
            <a:ext cx="274320" cy="137160"/>
          </a:xfrm>
          <a:prstGeom prst="rect">
            <a:avLst/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67" name="Legend Open source, NASA maintained"/>
          <p:cNvSpPr/>
          <p:nvPr/>
        </p:nvSpPr>
        <p:spPr>
          <a:xfrm>
            <a:off x="8229600" y="5038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source, NASA maintained</a:t>
            </a:r>
            <a:endParaRPr lang="en-US" sz="1000" dirty="0"/>
          </a:p>
        </p:txBody>
      </p:sp>
      <p:sp>
        <p:nvSpPr>
          <p:cNvPr id="68" name="Legend swatch Mission developed"/>
          <p:cNvSpPr/>
          <p:nvPr/>
        </p:nvSpPr>
        <p:spPr>
          <a:xfrm>
            <a:off x="10094976" y="5065776"/>
            <a:ext cx="274320" cy="137160"/>
          </a:xfrm>
          <a:prstGeom prst="rect">
            <a:avLst/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</p:sp>
      <p:sp>
        <p:nvSpPr>
          <p:cNvPr id="69" name="Legend Mission developed"/>
          <p:cNvSpPr/>
          <p:nvPr/>
        </p:nvSpPr>
        <p:spPr>
          <a:xfrm>
            <a:off x="10442448" y="503834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developed</a:t>
            </a:r>
            <a:endParaRPr lang="en-US" sz="1000" dirty="0"/>
          </a:p>
        </p:txBody>
      </p:sp>
      <p:sp>
        <p:nvSpPr>
          <p:cNvPr id="70" name="Legend swatch In development"/>
          <p:cNvSpPr/>
          <p:nvPr/>
        </p:nvSpPr>
        <p:spPr>
          <a:xfrm>
            <a:off x="7882128" y="5248656"/>
            <a:ext cx="274320" cy="13716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D8A"/>
            </a:solidFill>
            <a:prstDash val="dash"/>
          </a:ln>
        </p:spPr>
      </p:sp>
      <p:sp>
        <p:nvSpPr>
          <p:cNvPr id="71" name="Legend In development"/>
          <p:cNvSpPr/>
          <p:nvPr/>
        </p:nvSpPr>
        <p:spPr>
          <a:xfrm>
            <a:off x="8229600" y="52212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1000" dirty="0"/>
          </a:p>
        </p:txBody>
      </p:sp>
      <p:sp>
        <p:nvSpPr>
          <p:cNvPr id="72" name="Legend swatch Third party"/>
          <p:cNvSpPr/>
          <p:nvPr/>
        </p:nvSpPr>
        <p:spPr>
          <a:xfrm>
            <a:off x="10094976" y="5248656"/>
            <a:ext cx="274320" cy="137160"/>
          </a:xfrm>
          <a:prstGeom prst="rect">
            <a:avLst/>
          </a:prstGeom>
          <a:solidFill>
            <a:srgbClr val="E4E7EB"/>
          </a:solidFill>
          <a:ln w="12700">
            <a:solidFill>
              <a:srgbClr val="7C8591"/>
            </a:solidFill>
            <a:prstDash val="solid"/>
          </a:ln>
        </p:spPr>
      </p:sp>
      <p:sp>
        <p:nvSpPr>
          <p:cNvPr id="73" name="Legend Third party"/>
          <p:cNvSpPr/>
          <p:nvPr/>
        </p:nvSpPr>
        <p:spPr>
          <a:xfrm>
            <a:off x="10442448" y="522122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party</a:t>
            </a:r>
            <a:endParaRPr lang="en-US" sz="1000" dirty="0"/>
          </a:p>
        </p:txBody>
      </p:sp>
      <p:sp>
        <p:nvSpPr>
          <p:cNvPr id="74" name="Legend swatch No status color in source"/>
          <p:cNvSpPr/>
          <p:nvPr/>
        </p:nvSpPr>
        <p:spPr>
          <a:xfrm>
            <a:off x="7882128" y="5431536"/>
            <a:ext cx="27432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7C8591"/>
            </a:solidFill>
            <a:prstDash val="solid"/>
          </a:ln>
        </p:spPr>
      </p:sp>
      <p:sp>
        <p:nvSpPr>
          <p:cNvPr id="75" name="Legend No status color in source"/>
          <p:cNvSpPr/>
          <p:nvPr/>
        </p:nvSpPr>
        <p:spPr>
          <a:xfrm>
            <a:off x="8229600" y="5404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status color in source</a:t>
            </a:r>
            <a:endParaRPr lang="en-US" sz="1000" dirty="0"/>
          </a:p>
        </p:txBody>
      </p:sp>
      <p:sp>
        <p:nvSpPr>
          <p:cNvPr id="76" name="Legend swatch Layer API"/>
          <p:cNvSpPr/>
          <p:nvPr/>
        </p:nvSpPr>
        <p:spPr>
          <a:xfrm>
            <a:off x="10094976" y="5431536"/>
            <a:ext cx="274320" cy="137160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77" name="Legend Layer API"/>
          <p:cNvSpPr/>
          <p:nvPr/>
        </p:nvSpPr>
        <p:spPr>
          <a:xfrm>
            <a:off x="10442448" y="540410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API</a:t>
            </a:r>
            <a:endParaRPr lang="en-US" sz="1000" dirty="0"/>
          </a:p>
        </p:txBody>
      </p:sp>
      <p:sp>
        <p:nvSpPr>
          <p:cNvPr id="78" name="Sources"/>
          <p:cNvSpPr/>
          <p:nvPr/>
        </p:nvSpPr>
        <p:spPr>
          <a:xfrm>
            <a:off x="457200" y="5687568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diagram rebuilt from McComas et al., NASA Goddard, Aug. 2015, NTRS 20150018075, p8. Service acronyms and order: 2021 memo, printed p45 (the 2015 deck lists the same five services on p9). Roles: NASA/TM-20205000691/REV 1, Jan. 2021, NTRS 20205011588, printed page on each heading. Dark bars: each layer’s standard API (2023 overview, NTRS 20230002444, slide 8).</a:t>
            </a:r>
            <a:endParaRPr lang="en-US" sz="1000" dirty="0"/>
          </a:p>
        </p:txBody>
      </p:sp>
      <p:sp>
        <p:nvSpPr>
          <p:cNvPr id="79" name="Footer"/>
          <p:cNvSpPr/>
          <p:nvPr/>
        </p:nvSpPr>
        <p:spPr>
          <a:xfrm>
            <a:off x="457200" y="6144768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reconstruction of a public NASA slide. Not a NASA document.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pptxgenjs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Portfolio project, not affiliated with NASA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cFS layers: engineer slide</dc:title>
  <dc:subject>Built with Claude Code agents from public NASA documents</dc:subject>
  <dc:creator>Logan Ankenbrandt</dc:creator>
  <cp:lastModifiedBy>pptxgenjs, run by Claude Code agents</cp:lastModifiedBy>
  <cp:revision>1</cp:revision>
  <dcterms:created xsi:type="dcterms:W3CDTF">2026-10-08T14:43:56Z</dcterms:created>
  <dcterms:modified xsi:type="dcterms:W3CDTF">2026-10-08T14:43:56Z</dcterms:modified>
</cp:coreProperties>
</file>