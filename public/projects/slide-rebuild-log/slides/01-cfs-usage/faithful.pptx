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view3D>
      <c:rotX val="52"/>
      <c:rotY val="0"/>
      <c:depthPercent val="100"/>
      <c:rAngAx val="0"/>
      <c:perspective val="30"/>
    </c:view3D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(count)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FC00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9BD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70AD47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>
                <c:manualLayout>
                  <c:x val="0.06141"/>
                  <c:y val="-0.04295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1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02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12%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"/>
              <c:layout>
                <c:manualLayout>
                  <c:x val="0.00123"/>
                  <c:y val="-0.00286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3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04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2%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2"/>
              <c:layout>
                <c:manualLayout>
                  <c:x val="0.00141"/>
                  <c:y val="-0.02171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5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06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</a:t>
                    </a:r>
                  </a:p>
                  <a:p>
                    <a:pPr>
                      <a:defRPr sz="700" b="1"/>
                    </a:pPr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48%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3"/>
              <c:layout>
                <c:manualLayout>
                  <c:x val="0.00708"/>
                  <c:y val="-0.01415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7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08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25%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4"/>
              <c:layout>
                <c:manualLayout>
                  <c:x val="-0.07288"/>
                  <c:y val="-0.02316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9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10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10%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5"/>
              <c:layout>
                <c:manualLayout>
                  <c:x val="-0.01446"/>
                  <c:y val="-0.10949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11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12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3%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solidFill>
                <a:srgbClr val="404040"/>
              </a:solidFill>
              <a:ln>
                <a:noFill/>
              </a:ln>
              <a:effectLst>
                <a:outerShdw blurRad="25400" dist="12700" dir="2700000" algn="tl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NASA ARC</c:v>
                </c:pt>
                <c:pt idx="1">
                  <c:v>NASA GRC</c:v>
                </c:pt>
                <c:pt idx="2">
                  <c:v>NASA GSFC</c:v>
                </c:pt>
                <c:pt idx="3">
                  <c:v>NASA JSC</c:v>
                </c:pt>
                <c:pt idx="4">
                  <c:v>NASA LARC</c:v>
                </c:pt>
                <c:pt idx="5">
                  <c:v>NASA MSFC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5</c:v>
                </c:pt>
                <c:pt idx="1">
                  <c:v>1</c:v>
                </c:pt>
                <c:pt idx="2">
                  <c:v>19</c:v>
                </c:pt>
                <c:pt idx="3">
                  <c:v>10</c:v>
                </c:pt>
                <c:pt idx="4">
                  <c:v>4</c:v>
                </c:pt>
                <c:pt idx="5">
                  <c:v>1</c:v>
                </c:pt>
              </c:numCache>
            </c:numRef>
          </c:val>
        </c:ser>
      </c:pie3D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view3D>
      <c:rotX val="60"/>
      <c:rotY val="0"/>
      <c:depthPercent val="100"/>
      <c:rAngAx val="0"/>
      <c:perspective val="30"/>
    </c:view3D>
    <c:plotArea>
      <c:layout>
        <c:manualLayout>
          <c:layoutTarget val="inner"/>
          <c:xMode val="edge"/>
          <c:yMode val="edge"/>
          <c:x val="0.0504"/>
          <c:y val="0"/>
          <c:w val="0.8992"/>
          <c:h val="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Projects (count)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FC00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9BD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>
                <c:manualLayout>
                  <c:x val="0.13179"/>
                  <c:y val="-0.14330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1"/>
                    </a:pPr>
                    <a:fld id="{5F1E1D00-0000-4000-8000-000000000001}" type="CATEGORYNAM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[CATEGORY NAME]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02}" type="VALU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[VALUE]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7%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"/>
              <c:layout>
                <c:manualLayout>
                  <c:x val="0.09471"/>
                  <c:y val="-0.04437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1"/>
                    </a:pPr>
                    <a:fld id="{5F1E1D00-0000-4000-8000-000000000003}" type="CATEGORYNAM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[CATEGORY NAME]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04}" type="VALU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[VALUE]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37%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2"/>
              <c:layout>
                <c:manualLayout>
                  <c:x val="-0.05489"/>
                  <c:y val="0.01303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1"/>
                    </a:pPr>
                    <a:fld id="{5F1E1D00-0000-4000-8000-000000000005}" type="CATEGORYNAM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[CATEGORY NAME]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06}" type="VALU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[VALUE]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28%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3"/>
              <c:layout>
                <c:manualLayout>
                  <c:x val="-0.17862"/>
                  <c:y val="-0.02676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1"/>
                    </a:pPr>
                    <a:fld id="{5F1E1D00-0000-4000-8000-000000000007}" type="CATEGORYNAM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[CATEGORY NAME]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08}" type="VALU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[VALUE]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23%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4"/>
              <c:layout>
                <c:manualLayout>
                  <c:x val="-0.11046"/>
                  <c:y val="-0.14180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800" b="1"/>
                    </a:pPr>
                    <a:fld id="{5F1E1D00-0000-4000-8000-000000000009}" type="CATEGORYNAM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[CATEGORY NAME]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fld id="{5F1E1D00-0000-4000-8000-000000000010}" type="VALUE"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800" b="1"/>
                      </a:pPr>
                      <a:t>[VALUE]</a:t>
                    </a:fld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, </a:t>
                    </a:r>
                    <a:r>
                      <a:rPr lang="en-US" sz="8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5%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solidFill>
                <a:srgbClr val="404040"/>
              </a:solidFill>
              <a:ln>
                <a:noFill/>
              </a:ln>
              <a:effectLst>
                <a:outerShdw blurRad="25400" dist="12700" dir="2700000" algn="tl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ARMD</c:v>
                </c:pt>
                <c:pt idx="1">
                  <c:v>SMD</c:v>
                </c:pt>
                <c:pt idx="2">
                  <c:v>STMD</c:v>
                </c:pt>
                <c:pt idx="3">
                  <c:v>ESDMD</c:v>
                </c:pt>
                <c:pt idx="4">
                  <c:v>SOMD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</c:v>
                </c:pt>
                <c:pt idx="1">
                  <c:v>15</c:v>
                </c:pt>
                <c:pt idx="2">
                  <c:v>11</c:v>
                </c:pt>
                <c:pt idx="3">
                  <c:v>9</c:v>
                </c:pt>
                <c:pt idx="4">
                  <c:v>2</c:v>
                </c:pt>
              </c:numCache>
            </c:numRef>
          </c:val>
        </c:ser>
      </c:pie3D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view3D>
      <c:rotX val="63"/>
      <c:rotY val="0"/>
      <c:depthPercent val="100"/>
      <c:rAngAx val="0"/>
      <c:perspective val="30"/>
    </c:view3D>
    <c:plotArea>
      <c:layout>
        <c:manualLayout>
          <c:layoutTarget val="inner"/>
          <c:xMode val="edge"/>
          <c:yMode val="edge"/>
          <c:x val="0"/>
          <c:y val="0"/>
          <c:w val="1"/>
          <c:h val="1"/>
        </c:manualLayout>
      </c:layout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Printed share (%)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472C4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ED7D31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5A5A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FC00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4"/>
            <c:bubble3D val="0"/>
            <c:spPr>
              <a:solidFill>
                <a:srgbClr val="5B9BD5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5"/>
            <c:bubble3D val="0"/>
            <c:spPr>
              <a:solidFill>
                <a:srgbClr val="70AD47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6"/>
            <c:bubble3D val="0"/>
            <c:spPr>
              <a:solidFill>
                <a:srgbClr val="264478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7"/>
            <c:bubble3D val="0"/>
            <c:spPr>
              <a:solidFill>
                <a:srgbClr val="9E480E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8"/>
            <c:bubble3D val="0"/>
            <c:spPr>
              <a:solidFill>
                <a:srgbClr val="636363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9"/>
            <c:bubble3D val="0"/>
            <c:spPr>
              <a:solidFill>
                <a:srgbClr val="255E91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0"/>
            <c:bubble3D val="0"/>
            <c:spPr>
              <a:solidFill>
                <a:srgbClr val="43682B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1"/>
            <c:bubble3D val="0"/>
            <c:spPr>
              <a:solidFill>
                <a:srgbClr val="698ED0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2"/>
            <c:bubble3D val="0"/>
            <c:spPr>
              <a:solidFill>
                <a:srgbClr val="F1975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3"/>
            <c:bubble3D val="0"/>
            <c:spPr>
              <a:solidFill>
                <a:srgbClr val="B7B7B7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4"/>
            <c:bubble3D val="0"/>
            <c:spPr>
              <a:solidFill>
                <a:srgbClr val="FFCD33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5"/>
            <c:bubble3D val="0"/>
            <c:spPr>
              <a:solidFill>
                <a:srgbClr val="7CAFDD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layout>
                <c:manualLayout>
                  <c:x val="-0.00440"/>
                  <c:y val="0.05350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1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02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"/>
              <c:layout>
                <c:manualLayout>
                  <c:x val="0.10251"/>
                  <c:y val="-0.12209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3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04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2"/>
              <c:layout>
                <c:manualLayout>
                  <c:x val="0.01031"/>
                  <c:y val="-0.03146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5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06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3"/>
              <c:layout>
                <c:manualLayout>
                  <c:x val="0.12687"/>
                  <c:y val="-0.06003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7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08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4"/>
              <c:layout>
                <c:manualLayout>
                  <c:x val="0.05837"/>
                  <c:y val="0.03865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09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10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5"/>
              <c:layout>
                <c:manualLayout>
                  <c:x val="0.07280"/>
                  <c:y val="0.09513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11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12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6"/>
              <c:layout>
                <c:manualLayout>
                  <c:x val="-0.03155"/>
                  <c:y val="0.09494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13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14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7"/>
              <c:layout>
                <c:manualLayout>
                  <c:x val="-0.04262"/>
                  <c:y val="0.03363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15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16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8"/>
              <c:layout>
                <c:manualLayout>
                  <c:x val="0.04532"/>
                  <c:y val="0.02682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17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18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9"/>
              <c:layout>
                <c:manualLayout>
                  <c:x val="-0.06954"/>
                  <c:y val="-0.04300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19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20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0"/>
              <c:layout>
                <c:manualLayout>
                  <c:x val="-0.19844"/>
                  <c:y val="-0.11211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21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22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1"/>
              <c:layout>
                <c:manualLayout>
                  <c:x val="-0.13548"/>
                  <c:y val="-0.18202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23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24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2"/>
              <c:layout>
                <c:manualLayout>
                  <c:x val="0.01031"/>
                  <c:y val="0.02597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25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26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3"/>
              <c:layout>
                <c:manualLayout>
                  <c:x val="-0.06594"/>
                  <c:y val="-0.05397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27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28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4"/>
              <c:layout>
                <c:manualLayout>
                  <c:x val="0.05364"/>
                  <c:y val="-0.13321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29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30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dLbl>
              <c:idx val="15"/>
              <c:layout>
                <c:manualLayout>
                  <c:x val="0.00776"/>
                  <c:y val="0.28586"/>
                </c:manualLayout>
              </c:layout>
              <c:tx>
                <c:rich>
                  <a:bodyPr rot="0" spcFirstLastPara="1" vertOverflow="overflow" horzOverflow="overflow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700" b="1"/>
                    </a:pPr>
                    <a:fld id="{5F1E1D00-0000-4000-8000-000000000031}" type="CATEGORYNAM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[CATEGORY NAME]</a:t>
                    </a:fld>
                  </a:p>
                  <a:p>
                    <a:pPr>
                      <a:defRPr sz="700" b="1"/>
                    </a:pPr>
                    <a:fld id="{5F1E1D00-0000-4000-8000-000000000032}" type="VALUE"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pPr>
                        <a:defRPr sz="700" b="1"/>
                      </a:pPr>
                      <a:t>[VALUE]</a:t>
                    </a:fld>
                    <a:r>
                      <a:rPr lang="en-US" sz="700" b="1">
                        <a:solidFill>
                          <a:srgbClr val="FFFFFF"/>
                        </a:solidFill>
                        <a:latin typeface="Arial"/>
                        <a:cs typeface="Arial"/>
                      </a:rPr>
                      <a:t>%</a:t>
                    </a:r>
                  </a:p>
                </c:rich>
              </c:tx>
              <c:spPr>
                <a:solidFill>
                  <a:srgbClr val="404040"/>
                </a:solidFill>
                <a:ln>
                  <a:noFill/>
                </a:ln>
                <a:effectLst>
                  <a:outerShdw blurRad="25400" dist="12700" dir="2700000" algn="tl" rotWithShape="0">
                    <a:srgbClr val="000000">
                      <a:alpha val="35000"/>
                    </a:srgbClr>
                  </a:outerShdw>
                </a:effectLst>
              </c:spPr>
              <c:dLblPos val="ctr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</c:extLst>
            </c:dLbl>
            <c:spPr>
              <a:solidFill>
                <a:srgbClr val="404040"/>
              </a:solidFill>
              <a:ln>
                <a:noFill/>
              </a:ln>
              <a:effectLst>
                <a:outerShdw blurRad="25400" dist="12700" dir="2700000" algn="tl" rotWithShape="0">
                  <a:srgbClr val="000000">
                    <a:alpha val="35000"/>
                  </a:srgbClr>
                </a:outerShdw>
              </a:effectLst>
            </c:spPr>
            <c:txPr>
              <a:bodyPr/>
              <a:lstStyle/>
              <a:p>
                <a:pPr>
                  <a:defRPr sz="700" b="1">
                    <a:solidFill>
                      <a:srgbClr val="FFFFFF"/>
                    </a:solidFill>
                    <a:latin typeface="Arial"/>
                    <a:cs typeface="Arial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1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rgbClr val="7F7F7F"/>
                  </a:solidFill>
                </a:ln>
              </c:spPr>
            </c:leaderLines>
          </c:dLbls>
          <c:cat>
            <c:strRef>
              <c:f>Sheet1!$A$2:$A$17</c:f>
              <c:strCache>
                <c:ptCount val="16"/>
                <c:pt idx="0">
                  <c:v>Aircraft</c:v>
                </c:pt>
                <c:pt idx="1">
                  <c:v>Architecture</c:v>
                </c:pt>
                <c:pt idx="2">
                  <c:v>Balloon</c:v>
                </c:pt>
                <c:pt idx="3">
                  <c:v>Instrument</c:v>
                </c:pt>
                <c:pt idx="4">
                  <c:v>Payload</c:v>
                </c:pt>
                <c:pt idx="5">
                  <c:v>Processor</c:v>
                </c:pt>
                <c:pt idx="6">
                  <c:v>Rover</c:v>
                </c:pt>
                <c:pt idx="7">
                  <c:v>Spacecraft</c:v>
                </c:pt>
                <c:pt idx="8">
                  <c:v>Robot</c:v>
                </c:pt>
                <c:pt idx="9">
                  <c:v>Telescope</c:v>
                </c:pt>
                <c:pt idx="10">
                  <c:v>Lander</c:v>
                </c:pt>
                <c:pt idx="11">
                  <c:v>Platform</c:v>
                </c:pt>
                <c:pt idx="12">
                  <c:v>Capsule</c:v>
                </c:pt>
                <c:pt idx="13">
                  <c:v>Launch Vehicle</c:v>
                </c:pt>
                <c:pt idx="14">
                  <c:v>Spacesuit</c:v>
                </c:pt>
                <c:pt idx="15">
                  <c:v>Unmanned Aircraft</c:v>
                </c:pt>
              </c:strCache>
            </c:strRef>
          </c:cat>
          <c:val>
            <c:numRef>
              <c:f>Sheet1!$B$2:$B$17</c:f>
              <c:numCache>
                <c:ptCount val="16"/>
                <c:pt idx="0">
                  <c:v>4</c:v>
                </c:pt>
                <c:pt idx="1">
                  <c:v>5</c:v>
                </c:pt>
                <c:pt idx="2">
                  <c:v>4</c:v>
                </c:pt>
                <c:pt idx="3">
                  <c:v>7</c:v>
                </c:pt>
                <c:pt idx="4">
                  <c:v>28</c:v>
                </c:pt>
                <c:pt idx="5">
                  <c:v>2</c:v>
                </c:pt>
                <c:pt idx="6">
                  <c:v>2</c:v>
                </c:pt>
                <c:pt idx="7">
                  <c:v>28</c:v>
                </c:pt>
                <c:pt idx="8">
                  <c:v>2</c:v>
                </c:pt>
                <c:pt idx="9">
                  <c:v>2</c:v>
                </c:pt>
                <c:pt idx="10">
                  <c:v>4</c:v>
                </c:pt>
                <c:pt idx="11">
                  <c:v>2</c:v>
                </c:pt>
                <c:pt idx="12">
                  <c:v>7</c:v>
                </c:pt>
                <c:pt idx="13">
                  <c:v>2</c:v>
                </c:pt>
                <c:pt idx="14">
                  <c:v>2</c:v>
                </c:pt>
                <c:pt idx="15">
                  <c:v>2</c:v>
                </c:pt>
              </c:numCache>
            </c:numRef>
          </c:val>
        </c:ser>
      </c:pie3D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Ashok Prajapati, "Evolution of Core Flight System (cFS)", NASA GSFC, 2024, NTRS 20240004389, page 5. https://ntrs.nasa.gov/citations/20240004389. Work of the US Gov. Public Use Permitted. Faithful rebuild. The 3D raster pies are drawn as native 3D pie charts. The log is slides/01-cfs-usage/log-faithful.md.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396240" y="234950"/>
            <a:ext cx="5953760" cy="654050"/>
          </a:xfrm>
          <a:prstGeom prst="rect">
            <a:avLst/>
          </a:prstGeom>
          <a:noFill/>
          <a:ln/>
          <a:effectLst>
            <a:outerShdw sx="100000" sy="100000" kx="0" ky="0" algn="bl" rotWithShape="0" blurRad="12700" dist="17780" dir="2700000">
              <a:srgbClr val="000000">
                <a:alpha val="62000"/>
              </a:srgbClr>
            </a:outerShdw>
          </a:effectLst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Usage and Impact At NASA</a:t>
            </a:r>
            <a:endParaRPr lang="en-US" sz="3000" dirty="0"/>
          </a:p>
        </p:txBody>
      </p:sp>
      <p:sp>
        <p:nvSpPr>
          <p:cNvPr id="3" name="Callout"/>
          <p:cNvSpPr/>
          <p:nvPr/>
        </p:nvSpPr>
        <p:spPr>
          <a:xfrm>
            <a:off x="6253353" y="86487"/>
            <a:ext cx="2742438" cy="738378"/>
          </a:xfrm>
          <a:prstGeom prst="rect">
            <a:avLst/>
          </a:prstGeom>
          <a:solidFill>
            <a:srgbClr val="FFC000"/>
          </a:solidFill>
          <a:ln w="9525">
            <a:solidFill>
              <a:srgbClr val="FFC000"/>
            </a:solidFill>
          </a:ln>
        </p:spPr>
        <p:txBody>
          <a:bodyPr wrap="square" lIns="91440" tIns="57150" rIns="91440" bIns="34290" rtlCol="0" anchor="ctr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named by ISwSIS (and</a:t>
            </a:r>
            <a:br/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 by HEO directorate)</a:t>
            </a:r>
            <a:br/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standard FSW framework</a:t>
            </a:r>
            <a:endParaRPr lang="en-US" sz="1400" dirty="0"/>
          </a:p>
        </p:txBody>
      </p:sp>
      <p:sp>
        <p:nvSpPr>
          <p:cNvPr id="4" name="Rule top"/>
          <p:cNvSpPr/>
          <p:nvPr/>
        </p:nvSpPr>
        <p:spPr>
          <a:xfrm>
            <a:off x="306324" y="893826"/>
            <a:ext cx="8417052" cy="58674"/>
          </a:xfrm>
          <a:prstGeom prst="rect">
            <a:avLst/>
          </a:prstGeom>
          <a:gradFill rotWithShape="1">
            <a:gsLst>
              <a:gs pos="0">
                <a:srgbClr val="6E3F01"/>
              </a:gs>
              <a:gs pos="12700">
                <a:srgbClr val="8A4F01"/>
              </a:gs>
              <a:gs pos="23500">
                <a:srgbClr val="B56802"/>
              </a:gs>
              <a:gs pos="34400">
                <a:srgbClr val="D97D02"/>
              </a:gs>
              <a:gs pos="45200">
                <a:srgbClr val="EA8602"/>
              </a:gs>
              <a:gs pos="50700">
                <a:srgbClr val="ED8802"/>
              </a:gs>
              <a:gs pos="56100">
                <a:srgbClr val="E98602"/>
              </a:gs>
              <a:gs pos="67000">
                <a:srgbClr val="D67B02"/>
              </a:gs>
              <a:gs pos="77800">
                <a:srgbClr val="B06502"/>
              </a:gs>
              <a:gs pos="88700">
                <a:srgbClr val="854C01"/>
              </a:gs>
              <a:gs pos="100000">
                <a:srgbClr val="6E3F01"/>
              </a:gs>
            </a:gsLst>
            <a:lin ang="0" scaled="0"/>
          </a:gradFill>
          <a:ln/>
          <a:effectLst>
            <a:outerShdw sx="100000" sy="100000" kx="0" ky="0" algn="bl" rotWithShape="0" blurRad="38100" dist="19050" dir="5400000">
              <a:srgbClr val="000000">
                <a:alpha val="42000"/>
              </a:srgbClr>
            </a:outerShdw>
          </a:effectLst>
        </p:spPr>
      </p:sp>
      <p:sp>
        <p:nvSpPr>
          <p:cNvPr id="5" name="Rule bottom"/>
          <p:cNvSpPr/>
          <p:nvPr/>
        </p:nvSpPr>
        <p:spPr>
          <a:xfrm>
            <a:off x="306324" y="4687824"/>
            <a:ext cx="8417052" cy="32004"/>
          </a:xfrm>
          <a:prstGeom prst="rect">
            <a:avLst/>
          </a:prstGeom>
          <a:gradFill rotWithShape="1">
            <a:gsLst>
              <a:gs pos="0">
                <a:srgbClr val="6E3F01"/>
              </a:gs>
              <a:gs pos="12700">
                <a:srgbClr val="8A4F01"/>
              </a:gs>
              <a:gs pos="23500">
                <a:srgbClr val="B56802"/>
              </a:gs>
              <a:gs pos="34400">
                <a:srgbClr val="D97D02"/>
              </a:gs>
              <a:gs pos="45200">
                <a:srgbClr val="EA8602"/>
              </a:gs>
              <a:gs pos="50700">
                <a:srgbClr val="ED8802"/>
              </a:gs>
              <a:gs pos="56100">
                <a:srgbClr val="E98602"/>
              </a:gs>
              <a:gs pos="67000">
                <a:srgbClr val="D67B02"/>
              </a:gs>
              <a:gs pos="77800">
                <a:srgbClr val="B06502"/>
              </a:gs>
              <a:gs pos="88700">
                <a:srgbClr val="854C01"/>
              </a:gs>
              <a:gs pos="100000">
                <a:srgbClr val="6E3F01"/>
              </a:gs>
            </a:gsLst>
            <a:lin ang="0" scaled="0"/>
          </a:gradFill>
          <a:ln/>
          <a:effectLst>
            <a:outerShdw sx="100000" sy="100000" kx="0" ky="0" algn="bl" rotWithShape="0" blurRad="38100" dist="19050" dir="5400000">
              <a:srgbClr val="000000">
                <a:alpha val="42000"/>
              </a:srgbClr>
            </a:outerShdw>
          </a:effectLst>
        </p:spPr>
      </p:sp>
      <p:sp>
        <p:nvSpPr>
          <p:cNvPr id="6" name="Panel Centers"/>
          <p:cNvSpPr/>
          <p:nvPr/>
        </p:nvSpPr>
        <p:spPr>
          <a:xfrm>
            <a:off x="163068" y="1005078"/>
            <a:ext cx="2717292" cy="2471928"/>
          </a:xfrm>
          <a:prstGeom prst="rect">
            <a:avLst/>
          </a:prstGeom>
          <a:gradFill rotWithShape="1">
            <a:gsLst>
              <a:gs pos="0">
                <a:srgbClr val="F8F8F8"/>
              </a:gs>
              <a:gs pos="100000">
                <a:srgbClr val="C6C6C6"/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7" name="Panel title Centers"/>
          <p:cNvSpPr/>
          <p:nvPr/>
        </p:nvSpPr>
        <p:spPr>
          <a:xfrm>
            <a:off x="163068" y="999490"/>
            <a:ext cx="2717292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Applications At NASA Centers</a:t>
            </a:r>
            <a:endParaRPr lang="en-US" sz="1000" dirty="0"/>
          </a:p>
        </p:txBody>
      </p:sp>
      <p:graphicFrame>
        <p:nvGraphicFramePr>
          <p:cNvPr id="8" name="Pie Centers" descr="CFS Applications At NASA Centers: NASA ARC 5; NASA GRC 1; NASA GSFC 19; NASA JSC 10; NASA LARC 4; NASA MSFC 1"/>
          <p:cNvGraphicFramePr/>
          <p:nvPr/>
        </p:nvGraphicFramePr>
        <p:xfrm>
          <a:off x="64135" y="917575"/>
          <a:ext cx="2889250" cy="28892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Panel Directorates"/>
          <p:cNvSpPr/>
          <p:nvPr/>
        </p:nvSpPr>
        <p:spPr>
          <a:xfrm>
            <a:off x="3141726" y="1005078"/>
            <a:ext cx="2922270" cy="2471928"/>
          </a:xfrm>
          <a:prstGeom prst="rect">
            <a:avLst/>
          </a:prstGeom>
          <a:gradFill rotWithShape="1">
            <a:gsLst>
              <a:gs pos="0">
                <a:srgbClr val="F8F8F8"/>
              </a:gs>
              <a:gs pos="100000">
                <a:srgbClr val="C6C6C6"/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10" name="Panel title Directorates"/>
          <p:cNvSpPr/>
          <p:nvPr/>
        </p:nvSpPr>
        <p:spPr>
          <a:xfrm>
            <a:off x="3141726" y="967740"/>
            <a:ext cx="2922270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Applications Across Mission Directorates</a:t>
            </a:r>
            <a:endParaRPr lang="en-US" sz="1000" dirty="0"/>
          </a:p>
        </p:txBody>
      </p:sp>
      <p:graphicFrame>
        <p:nvGraphicFramePr>
          <p:cNvPr id="11" name="Pie Directorates" descr="CFS Applications Across Mission Directorates: ARMD 3; SMD 15; STMD 11; ESDMD 9; SOMD 2"/>
          <p:cNvGraphicFramePr/>
          <p:nvPr/>
        </p:nvGraphicFramePr>
        <p:xfrm>
          <a:off x="3130550" y="1013460"/>
          <a:ext cx="3023870" cy="271907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Panel Segments"/>
          <p:cNvSpPr/>
          <p:nvPr/>
        </p:nvSpPr>
        <p:spPr>
          <a:xfrm>
            <a:off x="6275832" y="1005078"/>
            <a:ext cx="2646426" cy="2483358"/>
          </a:xfrm>
          <a:prstGeom prst="rect">
            <a:avLst/>
          </a:prstGeom>
          <a:gradFill rotWithShape="1">
            <a:gsLst>
              <a:gs pos="0">
                <a:srgbClr val="F8F8F8"/>
              </a:gs>
              <a:gs pos="100000">
                <a:srgbClr val="C6C6C6"/>
              </a:gs>
            </a:gsLst>
            <a:path path="circle">
              <a:fillToRect l="50000" t="0" r="50000" b="100000"/>
            </a:path>
          </a:gradFill>
          <a:ln/>
        </p:spPr>
      </p:sp>
      <p:sp>
        <p:nvSpPr>
          <p:cNvPr id="13" name="Panel title Segments"/>
          <p:cNvSpPr/>
          <p:nvPr/>
        </p:nvSpPr>
        <p:spPr>
          <a:xfrm>
            <a:off x="6275832" y="981710"/>
            <a:ext cx="264642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Applications Segments</a:t>
            </a:r>
            <a:endParaRPr lang="en-US" sz="1000" dirty="0"/>
          </a:p>
        </p:txBody>
      </p:sp>
      <p:graphicFrame>
        <p:nvGraphicFramePr>
          <p:cNvPr id="14" name="Pie Segments" descr="cFS Applications Segments: Aircraft 4; Architecture 5; Balloon 4; Instrument 7; Payload 28; Processor 2; Rover 2; Spacecraft 28; Robot 2; Telescope 2; Lander 4; Platform 2; Capsule 7; Launch Vehicle 2; Spacesuit 2; Unmanned Aircraft 2"/>
          <p:cNvGraphicFramePr/>
          <p:nvPr/>
        </p:nvGraphicFramePr>
        <p:xfrm>
          <a:off x="6261100" y="1030605"/>
          <a:ext cx="2684780" cy="26847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Caption centers"/>
          <p:cNvSpPr/>
          <p:nvPr/>
        </p:nvSpPr>
        <p:spPr>
          <a:xfrm>
            <a:off x="240411" y="3597021"/>
            <a:ext cx="2640330" cy="261366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91440" tIns="55880" rIns="91440" bIns="35560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is used at 6 NASA Centers!</a:t>
            </a:r>
            <a:endParaRPr lang="en-US" sz="1100" dirty="0"/>
          </a:p>
        </p:txBody>
      </p:sp>
      <p:sp>
        <p:nvSpPr>
          <p:cNvPr id="16" name="Caption directorates"/>
          <p:cNvSpPr/>
          <p:nvPr/>
        </p:nvSpPr>
        <p:spPr>
          <a:xfrm>
            <a:off x="3004185" y="3534537"/>
            <a:ext cx="3136392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91440" tIns="57150" rIns="9144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is across mission directorates and on 40+</a:t>
            </a:r>
            <a:br/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historically including RST, CCRS,</a:t>
            </a:r>
            <a:br/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MAV, LRO, Gateway, Artemis, and many more!</a:t>
            </a:r>
            <a:endParaRPr lang="en-US" sz="1100" dirty="0"/>
          </a:p>
        </p:txBody>
      </p:sp>
      <p:sp>
        <p:nvSpPr>
          <p:cNvPr id="17" name="Caption segments"/>
          <p:cNvSpPr/>
          <p:nvPr/>
        </p:nvSpPr>
        <p:spPr>
          <a:xfrm>
            <a:off x="6276213" y="3534537"/>
            <a:ext cx="2646426" cy="55321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 wrap="square" lIns="91440" tIns="57150" rIns="91440" bIns="0" rtlCol="0" anchor="t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is on embedded systems that span</a:t>
            </a:r>
            <a:br/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space ecosystem.</a:t>
            </a:r>
            <a:endParaRPr lang="en-US" sz="1100" dirty="0"/>
          </a:p>
        </p:txBody>
      </p:sp>
      <p:sp>
        <p:nvSpPr>
          <p:cNvPr id="18" name="Footer banner"/>
          <p:cNvSpPr/>
          <p:nvPr/>
        </p:nvSpPr>
        <p:spPr>
          <a:xfrm>
            <a:off x="315087" y="4250817"/>
            <a:ext cx="8540496" cy="246126"/>
          </a:xfrm>
          <a:prstGeom prst="rect">
            <a:avLst/>
          </a:prstGeom>
          <a:solidFill>
            <a:srgbClr val="CECEEF"/>
          </a:solidFill>
          <a:ln w="9525">
            <a:solidFill>
              <a:srgbClr val="000000"/>
            </a:solidFill>
          </a:ln>
        </p:spPr>
        <p:txBody>
          <a:bodyPr wrap="square" lIns="91440" tIns="64135" rIns="91440" bIns="27305" rtlCol="0" anchor="ctr"/>
          <a:lstStyle/>
          <a:p>
            <a:pPr algn="ctr" indent="0" marL="0">
              <a:lnSpc>
                <a:spcPts val="132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cFS has become the dominant FSW framework at NASA and is likely the most used FSW system in the world</a:t>
            </a:r>
            <a:endParaRPr lang="en-US" sz="1100" dirty="0"/>
          </a:p>
        </p:txBody>
      </p:sp>
      <p:sp>
        <p:nvSpPr>
          <p:cNvPr id="19" name="Page number"/>
          <p:cNvSpPr/>
          <p:nvPr/>
        </p:nvSpPr>
        <p:spPr>
          <a:xfrm>
            <a:off x="8382000" y="4794250"/>
            <a:ext cx="3436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0" name="Portfolio footer"/>
          <p:cNvSpPr/>
          <p:nvPr/>
        </p:nvSpPr>
        <p:spPr>
          <a:xfrm>
            <a:off x="306324" y="4794250"/>
            <a:ext cx="502767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reconstruction of a public NASA slide. Not a NASA document.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PptxGenJS 4.0.1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Arial</vt:lpstr>
      <vt:lpstr>Office Theme</vt:lpstr>
      <vt:lpstr>Slide 1</vt:lpstr>
    </vt:vector>
  </TitlesOfParts>
  <Company/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cFS Usage and Impact At NASA (faithful rebuild)</dc:title>
  <dc:subject>Portfolio reconstruction of a public NASA slide. Not a NASA document.</dc:subject>
  <dc:creator>Logan Ankenbrandt</dc:creator>
  <dc:description>Generated by src/01-cfs-usage-faithful.js with PptxGenJS 4.0.1.</dc:description>
  <cp:lastModifiedBy>PptxGenJS 4.0.1</cp:lastModifiedBy>
  <cp:revision>1</cp:revision>
  <dcterms:created xsi:type="dcterms:W3CDTF">2026-10-08T15:02:27Z</dcterms:created>
  <dcterms:modified xsi:type="dcterms:W3CDTF">2026-10-08T15:02:27Z</dcterms:modified>
</cp:coreProperties>
</file>