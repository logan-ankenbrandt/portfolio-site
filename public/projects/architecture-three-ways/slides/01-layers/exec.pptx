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457200" y="457200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NASA’s core Flight System (cFS) architecture</a:t>
            </a:r>
            <a:endParaRPr lang="en-US" sz="1300" dirty="0"/>
          </a:p>
        </p:txBody>
      </p:sp>
      <p:sp>
        <p:nvSpPr>
          <p:cNvPr id="3" name="Title"/>
          <p:cNvSpPr/>
          <p:nvPr/>
        </p:nvSpPr>
        <p:spPr>
          <a:xfrm>
            <a:off x="457200" y="731520"/>
            <a:ext cx="112745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hides its implementation behind a standard API, so a mission reuses the framework and focuses on custom parts</a:t>
            </a:r>
            <a:endParaRPr lang="en-US" sz="3000" dirty="0"/>
          </a:p>
        </p:txBody>
      </p:sp>
      <p:sp>
        <p:nvSpPr>
          <p:cNvPr id="4" name="Legend swatch 1"/>
          <p:cNvSpPr/>
          <p:nvPr/>
        </p:nvSpPr>
        <p:spPr>
          <a:xfrm>
            <a:off x="457200" y="1901952"/>
            <a:ext cx="274320" cy="155448"/>
          </a:xfrm>
          <a:prstGeom prst="rect">
            <a:avLst/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" name="Legend 1"/>
          <p:cNvSpPr/>
          <p:nvPr/>
        </p:nvSpPr>
        <p:spPr>
          <a:xfrm>
            <a:off x="804672" y="1865376"/>
            <a:ext cx="18857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Reused, NASA maintained</a:t>
            </a:r>
            <a:endParaRPr lang="en-US" sz="1200" dirty="0"/>
          </a:p>
        </p:txBody>
      </p:sp>
      <p:sp>
        <p:nvSpPr>
          <p:cNvPr id="6" name="Legend swatch 2"/>
          <p:cNvSpPr/>
          <p:nvPr/>
        </p:nvSpPr>
        <p:spPr>
          <a:xfrm>
            <a:off x="2964790" y="1901952"/>
            <a:ext cx="274320" cy="155448"/>
          </a:xfrm>
          <a:prstGeom prst="rect">
            <a:avLst/>
          </a:prstGeom>
          <a:solidFill>
            <a:srgbClr val="FBE4D2"/>
          </a:solidFill>
          <a:ln w="12700">
            <a:solidFill>
              <a:srgbClr val="B85F1E"/>
            </a:solidFill>
            <a:prstDash val="solid"/>
          </a:ln>
        </p:spPr>
      </p:sp>
      <p:sp>
        <p:nvSpPr>
          <p:cNvPr id="7" name="Legend 2"/>
          <p:cNvSpPr/>
          <p:nvPr/>
        </p:nvSpPr>
        <p:spPr>
          <a:xfrm>
            <a:off x="3312262" y="1865376"/>
            <a:ext cx="1385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the mission</a:t>
            </a:r>
            <a:endParaRPr lang="en-US" sz="1200" dirty="0"/>
          </a:p>
        </p:txBody>
      </p:sp>
      <p:sp>
        <p:nvSpPr>
          <p:cNvPr id="8" name="Legend swatch 3"/>
          <p:cNvSpPr/>
          <p:nvPr/>
        </p:nvSpPr>
        <p:spPr>
          <a:xfrm>
            <a:off x="4972507" y="1901952"/>
            <a:ext cx="274320" cy="155448"/>
          </a:xfrm>
          <a:prstGeom prst="rect">
            <a:avLst/>
          </a:prstGeom>
          <a:solidFill>
            <a:srgbClr val="E4E7EB"/>
          </a:solidFill>
          <a:ln w="12700">
            <a:solidFill>
              <a:srgbClr val="7C8591"/>
            </a:solidFill>
            <a:prstDash val="solid"/>
          </a:ln>
        </p:spPr>
      </p:sp>
      <p:sp>
        <p:nvSpPr>
          <p:cNvPr id="9" name="Legend 3"/>
          <p:cNvSpPr/>
          <p:nvPr/>
        </p:nvSpPr>
        <p:spPr>
          <a:xfrm>
            <a:off x="5319979" y="1865376"/>
            <a:ext cx="801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party</a:t>
            </a:r>
            <a:endParaRPr lang="en-US" sz="1200" dirty="0"/>
          </a:p>
        </p:txBody>
      </p:sp>
      <p:sp>
        <p:nvSpPr>
          <p:cNvPr id="10" name="Layer 1 fill"/>
          <p:cNvSpPr/>
          <p:nvPr/>
        </p:nvSpPr>
        <p:spPr>
          <a:xfrm>
            <a:off x="457200" y="2176272"/>
            <a:ext cx="3072384" cy="786384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11" name="Layer 1 edge"/>
          <p:cNvSpPr/>
          <p:nvPr/>
        </p:nvSpPr>
        <p:spPr>
          <a:xfrm>
            <a:off x="457200" y="2176272"/>
            <a:ext cx="91440" cy="78638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12" name="Layer 1 name"/>
          <p:cNvSpPr/>
          <p:nvPr/>
        </p:nvSpPr>
        <p:spPr>
          <a:xfrm>
            <a:off x="731520" y="224028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apps</a:t>
            </a:r>
            <a:endParaRPr lang="en-US" sz="1600" dirty="0"/>
          </a:p>
        </p:txBody>
      </p:sp>
      <p:sp>
        <p:nvSpPr>
          <p:cNvPr id="13" name="Layer 1 text"/>
          <p:cNvSpPr/>
          <p:nvPr/>
        </p:nvSpPr>
        <p:spPr>
          <a:xfrm>
            <a:off x="731520" y="2505456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cFS apps, open source and NASA maintained</a:t>
            </a:r>
            <a:endParaRPr lang="en-US" sz="1400" dirty="0"/>
          </a:p>
        </p:txBody>
      </p:sp>
      <p:sp>
        <p:nvSpPr>
          <p:cNvPr id="14" name="Layer 2 fill"/>
          <p:cNvSpPr/>
          <p:nvPr/>
        </p:nvSpPr>
        <p:spPr>
          <a:xfrm>
            <a:off x="3602736" y="2176272"/>
            <a:ext cx="3072384" cy="786384"/>
          </a:xfrm>
          <a:prstGeom prst="rect">
            <a:avLst/>
          </a:prstGeom>
          <a:solidFill>
            <a:srgbClr val="FBE4D2"/>
          </a:solidFill>
          <a:ln/>
        </p:spPr>
      </p:sp>
      <p:sp>
        <p:nvSpPr>
          <p:cNvPr id="15" name="Layer 2 edge"/>
          <p:cNvSpPr/>
          <p:nvPr/>
        </p:nvSpPr>
        <p:spPr>
          <a:xfrm>
            <a:off x="3602736" y="2176272"/>
            <a:ext cx="91440" cy="786384"/>
          </a:xfrm>
          <a:prstGeom prst="rect">
            <a:avLst/>
          </a:prstGeom>
          <a:solidFill>
            <a:srgbClr val="B85F1E"/>
          </a:solidFill>
          <a:ln/>
        </p:spPr>
      </p:sp>
      <p:sp>
        <p:nvSpPr>
          <p:cNvPr id="16" name="Layer 2 name"/>
          <p:cNvSpPr/>
          <p:nvPr/>
        </p:nvSpPr>
        <p:spPr>
          <a:xfrm>
            <a:off x="3877056" y="224028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apps</a:t>
            </a:r>
            <a:endParaRPr lang="en-US" sz="1600" dirty="0"/>
          </a:p>
        </p:txBody>
      </p:sp>
      <p:sp>
        <p:nvSpPr>
          <p:cNvPr id="17" name="Layer 2 text"/>
          <p:cNvSpPr/>
          <p:nvPr/>
        </p:nvSpPr>
        <p:spPr>
          <a:xfrm>
            <a:off x="3877056" y="2505456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Mission-specific apps, built by the mission team</a:t>
            </a:r>
            <a:endParaRPr lang="en-US" sz="1400" dirty="0"/>
          </a:p>
        </p:txBody>
      </p:sp>
      <p:sp>
        <p:nvSpPr>
          <p:cNvPr id="18" name="API bar 1"/>
          <p:cNvSpPr/>
          <p:nvPr/>
        </p:nvSpPr>
        <p:spPr>
          <a:xfrm>
            <a:off x="457200" y="3008376"/>
            <a:ext cx="6217920" cy="256032"/>
          </a:xfrm>
          <a:prstGeom prst="rect">
            <a:avLst/>
          </a:prstGeom>
          <a:solidFill>
            <a:srgbClr val="2F5D8A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API</a:t>
            </a:r>
            <a:endParaRPr lang="en-US" sz="1200" dirty="0"/>
          </a:p>
        </p:txBody>
      </p:sp>
      <p:sp>
        <p:nvSpPr>
          <p:cNvPr id="19" name="Layer 3 fill"/>
          <p:cNvSpPr/>
          <p:nvPr/>
        </p:nvSpPr>
        <p:spPr>
          <a:xfrm>
            <a:off x="457200" y="3310128"/>
            <a:ext cx="6217920" cy="786384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20" name="Layer 3 edge"/>
          <p:cNvSpPr/>
          <p:nvPr/>
        </p:nvSpPr>
        <p:spPr>
          <a:xfrm>
            <a:off x="457200" y="3310128"/>
            <a:ext cx="91440" cy="78638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21" name="Layer 3 name"/>
          <p:cNvSpPr/>
          <p:nvPr/>
        </p:nvSpPr>
        <p:spPr>
          <a:xfrm>
            <a:off x="731520" y="3374136"/>
            <a:ext cx="583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services (cFE)</a:t>
            </a:r>
            <a:endParaRPr lang="en-US" sz="1600" dirty="0"/>
          </a:p>
        </p:txBody>
      </p:sp>
      <p:sp>
        <p:nvSpPr>
          <p:cNvPr id="22" name="Layer 3 text"/>
          <p:cNvSpPr/>
          <p:nvPr/>
        </p:nvSpPr>
        <p:spPr>
          <a:xfrm>
            <a:off x="731520" y="3639312"/>
            <a:ext cx="5833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Executive, software bus, events, time and tables: services common to most flight apps</a:t>
            </a:r>
            <a:endParaRPr lang="en-US" sz="1400" dirty="0"/>
          </a:p>
        </p:txBody>
      </p:sp>
      <p:sp>
        <p:nvSpPr>
          <p:cNvPr id="23" name="API bar 2"/>
          <p:cNvSpPr/>
          <p:nvPr/>
        </p:nvSpPr>
        <p:spPr>
          <a:xfrm>
            <a:off x="457200" y="4142232"/>
            <a:ext cx="6217920" cy="256032"/>
          </a:xfrm>
          <a:prstGeom prst="rect">
            <a:avLst/>
          </a:prstGeom>
          <a:solidFill>
            <a:srgbClr val="2F5D8A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API</a:t>
            </a:r>
            <a:endParaRPr lang="en-US" sz="1200" dirty="0"/>
          </a:p>
        </p:txBody>
      </p:sp>
      <p:sp>
        <p:nvSpPr>
          <p:cNvPr id="24" name="Layer 4 fill"/>
          <p:cNvSpPr/>
          <p:nvPr/>
        </p:nvSpPr>
        <p:spPr>
          <a:xfrm>
            <a:off x="457200" y="4443984"/>
            <a:ext cx="3072384" cy="786384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25" name="Layer 4 edge"/>
          <p:cNvSpPr/>
          <p:nvPr/>
        </p:nvSpPr>
        <p:spPr>
          <a:xfrm>
            <a:off x="457200" y="4443984"/>
            <a:ext cx="91440" cy="78638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26" name="Layer 4 name"/>
          <p:cNvSpPr/>
          <p:nvPr/>
        </p:nvSpPr>
        <p:spPr>
          <a:xfrm>
            <a:off x="731520" y="450799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 (OSAL)</a:t>
            </a:r>
            <a:endParaRPr lang="en-US" sz="1600" dirty="0"/>
          </a:p>
        </p:txBody>
      </p:sp>
      <p:sp>
        <p:nvSpPr>
          <p:cNvPr id="27" name="Layer 4 text"/>
          <p:cNvSpPr/>
          <p:nvPr/>
        </p:nvSpPr>
        <p:spPr>
          <a:xfrm>
            <a:off x="731520" y="4773168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API to the framework, whatever the real-time OS</a:t>
            </a:r>
            <a:endParaRPr lang="en-US" sz="1400" dirty="0"/>
          </a:p>
        </p:txBody>
      </p:sp>
      <p:sp>
        <p:nvSpPr>
          <p:cNvPr id="28" name="Layer 5 fill"/>
          <p:cNvSpPr/>
          <p:nvPr/>
        </p:nvSpPr>
        <p:spPr>
          <a:xfrm>
            <a:off x="3602736" y="4443984"/>
            <a:ext cx="3072384" cy="786384"/>
          </a:xfrm>
          <a:prstGeom prst="rect">
            <a:avLst/>
          </a:prstGeom>
          <a:solidFill>
            <a:srgbClr val="FBE4D2"/>
          </a:solidFill>
          <a:ln/>
        </p:spPr>
      </p:sp>
      <p:sp>
        <p:nvSpPr>
          <p:cNvPr id="29" name="Layer 5 edge"/>
          <p:cNvSpPr/>
          <p:nvPr/>
        </p:nvSpPr>
        <p:spPr>
          <a:xfrm>
            <a:off x="3602736" y="4443984"/>
            <a:ext cx="91440" cy="786384"/>
          </a:xfrm>
          <a:prstGeom prst="rect">
            <a:avLst/>
          </a:prstGeom>
          <a:solidFill>
            <a:srgbClr val="B85F1E"/>
          </a:solidFill>
          <a:ln/>
        </p:spPr>
      </p:sp>
      <p:sp>
        <p:nvSpPr>
          <p:cNvPr id="30" name="Layer 5 name"/>
          <p:cNvSpPr/>
          <p:nvPr/>
        </p:nvSpPr>
        <p:spPr>
          <a:xfrm>
            <a:off x="3877056" y="450799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support (PSP)</a:t>
            </a:r>
            <a:endParaRPr lang="en-US" sz="1600" dirty="0"/>
          </a:p>
        </p:txBody>
      </p:sp>
      <p:sp>
        <p:nvSpPr>
          <p:cNvPr id="31" name="Layer 5 text"/>
          <p:cNvSpPr/>
          <p:nvPr/>
        </p:nvSpPr>
        <p:spPr>
          <a:xfrm>
            <a:off x="3877056" y="4773168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API, with platform packages a mission often builds</a:t>
            </a:r>
            <a:endParaRPr lang="en-US" sz="1400" dirty="0"/>
          </a:p>
        </p:txBody>
      </p:sp>
      <p:sp>
        <p:nvSpPr>
          <p:cNvPr id="32" name="Base strip RTOS"/>
          <p:cNvSpPr/>
          <p:nvPr/>
        </p:nvSpPr>
        <p:spPr>
          <a:xfrm>
            <a:off x="457200" y="5276088"/>
            <a:ext cx="2377440" cy="274320"/>
          </a:xfrm>
          <a:prstGeom prst="rect">
            <a:avLst/>
          </a:prstGeom>
          <a:solidFill>
            <a:srgbClr val="E4E7EB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OS (third party)</a:t>
            </a:r>
            <a:endParaRPr lang="en-US" sz="1200" dirty="0"/>
          </a:p>
        </p:txBody>
      </p:sp>
      <p:sp>
        <p:nvSpPr>
          <p:cNvPr id="33" name="Base strip boot"/>
          <p:cNvSpPr/>
          <p:nvPr/>
        </p:nvSpPr>
        <p:spPr>
          <a:xfrm>
            <a:off x="2907792" y="5276088"/>
            <a:ext cx="3767328" cy="274320"/>
          </a:xfrm>
          <a:prstGeom prst="rect">
            <a:avLst/>
          </a:prstGeom>
          <a:solidFill>
            <a:srgbClr val="FBE4D2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support and boot code (mission built)</a:t>
            </a:r>
            <a:endParaRPr lang="en-US" sz="1200" dirty="0"/>
          </a:p>
        </p:txBody>
      </p:sp>
      <p:sp>
        <p:nvSpPr>
          <p:cNvPr id="34" name="Benefits heading"/>
          <p:cNvSpPr/>
          <p:nvPr/>
        </p:nvSpPr>
        <p:spPr>
          <a:xfrm>
            <a:off x="6995160" y="1847088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NASA says the layers give a mission</a:t>
            </a:r>
            <a:endParaRPr lang="en-US" sz="1500" dirty="0"/>
          </a:p>
        </p:txBody>
      </p:sp>
      <p:sp>
        <p:nvSpPr>
          <p:cNvPr id="35" name="Benefit 1 rule"/>
          <p:cNvSpPr/>
          <p:nvPr/>
        </p:nvSpPr>
        <p:spPr>
          <a:xfrm>
            <a:off x="6995160" y="2176272"/>
            <a:ext cx="54864" cy="873252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6" name="Benefit 1 label"/>
          <p:cNvSpPr/>
          <p:nvPr/>
        </p:nvSpPr>
        <p:spPr>
          <a:xfrm>
            <a:off x="7196328" y="2176272"/>
            <a:ext cx="4535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components</a:t>
            </a:r>
            <a:endParaRPr lang="en-US" sz="1600" dirty="0"/>
          </a:p>
        </p:txBody>
      </p:sp>
      <p:sp>
        <p:nvSpPr>
          <p:cNvPr id="37" name="Benefit 1 quote"/>
          <p:cNvSpPr/>
          <p:nvPr/>
        </p:nvSpPr>
        <p:spPr>
          <a:xfrm>
            <a:off x="7196328" y="2441448"/>
            <a:ext cx="4535424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“Reuse of tested, certified components supplies savings in each phase of the software development cycle.”</a:t>
            </a:r>
            <a:endParaRPr lang="en-US" sz="1400" dirty="0"/>
          </a:p>
        </p:txBody>
      </p:sp>
      <p:sp>
        <p:nvSpPr>
          <p:cNvPr id="38" name="Benefit 1 cite"/>
          <p:cNvSpPr/>
          <p:nvPr/>
        </p:nvSpPr>
        <p:spPr>
          <a:xfrm>
            <a:off x="7196328" y="2894076"/>
            <a:ext cx="4535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Feature: 2015 deck, p8. Quote: 2021 training memo, p41.</a:t>
            </a:r>
            <a:endParaRPr lang="en-US" sz="1000" dirty="0"/>
          </a:p>
        </p:txBody>
      </p:sp>
      <p:sp>
        <p:nvSpPr>
          <p:cNvPr id="39" name="Benefit 2 rule"/>
          <p:cNvSpPr/>
          <p:nvPr/>
        </p:nvSpPr>
        <p:spPr>
          <a:xfrm>
            <a:off x="6995160" y="3322701"/>
            <a:ext cx="54864" cy="1081278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40" name="Benefit 2 label"/>
          <p:cNvSpPr/>
          <p:nvPr/>
        </p:nvSpPr>
        <p:spPr>
          <a:xfrm>
            <a:off x="7196328" y="3322701"/>
            <a:ext cx="4535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independent</a:t>
            </a:r>
            <a:endParaRPr lang="en-US" sz="1600" dirty="0"/>
          </a:p>
        </p:txBody>
      </p:sp>
      <p:sp>
        <p:nvSpPr>
          <p:cNvPr id="41" name="Benefit 2 quote"/>
          <p:cNvSpPr/>
          <p:nvPr/>
        </p:nvSpPr>
        <p:spPr>
          <a:xfrm>
            <a:off x="7196328" y="3587877"/>
            <a:ext cx="4535424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“Layered architecture and compile-time configuration parameters make it scalable and portable to a wide range of platforms”</a:t>
            </a:r>
            <a:endParaRPr lang="en-US" sz="1400" dirty="0"/>
          </a:p>
        </p:txBody>
      </p:sp>
      <p:sp>
        <p:nvSpPr>
          <p:cNvPr id="42" name="Benefit 2 cite"/>
          <p:cNvSpPr/>
          <p:nvPr/>
        </p:nvSpPr>
        <p:spPr>
          <a:xfrm>
            <a:off x="7196328" y="4248531"/>
            <a:ext cx="4535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Feature: 2015 deck, p8. Quote: 2015 deck, p2.</a:t>
            </a:r>
            <a:endParaRPr lang="en-US" sz="1000" dirty="0"/>
          </a:p>
        </p:txBody>
      </p:sp>
      <p:sp>
        <p:nvSpPr>
          <p:cNvPr id="43" name="Benefit 3 rule"/>
          <p:cNvSpPr/>
          <p:nvPr/>
        </p:nvSpPr>
        <p:spPr>
          <a:xfrm>
            <a:off x="6995160" y="4677156"/>
            <a:ext cx="54864" cy="873252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44" name="Benefit 3 label"/>
          <p:cNvSpPr/>
          <p:nvPr/>
        </p:nvSpPr>
        <p:spPr>
          <a:xfrm>
            <a:off x="7196328" y="4677156"/>
            <a:ext cx="4535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technology without framework changes</a:t>
            </a:r>
            <a:endParaRPr lang="en-US" sz="1600" dirty="0"/>
          </a:p>
        </p:txBody>
      </p:sp>
      <p:sp>
        <p:nvSpPr>
          <p:cNvPr id="45" name="Benefit 3 quote"/>
          <p:cNvSpPr/>
          <p:nvPr/>
        </p:nvSpPr>
        <p:spPr>
          <a:xfrm>
            <a:off x="7196328" y="4942332"/>
            <a:ext cx="4535424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“Internals of a layer can be changed -- without affecting other layers’ internals and components.”</a:t>
            </a:r>
            <a:endParaRPr lang="en-US" sz="1400" dirty="0"/>
          </a:p>
        </p:txBody>
      </p:sp>
      <p:sp>
        <p:nvSpPr>
          <p:cNvPr id="46" name="Benefit 3 cite"/>
          <p:cNvSpPr/>
          <p:nvPr/>
        </p:nvSpPr>
        <p:spPr>
          <a:xfrm>
            <a:off x="7196328" y="5394960"/>
            <a:ext cx="4535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Feature: 2015 deck, p8. Quote: 2023 overview, slide 8.</a:t>
            </a:r>
            <a:endParaRPr lang="en-US" sz="1000" dirty="0"/>
          </a:p>
        </p:txBody>
      </p:sp>
      <p:sp>
        <p:nvSpPr>
          <p:cNvPr id="47" name="Sources"/>
          <p:cNvSpPr/>
          <p:nvPr/>
        </p:nvSpPr>
        <p:spPr>
          <a:xfrm>
            <a:off x="457200" y="5687568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2015 deck: McComas et al., NASA Goddard, Aug. 2015, NTRS 20150018075. 2023 overview: Baker, NASA Goddard, 2023, NTRS 20230002444. 2021 memo: NASA/TM-20205000691/REV 1, NTRS 20205011588, printed pages. Title: 2023 overview slide 8 and memo p41. Layers: memo pp. 23 to 26 and 45. Colors: 2015 legend (p8) and its note on center PSPs (p23).</a:t>
            </a:r>
            <a:endParaRPr lang="en-US" sz="1000" dirty="0"/>
          </a:p>
        </p:txBody>
      </p:sp>
      <p:sp>
        <p:nvSpPr>
          <p:cNvPr id="48" name="Footer"/>
          <p:cNvSpPr/>
          <p:nvPr/>
        </p:nvSpPr>
        <p:spPr>
          <a:xfrm>
            <a:off x="457200" y="6144768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reconstruction of a public NASA slide. Not a NASA document.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pptxgenjs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Portfolio project, not affiliated with NASA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cFS layers: executive slide</dc:title>
  <dc:subject>Built with Claude Code agents from public NASA documents</dc:subject>
  <dc:creator>Logan Ankenbrandt</dc:creator>
  <cp:lastModifiedBy>pptxgenjs, run by Claude Code agents</cp:lastModifiedBy>
  <cp:revision>1</cp:revision>
  <dcterms:created xsi:type="dcterms:W3CDTF">2026-10-08T15:34:39Z</dcterms:created>
  <dcterms:modified xsi:type="dcterms:W3CDTF">2026-10-08T15:34:39Z</dcterms:modified>
</cp:coreProperties>
</file>