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457200" y="45720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NASA’s core Flight System (cFS) architecture</a:t>
            </a:r>
            <a:endParaRPr lang="en-US" sz="1300" dirty="0"/>
          </a:p>
        </p:txBody>
      </p:sp>
      <p:sp>
        <p:nvSpPr>
          <p:cNvPr id="3" name="Title"/>
          <p:cNvSpPr/>
          <p:nvPr/>
        </p:nvSpPr>
        <p:spPr>
          <a:xfrm>
            <a:off x="457200" y="731520"/>
            <a:ext cx="11274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hides its implementation behind a standard API, so a mission reuses the framework and focuses on custom parts</a:t>
            </a:r>
            <a:endParaRPr lang="en-US" sz="3000" dirty="0"/>
          </a:p>
        </p:txBody>
      </p:sp>
      <p:sp>
        <p:nvSpPr>
          <p:cNvPr id="4" name="Legend swatch 1"/>
          <p:cNvSpPr/>
          <p:nvPr/>
        </p:nvSpPr>
        <p:spPr>
          <a:xfrm>
            <a:off x="457200" y="1901952"/>
            <a:ext cx="274320" cy="155448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" name="Legend 1"/>
          <p:cNvSpPr/>
          <p:nvPr/>
        </p:nvSpPr>
        <p:spPr>
          <a:xfrm>
            <a:off x="804672" y="1865376"/>
            <a:ext cx="18857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Reused, NASA maintained</a:t>
            </a:r>
            <a:endParaRPr lang="en-US" sz="1200" dirty="0"/>
          </a:p>
        </p:txBody>
      </p:sp>
      <p:sp>
        <p:nvSpPr>
          <p:cNvPr id="6" name="Legend swatch 2"/>
          <p:cNvSpPr/>
          <p:nvPr/>
        </p:nvSpPr>
        <p:spPr>
          <a:xfrm>
            <a:off x="2964790" y="1901952"/>
            <a:ext cx="274320" cy="155448"/>
          </a:xfrm>
          <a:prstGeom prst="rect">
            <a:avLst/>
          </a:prstGeom>
          <a:solidFill>
            <a:srgbClr val="FBE4D2"/>
          </a:solidFill>
          <a:ln w="12700">
            <a:solidFill>
              <a:srgbClr val="B85F1E"/>
            </a:solidFill>
            <a:prstDash val="solid"/>
          </a:ln>
        </p:spPr>
      </p:sp>
      <p:sp>
        <p:nvSpPr>
          <p:cNvPr id="7" name="Legend 2"/>
          <p:cNvSpPr/>
          <p:nvPr/>
        </p:nvSpPr>
        <p:spPr>
          <a:xfrm>
            <a:off x="3312262" y="1865376"/>
            <a:ext cx="1385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the mission</a:t>
            </a:r>
            <a:endParaRPr lang="en-US" sz="1200" dirty="0"/>
          </a:p>
        </p:txBody>
      </p:sp>
      <p:sp>
        <p:nvSpPr>
          <p:cNvPr id="8" name="Legend swatch 3"/>
          <p:cNvSpPr/>
          <p:nvPr/>
        </p:nvSpPr>
        <p:spPr>
          <a:xfrm>
            <a:off x="4972507" y="1901952"/>
            <a:ext cx="274320" cy="155448"/>
          </a:xfrm>
          <a:prstGeom prst="rect">
            <a:avLst/>
          </a:prstGeom>
          <a:solidFill>
            <a:srgbClr val="E4E7EB"/>
          </a:solidFill>
          <a:ln w="12700">
            <a:solidFill>
              <a:srgbClr val="7C8591"/>
            </a:solidFill>
            <a:prstDash val="solid"/>
          </a:ln>
        </p:spPr>
      </p:sp>
      <p:sp>
        <p:nvSpPr>
          <p:cNvPr id="9" name="Legend 3"/>
          <p:cNvSpPr/>
          <p:nvPr/>
        </p:nvSpPr>
        <p:spPr>
          <a:xfrm>
            <a:off x="5319979" y="1865376"/>
            <a:ext cx="801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party</a:t>
            </a:r>
            <a:endParaRPr lang="en-US" sz="1200" dirty="0"/>
          </a:p>
        </p:txBody>
      </p:sp>
      <p:sp>
        <p:nvSpPr>
          <p:cNvPr id="10" name="Layer 1 fill"/>
          <p:cNvSpPr/>
          <p:nvPr/>
        </p:nvSpPr>
        <p:spPr>
          <a:xfrm>
            <a:off x="457200" y="2176272"/>
            <a:ext cx="3072384" cy="786384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11" name="Layer 1 edge"/>
          <p:cNvSpPr/>
          <p:nvPr/>
        </p:nvSpPr>
        <p:spPr>
          <a:xfrm>
            <a:off x="457200" y="2176272"/>
            <a:ext cx="91440" cy="78638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12" name="Layer 1 name"/>
          <p:cNvSpPr/>
          <p:nvPr/>
        </p:nvSpPr>
        <p:spPr>
          <a:xfrm>
            <a:off x="731520" y="22402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apps</a:t>
            </a:r>
            <a:endParaRPr lang="en-US" sz="1600" dirty="0"/>
          </a:p>
        </p:txBody>
      </p:sp>
      <p:sp>
        <p:nvSpPr>
          <p:cNvPr id="13" name="Layer 1 text"/>
          <p:cNvSpPr/>
          <p:nvPr/>
        </p:nvSpPr>
        <p:spPr>
          <a:xfrm>
            <a:off x="731520" y="250545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cFS apps, open source and NASA maintained</a:t>
            </a:r>
            <a:endParaRPr lang="en-US" sz="1400" dirty="0"/>
          </a:p>
        </p:txBody>
      </p:sp>
      <p:sp>
        <p:nvSpPr>
          <p:cNvPr id="14" name="Layer 2 fill"/>
          <p:cNvSpPr/>
          <p:nvPr/>
        </p:nvSpPr>
        <p:spPr>
          <a:xfrm>
            <a:off x="3602736" y="2176272"/>
            <a:ext cx="3072384" cy="786384"/>
          </a:xfrm>
          <a:prstGeom prst="rect">
            <a:avLst/>
          </a:prstGeom>
          <a:solidFill>
            <a:srgbClr val="FBE4D2"/>
          </a:solidFill>
          <a:ln/>
        </p:spPr>
      </p:sp>
      <p:sp>
        <p:nvSpPr>
          <p:cNvPr id="15" name="Layer 2 edge"/>
          <p:cNvSpPr/>
          <p:nvPr/>
        </p:nvSpPr>
        <p:spPr>
          <a:xfrm>
            <a:off x="3602736" y="2176272"/>
            <a:ext cx="91440" cy="786384"/>
          </a:xfrm>
          <a:prstGeom prst="rect">
            <a:avLst/>
          </a:prstGeom>
          <a:solidFill>
            <a:srgbClr val="B85F1E"/>
          </a:solidFill>
          <a:ln/>
        </p:spPr>
      </p:sp>
      <p:sp>
        <p:nvSpPr>
          <p:cNvPr id="16" name="Layer 2 name"/>
          <p:cNvSpPr/>
          <p:nvPr/>
        </p:nvSpPr>
        <p:spPr>
          <a:xfrm>
            <a:off x="3877056" y="22402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apps</a:t>
            </a:r>
            <a:endParaRPr lang="en-US" sz="1600" dirty="0"/>
          </a:p>
        </p:txBody>
      </p:sp>
      <p:sp>
        <p:nvSpPr>
          <p:cNvPr id="17" name="Layer 2 text"/>
          <p:cNvSpPr/>
          <p:nvPr/>
        </p:nvSpPr>
        <p:spPr>
          <a:xfrm>
            <a:off x="3877056" y="250545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Mission-specific apps, built by the mission team</a:t>
            </a:r>
            <a:endParaRPr lang="en-US" sz="1400" dirty="0"/>
          </a:p>
        </p:txBody>
      </p:sp>
      <p:sp>
        <p:nvSpPr>
          <p:cNvPr id="18" name="API bar 1"/>
          <p:cNvSpPr/>
          <p:nvPr/>
        </p:nvSpPr>
        <p:spPr>
          <a:xfrm>
            <a:off x="457200" y="3008376"/>
            <a:ext cx="6217920" cy="256032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API</a:t>
            </a:r>
            <a:endParaRPr lang="en-US" sz="1200" dirty="0"/>
          </a:p>
        </p:txBody>
      </p:sp>
      <p:sp>
        <p:nvSpPr>
          <p:cNvPr id="19" name="Layer 3 fill"/>
          <p:cNvSpPr/>
          <p:nvPr/>
        </p:nvSpPr>
        <p:spPr>
          <a:xfrm>
            <a:off x="457200" y="3310128"/>
            <a:ext cx="6217920" cy="786384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20" name="Layer 3 edge"/>
          <p:cNvSpPr/>
          <p:nvPr/>
        </p:nvSpPr>
        <p:spPr>
          <a:xfrm>
            <a:off x="457200" y="3310128"/>
            <a:ext cx="91440" cy="78638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21" name="Layer 3 name"/>
          <p:cNvSpPr/>
          <p:nvPr/>
        </p:nvSpPr>
        <p:spPr>
          <a:xfrm>
            <a:off x="731520" y="3374136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services (cFE)</a:t>
            </a:r>
            <a:endParaRPr lang="en-US" sz="1600" dirty="0"/>
          </a:p>
        </p:txBody>
      </p:sp>
      <p:sp>
        <p:nvSpPr>
          <p:cNvPr id="22" name="Layer 3 text"/>
          <p:cNvSpPr/>
          <p:nvPr/>
        </p:nvSpPr>
        <p:spPr>
          <a:xfrm>
            <a:off x="731520" y="3639312"/>
            <a:ext cx="5833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Executive, software bus, events, time and tables: services common to most flight apps</a:t>
            </a:r>
            <a:endParaRPr lang="en-US" sz="1400" dirty="0"/>
          </a:p>
        </p:txBody>
      </p:sp>
      <p:sp>
        <p:nvSpPr>
          <p:cNvPr id="23" name="API bar 2"/>
          <p:cNvSpPr/>
          <p:nvPr/>
        </p:nvSpPr>
        <p:spPr>
          <a:xfrm>
            <a:off x="457200" y="4142232"/>
            <a:ext cx="6217920" cy="256032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API</a:t>
            </a:r>
            <a:endParaRPr lang="en-US" sz="1200" dirty="0"/>
          </a:p>
        </p:txBody>
      </p:sp>
      <p:sp>
        <p:nvSpPr>
          <p:cNvPr id="24" name="Layer 4 fill"/>
          <p:cNvSpPr/>
          <p:nvPr/>
        </p:nvSpPr>
        <p:spPr>
          <a:xfrm>
            <a:off x="457200" y="4443984"/>
            <a:ext cx="3072384" cy="786384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25" name="Layer 4 edge"/>
          <p:cNvSpPr/>
          <p:nvPr/>
        </p:nvSpPr>
        <p:spPr>
          <a:xfrm>
            <a:off x="457200" y="4443984"/>
            <a:ext cx="91440" cy="78638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26" name="Layer 4 name"/>
          <p:cNvSpPr/>
          <p:nvPr/>
        </p:nvSpPr>
        <p:spPr>
          <a:xfrm>
            <a:off x="731520" y="450799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(OSAL)</a:t>
            </a:r>
            <a:endParaRPr lang="en-US" sz="1600" dirty="0"/>
          </a:p>
        </p:txBody>
      </p:sp>
      <p:sp>
        <p:nvSpPr>
          <p:cNvPr id="27" name="Layer 4 text"/>
          <p:cNvSpPr/>
          <p:nvPr/>
        </p:nvSpPr>
        <p:spPr>
          <a:xfrm>
            <a:off x="731520" y="477316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 to the framework, whatever the real-time OS</a:t>
            </a:r>
            <a:endParaRPr lang="en-US" sz="1400" dirty="0"/>
          </a:p>
        </p:txBody>
      </p:sp>
      <p:sp>
        <p:nvSpPr>
          <p:cNvPr id="28" name="Layer 5 fill"/>
          <p:cNvSpPr/>
          <p:nvPr/>
        </p:nvSpPr>
        <p:spPr>
          <a:xfrm>
            <a:off x="3602736" y="4443984"/>
            <a:ext cx="3072384" cy="786384"/>
          </a:xfrm>
          <a:prstGeom prst="rect">
            <a:avLst/>
          </a:prstGeom>
          <a:solidFill>
            <a:srgbClr val="FBE4D2"/>
          </a:solidFill>
          <a:ln/>
        </p:spPr>
      </p:sp>
      <p:sp>
        <p:nvSpPr>
          <p:cNvPr id="29" name="Layer 5 edge"/>
          <p:cNvSpPr/>
          <p:nvPr/>
        </p:nvSpPr>
        <p:spPr>
          <a:xfrm>
            <a:off x="3602736" y="4443984"/>
            <a:ext cx="91440" cy="786384"/>
          </a:xfrm>
          <a:prstGeom prst="rect">
            <a:avLst/>
          </a:prstGeom>
          <a:solidFill>
            <a:srgbClr val="B85F1E"/>
          </a:solidFill>
          <a:ln/>
        </p:spPr>
      </p:sp>
      <p:sp>
        <p:nvSpPr>
          <p:cNvPr id="30" name="Layer 5 name"/>
          <p:cNvSpPr/>
          <p:nvPr/>
        </p:nvSpPr>
        <p:spPr>
          <a:xfrm>
            <a:off x="3877056" y="450799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support (PSP)</a:t>
            </a:r>
            <a:endParaRPr lang="en-US" sz="1600" dirty="0"/>
          </a:p>
        </p:txBody>
      </p:sp>
      <p:sp>
        <p:nvSpPr>
          <p:cNvPr id="31" name="Layer 5 text"/>
          <p:cNvSpPr/>
          <p:nvPr/>
        </p:nvSpPr>
        <p:spPr>
          <a:xfrm>
            <a:off x="3877056" y="477316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API, with platform packages a mission often builds</a:t>
            </a:r>
            <a:endParaRPr lang="en-US" sz="1400" dirty="0"/>
          </a:p>
        </p:txBody>
      </p:sp>
      <p:sp>
        <p:nvSpPr>
          <p:cNvPr id="32" name="Base strip RTOS"/>
          <p:cNvSpPr/>
          <p:nvPr/>
        </p:nvSpPr>
        <p:spPr>
          <a:xfrm>
            <a:off x="457200" y="5276088"/>
            <a:ext cx="2377440" cy="274320"/>
          </a:xfrm>
          <a:prstGeom prst="rect">
            <a:avLst/>
          </a:prstGeom>
          <a:solidFill>
            <a:srgbClr val="E4E7EB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OS (third party)</a:t>
            </a:r>
            <a:endParaRPr lang="en-US" sz="1200" dirty="0"/>
          </a:p>
        </p:txBody>
      </p:sp>
      <p:sp>
        <p:nvSpPr>
          <p:cNvPr id="33" name="Base strip boot"/>
          <p:cNvSpPr/>
          <p:nvPr/>
        </p:nvSpPr>
        <p:spPr>
          <a:xfrm>
            <a:off x="2907792" y="5276088"/>
            <a:ext cx="3767328" cy="274320"/>
          </a:xfrm>
          <a:prstGeom prst="rect">
            <a:avLst/>
          </a:prstGeom>
          <a:solidFill>
            <a:srgbClr val="FBE4D2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support and boot code (mission built)</a:t>
            </a:r>
            <a:endParaRPr lang="en-US" sz="1200" dirty="0"/>
          </a:p>
        </p:txBody>
      </p:sp>
      <p:sp>
        <p:nvSpPr>
          <p:cNvPr id="34" name="Benefits heading"/>
          <p:cNvSpPr/>
          <p:nvPr/>
        </p:nvSpPr>
        <p:spPr>
          <a:xfrm>
            <a:off x="6995160" y="184708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NASA says the layers give a mission</a:t>
            </a:r>
            <a:endParaRPr lang="en-US" sz="1500" dirty="0"/>
          </a:p>
        </p:txBody>
      </p:sp>
      <p:sp>
        <p:nvSpPr>
          <p:cNvPr id="35" name="Benefit 1 rule"/>
          <p:cNvSpPr/>
          <p:nvPr/>
        </p:nvSpPr>
        <p:spPr>
          <a:xfrm>
            <a:off x="6995160" y="2176272"/>
            <a:ext cx="54864" cy="873252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6" name="Benefit 1 label"/>
          <p:cNvSpPr/>
          <p:nvPr/>
        </p:nvSpPr>
        <p:spPr>
          <a:xfrm>
            <a:off x="7196328" y="2176272"/>
            <a:ext cx="4535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components</a:t>
            </a:r>
            <a:endParaRPr lang="en-US" sz="1600" dirty="0"/>
          </a:p>
        </p:txBody>
      </p:sp>
      <p:sp>
        <p:nvSpPr>
          <p:cNvPr id="37" name="Benefit 1 quote"/>
          <p:cNvSpPr/>
          <p:nvPr/>
        </p:nvSpPr>
        <p:spPr>
          <a:xfrm>
            <a:off x="7196328" y="2441448"/>
            <a:ext cx="453542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“Reuse of tested, certified components supplies savings in each phase of the software development cycle.”</a:t>
            </a:r>
            <a:endParaRPr lang="en-US" sz="1400" dirty="0"/>
          </a:p>
        </p:txBody>
      </p:sp>
      <p:sp>
        <p:nvSpPr>
          <p:cNvPr id="38" name="Benefit 1 cite"/>
          <p:cNvSpPr/>
          <p:nvPr/>
        </p:nvSpPr>
        <p:spPr>
          <a:xfrm>
            <a:off x="7196328" y="2894076"/>
            <a:ext cx="4535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2015 deck, p8. Quote: 2021 training memo, p41.</a:t>
            </a:r>
            <a:endParaRPr lang="en-US" sz="1000" dirty="0"/>
          </a:p>
        </p:txBody>
      </p:sp>
      <p:sp>
        <p:nvSpPr>
          <p:cNvPr id="39" name="Benefit 2 rule"/>
          <p:cNvSpPr/>
          <p:nvPr/>
        </p:nvSpPr>
        <p:spPr>
          <a:xfrm>
            <a:off x="6995160" y="3322701"/>
            <a:ext cx="54864" cy="1081278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40" name="Benefit 2 label"/>
          <p:cNvSpPr/>
          <p:nvPr/>
        </p:nvSpPr>
        <p:spPr>
          <a:xfrm>
            <a:off x="7196328" y="3322701"/>
            <a:ext cx="4535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independent</a:t>
            </a:r>
            <a:endParaRPr lang="en-US" sz="1600" dirty="0"/>
          </a:p>
        </p:txBody>
      </p:sp>
      <p:sp>
        <p:nvSpPr>
          <p:cNvPr id="41" name="Benefit 2 quote"/>
          <p:cNvSpPr/>
          <p:nvPr/>
        </p:nvSpPr>
        <p:spPr>
          <a:xfrm>
            <a:off x="7196328" y="3587877"/>
            <a:ext cx="4535424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“Layered architecture and compile-time configuration parameters make it scalable and portable to a wide range of platforms”</a:t>
            </a:r>
            <a:endParaRPr lang="en-US" sz="1400" dirty="0"/>
          </a:p>
        </p:txBody>
      </p:sp>
      <p:sp>
        <p:nvSpPr>
          <p:cNvPr id="42" name="Benefit 2 cite"/>
          <p:cNvSpPr/>
          <p:nvPr/>
        </p:nvSpPr>
        <p:spPr>
          <a:xfrm>
            <a:off x="7196328" y="4248531"/>
            <a:ext cx="4535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2015 deck, p8. Quote: 2015 deck, p2.</a:t>
            </a:r>
            <a:endParaRPr lang="en-US" sz="1000" dirty="0"/>
          </a:p>
        </p:txBody>
      </p:sp>
      <p:sp>
        <p:nvSpPr>
          <p:cNvPr id="43" name="Benefit 3 rule"/>
          <p:cNvSpPr/>
          <p:nvPr/>
        </p:nvSpPr>
        <p:spPr>
          <a:xfrm>
            <a:off x="6995160" y="4677156"/>
            <a:ext cx="54864" cy="873252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44" name="Benefit 3 label"/>
          <p:cNvSpPr/>
          <p:nvPr/>
        </p:nvSpPr>
        <p:spPr>
          <a:xfrm>
            <a:off x="7196328" y="4677156"/>
            <a:ext cx="4535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technology without framework changes</a:t>
            </a:r>
            <a:endParaRPr lang="en-US" sz="1600" dirty="0"/>
          </a:p>
        </p:txBody>
      </p:sp>
      <p:sp>
        <p:nvSpPr>
          <p:cNvPr id="45" name="Benefit 3 quote"/>
          <p:cNvSpPr/>
          <p:nvPr/>
        </p:nvSpPr>
        <p:spPr>
          <a:xfrm>
            <a:off x="7196328" y="4942332"/>
            <a:ext cx="453542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“Internals of a layer can be changed -- without affecting other layers’ internals and components.”</a:t>
            </a:r>
            <a:endParaRPr lang="en-US" sz="1400" dirty="0"/>
          </a:p>
        </p:txBody>
      </p:sp>
      <p:sp>
        <p:nvSpPr>
          <p:cNvPr id="46" name="Benefit 3 cite"/>
          <p:cNvSpPr/>
          <p:nvPr/>
        </p:nvSpPr>
        <p:spPr>
          <a:xfrm>
            <a:off x="7196328" y="5394960"/>
            <a:ext cx="4535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 2015 deck, p8. Quote: 2023 overview, slide 8.</a:t>
            </a:r>
            <a:endParaRPr lang="en-US" sz="1000" dirty="0"/>
          </a:p>
        </p:txBody>
      </p:sp>
      <p:sp>
        <p:nvSpPr>
          <p:cNvPr id="47" name="Sources"/>
          <p:cNvSpPr/>
          <p:nvPr/>
        </p:nvSpPr>
        <p:spPr>
          <a:xfrm>
            <a:off x="457200" y="5687568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2015 deck: McComas et al., NASA Goddard, Aug. 2015, NTRS 20150018075. 2023 overview: Baker, NASA Goddard, 2023, NTRS 20230002444. 2021 memo: NASA/TM-20205000691/REV 1, NTRS 20205011588, printed pages. Title: 2023 overview slide 8 and memo p41. Layers: memo pp. 23 to 26 and 45. Colors: 2015 legend (p8) and its note on center PSPs (p23).</a:t>
            </a:r>
            <a:endParaRPr lang="en-US" sz="1000" dirty="0"/>
          </a:p>
        </p:txBody>
      </p:sp>
      <p:sp>
        <p:nvSpPr>
          <p:cNvPr id="48" name="Footer"/>
          <p:cNvSpPr/>
          <p:nvPr/>
        </p:nvSpPr>
        <p:spPr>
          <a:xfrm>
            <a:off x="457200" y="61447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reconstruction of a public NASA slide.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457200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OSAL and PSP hide the real-time OS and the board, so the cFE and the apps above it stay platform independent</a:t>
            </a:r>
            <a:endParaRPr lang="en-US" sz="2800" dirty="0"/>
          </a:p>
        </p:txBody>
      </p:sp>
      <p:sp>
        <p:nvSpPr>
          <p:cNvPr id="3" name="Layer name A"/>
          <p:cNvSpPr/>
          <p:nvPr/>
        </p:nvSpPr>
        <p:spPr>
          <a:xfrm>
            <a:off x="457200" y="148132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4" name="Layer name B"/>
          <p:cNvSpPr/>
          <p:nvPr/>
        </p:nvSpPr>
        <p:spPr>
          <a:xfrm>
            <a:off x="457200" y="234086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layer</a:t>
            </a:r>
            <a:endParaRPr lang="en-US" sz="1100" dirty="0"/>
          </a:p>
        </p:txBody>
      </p:sp>
      <p:sp>
        <p:nvSpPr>
          <p:cNvPr id="5" name="Layer name C"/>
          <p:cNvSpPr/>
          <p:nvPr/>
        </p:nvSpPr>
        <p:spPr>
          <a:xfrm>
            <a:off x="457200" y="2907792"/>
            <a:ext cx="1005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core layer</a:t>
            </a:r>
            <a:endParaRPr lang="en-US" sz="1100" dirty="0"/>
          </a:p>
        </p:txBody>
      </p:sp>
      <p:sp>
        <p:nvSpPr>
          <p:cNvPr id="6" name="Layer name D"/>
          <p:cNvSpPr/>
          <p:nvPr/>
        </p:nvSpPr>
        <p:spPr>
          <a:xfrm>
            <a:off x="457200" y="4041648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library layer</a:t>
            </a:r>
            <a:endParaRPr lang="en-US" sz="1100" dirty="0"/>
          </a:p>
        </p:txBody>
      </p:sp>
      <p:sp>
        <p:nvSpPr>
          <p:cNvPr id="7" name="Layer name E"/>
          <p:cNvSpPr/>
          <p:nvPr/>
        </p:nvSpPr>
        <p:spPr>
          <a:xfrm>
            <a:off x="457200" y="50109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RTOS and boot layer</a:t>
            </a:r>
            <a:endParaRPr lang="en-US" sz="1100" dirty="0"/>
          </a:p>
        </p:txBody>
      </p:sp>
      <p:sp>
        <p:nvSpPr>
          <p:cNvPr id="8" name="Layer rule B"/>
          <p:cNvSpPr/>
          <p:nvPr/>
        </p:nvSpPr>
        <p:spPr>
          <a:xfrm>
            <a:off x="457200" y="2304288"/>
            <a:ext cx="7223760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dash"/>
          </a:ln>
        </p:spPr>
      </p:sp>
      <p:sp>
        <p:nvSpPr>
          <p:cNvPr id="9" name="Layer rule C"/>
          <p:cNvSpPr/>
          <p:nvPr/>
        </p:nvSpPr>
        <p:spPr>
          <a:xfrm>
            <a:off x="457200" y="2871216"/>
            <a:ext cx="7223760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dash"/>
          </a:ln>
        </p:spPr>
      </p:sp>
      <p:sp>
        <p:nvSpPr>
          <p:cNvPr id="10" name="Layer rule D"/>
          <p:cNvSpPr/>
          <p:nvPr/>
        </p:nvSpPr>
        <p:spPr>
          <a:xfrm>
            <a:off x="457200" y="4005072"/>
            <a:ext cx="7223760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dash"/>
          </a:ln>
        </p:spPr>
      </p:sp>
      <p:sp>
        <p:nvSpPr>
          <p:cNvPr id="11" name="Layer rule E"/>
          <p:cNvSpPr/>
          <p:nvPr/>
        </p:nvSpPr>
        <p:spPr>
          <a:xfrm>
            <a:off x="457200" y="4974336"/>
            <a:ext cx="7223760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dash"/>
          </a:ln>
        </p:spPr>
      </p:sp>
      <p:sp>
        <p:nvSpPr>
          <p:cNvPr id="12" name="cFE Apps stack back"/>
          <p:cNvSpPr/>
          <p:nvPr/>
        </p:nvSpPr>
        <p:spPr>
          <a:xfrm>
            <a:off x="1664208" y="1536192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3" name="cFE Apps stack middle"/>
          <p:cNvSpPr/>
          <p:nvPr/>
        </p:nvSpPr>
        <p:spPr>
          <a:xfrm>
            <a:off x="1618488" y="1563624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4" name="cFE Apps (x5)"/>
          <p:cNvSpPr/>
          <p:nvPr/>
        </p:nvSpPr>
        <p:spPr>
          <a:xfrm>
            <a:off x="1572768" y="1591056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Apps (x5)</a:t>
            </a:r>
            <a:endParaRPr lang="en-US" sz="1100" dirty="0"/>
          </a:p>
        </p:txBody>
      </p:sp>
      <p:sp>
        <p:nvSpPr>
          <p:cNvPr id="15" name="Software Bus Network"/>
          <p:cNvSpPr/>
          <p:nvPr/>
        </p:nvSpPr>
        <p:spPr>
          <a:xfrm>
            <a:off x="2414016" y="1591056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2F5D8A"/>
            </a:solidFill>
            <a:prstDash val="dash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Bus Network</a:t>
            </a:r>
            <a:endParaRPr lang="en-US" sz="1100" dirty="0"/>
          </a:p>
        </p:txBody>
      </p:sp>
      <p:sp>
        <p:nvSpPr>
          <p:cNvPr id="16" name="cFS App 1"/>
          <p:cNvSpPr/>
          <p:nvPr/>
        </p:nvSpPr>
        <p:spPr>
          <a:xfrm>
            <a:off x="3273552" y="1591056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App 1</a:t>
            </a:r>
            <a:endParaRPr lang="en-US" sz="1100" dirty="0"/>
          </a:p>
        </p:txBody>
      </p:sp>
      <p:sp>
        <p:nvSpPr>
          <p:cNvPr id="17" name="More cFS apps"/>
          <p:cNvSpPr/>
          <p:nvPr/>
        </p:nvSpPr>
        <p:spPr>
          <a:xfrm>
            <a:off x="3950208" y="1591056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1200" dirty="0"/>
          </a:p>
        </p:txBody>
      </p:sp>
      <p:sp>
        <p:nvSpPr>
          <p:cNvPr id="18" name="cFS App n(13)"/>
          <p:cNvSpPr/>
          <p:nvPr/>
        </p:nvSpPr>
        <p:spPr>
          <a:xfrm>
            <a:off x="4297680" y="1591056"/>
            <a:ext cx="640080" cy="566928"/>
          </a:xfrm>
          <a:prstGeom prst="roundRect">
            <a:avLst>
              <a:gd name="adj" fmla="val 12903"/>
            </a:avLst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App n(13)</a:t>
            </a:r>
            <a:endParaRPr lang="en-US" sz="1100" dirty="0"/>
          </a:p>
        </p:txBody>
      </p:sp>
      <p:sp>
        <p:nvSpPr>
          <p:cNvPr id="19" name="Mission App 1"/>
          <p:cNvSpPr/>
          <p:nvPr/>
        </p:nvSpPr>
        <p:spPr>
          <a:xfrm>
            <a:off x="5047488" y="1591056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App 1</a:t>
            </a:r>
            <a:endParaRPr lang="en-US" sz="1100" dirty="0"/>
          </a:p>
        </p:txBody>
      </p:sp>
      <p:sp>
        <p:nvSpPr>
          <p:cNvPr id="20" name="Mission App 2"/>
          <p:cNvSpPr/>
          <p:nvPr/>
        </p:nvSpPr>
        <p:spPr>
          <a:xfrm>
            <a:off x="5852160" y="1591056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App 2</a:t>
            </a:r>
            <a:endParaRPr lang="en-US" sz="1100" dirty="0"/>
          </a:p>
        </p:txBody>
      </p:sp>
      <p:sp>
        <p:nvSpPr>
          <p:cNvPr id="21" name="Mission App N"/>
          <p:cNvSpPr/>
          <p:nvPr/>
        </p:nvSpPr>
        <p:spPr>
          <a:xfrm>
            <a:off x="6656832" y="1591056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App N</a:t>
            </a:r>
            <a:endParaRPr lang="en-US" sz="1100" dirty="0"/>
          </a:p>
        </p:txBody>
      </p:sp>
      <p:sp>
        <p:nvSpPr>
          <p:cNvPr id="22" name="cFS Library"/>
          <p:cNvSpPr/>
          <p:nvPr/>
        </p:nvSpPr>
        <p:spPr>
          <a:xfrm>
            <a:off x="1572768" y="2404872"/>
            <a:ext cx="1188720" cy="365760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Library</a:t>
            </a:r>
            <a:endParaRPr lang="en-US" sz="1100" dirty="0"/>
          </a:p>
        </p:txBody>
      </p:sp>
      <p:sp>
        <p:nvSpPr>
          <p:cNvPr id="23" name="Mission Library"/>
          <p:cNvSpPr/>
          <p:nvPr/>
        </p:nvSpPr>
        <p:spPr>
          <a:xfrm>
            <a:off x="2871216" y="2404872"/>
            <a:ext cx="1188720" cy="365760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Library</a:t>
            </a:r>
            <a:endParaRPr lang="en-US" sz="1100" dirty="0"/>
          </a:p>
        </p:txBody>
      </p:sp>
      <p:sp>
        <p:nvSpPr>
          <p:cNvPr id="24" name="cFE API"/>
          <p:cNvSpPr/>
          <p:nvPr/>
        </p:nvSpPr>
        <p:spPr>
          <a:xfrm>
            <a:off x="1572768" y="2944368"/>
            <a:ext cx="6108192" cy="246888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API</a:t>
            </a:r>
            <a:endParaRPr lang="en-US" sz="1100" dirty="0"/>
          </a:p>
        </p:txBody>
      </p:sp>
      <p:sp>
        <p:nvSpPr>
          <p:cNvPr id="25" name="cFE Core"/>
          <p:cNvSpPr/>
          <p:nvPr/>
        </p:nvSpPr>
        <p:spPr>
          <a:xfrm>
            <a:off x="1572768" y="3273552"/>
            <a:ext cx="3017520" cy="640080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6" name="Badge 1 cFE services"/>
          <p:cNvSpPr/>
          <p:nvPr/>
        </p:nvSpPr>
        <p:spPr>
          <a:xfrm>
            <a:off x="1636776" y="3474720"/>
            <a:ext cx="237744" cy="237744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cFE Core label"/>
          <p:cNvSpPr/>
          <p:nvPr/>
        </p:nvSpPr>
        <p:spPr>
          <a:xfrm>
            <a:off x="1920240" y="34381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Core</a:t>
            </a:r>
            <a:endParaRPr lang="en-US" sz="1200" dirty="0"/>
          </a:p>
        </p:txBody>
      </p:sp>
      <p:sp>
        <p:nvSpPr>
          <p:cNvPr id="28" name="cFE service ES"/>
          <p:cNvSpPr/>
          <p:nvPr/>
        </p:nvSpPr>
        <p:spPr>
          <a:xfrm>
            <a:off x="2670048" y="3611880"/>
            <a:ext cx="3474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endParaRPr lang="en-US" sz="1000" dirty="0"/>
          </a:p>
        </p:txBody>
      </p:sp>
      <p:sp>
        <p:nvSpPr>
          <p:cNvPr id="29" name="cFE service SB"/>
          <p:cNvSpPr/>
          <p:nvPr/>
        </p:nvSpPr>
        <p:spPr>
          <a:xfrm>
            <a:off x="3054096" y="3611880"/>
            <a:ext cx="3474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</a:t>
            </a:r>
            <a:endParaRPr lang="en-US" sz="1000" dirty="0"/>
          </a:p>
        </p:txBody>
      </p:sp>
      <p:sp>
        <p:nvSpPr>
          <p:cNvPr id="30" name="Badge 2 software bus"/>
          <p:cNvSpPr/>
          <p:nvPr/>
        </p:nvSpPr>
        <p:spPr>
          <a:xfrm>
            <a:off x="3108960" y="3328416"/>
            <a:ext cx="237744" cy="237744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cFE service EVS"/>
          <p:cNvSpPr/>
          <p:nvPr/>
        </p:nvSpPr>
        <p:spPr>
          <a:xfrm>
            <a:off x="3438144" y="3611880"/>
            <a:ext cx="3474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EVS</a:t>
            </a:r>
            <a:endParaRPr lang="en-US" sz="1000" dirty="0"/>
          </a:p>
        </p:txBody>
      </p:sp>
      <p:sp>
        <p:nvSpPr>
          <p:cNvPr id="32" name="cFE service TIME"/>
          <p:cNvSpPr/>
          <p:nvPr/>
        </p:nvSpPr>
        <p:spPr>
          <a:xfrm>
            <a:off x="3822192" y="3611880"/>
            <a:ext cx="3474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33" name="cFE service TBL"/>
          <p:cNvSpPr/>
          <p:nvPr/>
        </p:nvSpPr>
        <p:spPr>
          <a:xfrm>
            <a:off x="4206240" y="3611880"/>
            <a:ext cx="3474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TBL</a:t>
            </a:r>
            <a:endParaRPr lang="en-US" sz="1000" dirty="0"/>
          </a:p>
        </p:txBody>
      </p:sp>
      <p:sp>
        <p:nvSpPr>
          <p:cNvPr id="34" name="micro cFE Core"/>
          <p:cNvSpPr/>
          <p:nvPr/>
        </p:nvSpPr>
        <p:spPr>
          <a:xfrm>
            <a:off x="4700016" y="3273552"/>
            <a:ext cx="91440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D8A"/>
            </a:solidFill>
            <a:prstDash val="dash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µcFE Core</a:t>
            </a:r>
            <a:endParaRPr lang="en-US" sz="1100" dirty="0"/>
          </a:p>
        </p:txBody>
      </p:sp>
      <p:sp>
        <p:nvSpPr>
          <p:cNvPr id="35" name="TSP cFE Core"/>
          <p:cNvSpPr/>
          <p:nvPr/>
        </p:nvSpPr>
        <p:spPr>
          <a:xfrm>
            <a:off x="5724144" y="3273552"/>
            <a:ext cx="1956816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D8A"/>
            </a:solidFill>
            <a:prstDash val="dash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Space Partitioning (TSP) cFE Core</a:t>
            </a:r>
            <a:endParaRPr lang="en-US" sz="1100" dirty="0"/>
          </a:p>
        </p:txBody>
      </p:sp>
      <p:sp>
        <p:nvSpPr>
          <p:cNvPr id="36" name="OS Abstraction API"/>
          <p:cNvSpPr/>
          <p:nvPr/>
        </p:nvSpPr>
        <p:spPr>
          <a:xfrm>
            <a:off x="1572768" y="4078224"/>
            <a:ext cx="4498848" cy="246888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API</a:t>
            </a:r>
            <a:endParaRPr lang="en-US" sz="1100" dirty="0"/>
          </a:p>
        </p:txBody>
      </p:sp>
      <p:sp>
        <p:nvSpPr>
          <p:cNvPr id="37" name="Badge 3 OSAL"/>
          <p:cNvSpPr/>
          <p:nvPr/>
        </p:nvSpPr>
        <p:spPr>
          <a:xfrm>
            <a:off x="1609344" y="4082796"/>
            <a:ext cx="237744" cy="237744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cFE PSP API"/>
          <p:cNvSpPr/>
          <p:nvPr/>
        </p:nvSpPr>
        <p:spPr>
          <a:xfrm>
            <a:off x="6181344" y="4078224"/>
            <a:ext cx="1499616" cy="246888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PSP API</a:t>
            </a:r>
            <a:endParaRPr lang="en-US" sz="1100" dirty="0"/>
          </a:p>
        </p:txBody>
      </p:sp>
      <p:sp>
        <p:nvSpPr>
          <p:cNvPr id="39" name="Badge 4 PSP"/>
          <p:cNvSpPr/>
          <p:nvPr/>
        </p:nvSpPr>
        <p:spPr>
          <a:xfrm>
            <a:off x="6217920" y="4082796"/>
            <a:ext cx="237744" cy="237744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OS Abstraction Linux"/>
          <p:cNvSpPr/>
          <p:nvPr/>
        </p:nvSpPr>
        <p:spPr>
          <a:xfrm>
            <a:off x="1572768" y="4398264"/>
            <a:ext cx="1042416" cy="493776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Linux</a:t>
            </a:r>
            <a:endParaRPr lang="en-US" sz="1100" dirty="0"/>
          </a:p>
        </p:txBody>
      </p:sp>
      <p:sp>
        <p:nvSpPr>
          <p:cNvPr id="41" name="OS Abstraction RTEMS"/>
          <p:cNvSpPr/>
          <p:nvPr/>
        </p:nvSpPr>
        <p:spPr>
          <a:xfrm>
            <a:off x="2724912" y="4398264"/>
            <a:ext cx="1042416" cy="493776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RTEMS</a:t>
            </a:r>
            <a:endParaRPr lang="en-US" sz="1100" dirty="0"/>
          </a:p>
        </p:txBody>
      </p:sp>
      <p:sp>
        <p:nvSpPr>
          <p:cNvPr id="42" name="OS Abstraction VxWorks"/>
          <p:cNvSpPr/>
          <p:nvPr/>
        </p:nvSpPr>
        <p:spPr>
          <a:xfrm>
            <a:off x="3877056" y="4398264"/>
            <a:ext cx="104241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7C8591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VxWorks</a:t>
            </a:r>
            <a:endParaRPr lang="en-US" sz="1100" dirty="0"/>
          </a:p>
        </p:txBody>
      </p:sp>
      <p:sp>
        <p:nvSpPr>
          <p:cNvPr id="43" name="OS Abstraction TSP"/>
          <p:cNvSpPr/>
          <p:nvPr/>
        </p:nvSpPr>
        <p:spPr>
          <a:xfrm>
            <a:off x="5029200" y="4398264"/>
            <a:ext cx="104241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7C8591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Abstraction TSP</a:t>
            </a:r>
            <a:endParaRPr lang="en-US" sz="1100" dirty="0"/>
          </a:p>
        </p:txBody>
      </p:sp>
      <p:sp>
        <p:nvSpPr>
          <p:cNvPr id="44" name="PSP stack back"/>
          <p:cNvSpPr/>
          <p:nvPr/>
        </p:nvSpPr>
        <p:spPr>
          <a:xfrm>
            <a:off x="6254496" y="4453128"/>
            <a:ext cx="1426464" cy="475488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</p:sp>
      <p:sp>
        <p:nvSpPr>
          <p:cNvPr id="45" name="cFE Platform Support Packages"/>
          <p:cNvSpPr/>
          <p:nvPr/>
        </p:nvSpPr>
        <p:spPr>
          <a:xfrm>
            <a:off x="6181344" y="4398264"/>
            <a:ext cx="1426464" cy="475488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Platform Support Packages</a:t>
            </a:r>
            <a:endParaRPr lang="en-US" sz="1100" dirty="0"/>
          </a:p>
        </p:txBody>
      </p:sp>
      <p:sp>
        <p:nvSpPr>
          <p:cNvPr id="46" name="Real Time OS"/>
          <p:cNvSpPr/>
          <p:nvPr/>
        </p:nvSpPr>
        <p:spPr>
          <a:xfrm>
            <a:off x="1572768" y="5102352"/>
            <a:ext cx="1371600" cy="384048"/>
          </a:xfrm>
          <a:prstGeom prst="rect">
            <a:avLst/>
          </a:prstGeom>
          <a:solidFill>
            <a:srgbClr val="E4E7EB"/>
          </a:solidFill>
          <a:ln w="12700">
            <a:solidFill>
              <a:srgbClr val="7C8591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Time OS</a:t>
            </a:r>
            <a:endParaRPr lang="en-US" sz="1100" dirty="0"/>
          </a:p>
        </p:txBody>
      </p:sp>
      <p:sp>
        <p:nvSpPr>
          <p:cNvPr id="47" name="Board Support Package"/>
          <p:cNvSpPr/>
          <p:nvPr/>
        </p:nvSpPr>
        <p:spPr>
          <a:xfrm>
            <a:off x="2944368" y="5102352"/>
            <a:ext cx="1627632" cy="384048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Support Package</a:t>
            </a:r>
            <a:endParaRPr lang="en-US" sz="1100" dirty="0"/>
          </a:p>
        </p:txBody>
      </p:sp>
      <p:sp>
        <p:nvSpPr>
          <p:cNvPr id="48" name="PROM Boot FSW"/>
          <p:cNvSpPr/>
          <p:nvPr/>
        </p:nvSpPr>
        <p:spPr>
          <a:xfrm>
            <a:off x="4681728" y="5102352"/>
            <a:ext cx="1371600" cy="384048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 Boot FSW</a:t>
            </a:r>
            <a:endParaRPr lang="en-US" sz="1100" dirty="0"/>
          </a:p>
        </p:txBody>
      </p:sp>
      <p:sp>
        <p:nvSpPr>
          <p:cNvPr id="49" name="Role badge 1"/>
          <p:cNvSpPr/>
          <p:nvPr/>
        </p:nvSpPr>
        <p:spPr>
          <a:xfrm>
            <a:off x="7882128" y="1481328"/>
            <a:ext cx="256032" cy="256032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Role 1 name"/>
          <p:cNvSpPr/>
          <p:nvPr/>
        </p:nvSpPr>
        <p:spPr>
          <a:xfrm>
            <a:off x="8247888" y="1481328"/>
            <a:ext cx="1596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cFE Core services</a:t>
            </a:r>
            <a:endParaRPr lang="en-US" sz="1400" dirty="0"/>
          </a:p>
        </p:txBody>
      </p:sp>
      <p:sp>
        <p:nvSpPr>
          <p:cNvPr id="51" name="Role 1 cite"/>
          <p:cNvSpPr/>
          <p:nvPr/>
        </p:nvSpPr>
        <p:spPr>
          <a:xfrm>
            <a:off x="9954184" y="1527048"/>
            <a:ext cx="133273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pp. 25, 45, paraphrase</a:t>
            </a:r>
            <a:endParaRPr lang="en-US" sz="1000" dirty="0"/>
          </a:p>
        </p:txBody>
      </p:sp>
      <p:sp>
        <p:nvSpPr>
          <p:cNvPr id="52" name="Role 1 text"/>
          <p:cNvSpPr/>
          <p:nvPr/>
        </p:nvSpPr>
        <p:spPr>
          <a:xfrm>
            <a:off x="8247888" y="1709928"/>
            <a:ext cx="34838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the services common to most flight apps: ES, SB, EVS, TIME and TBL</a:t>
            </a:r>
            <a:endParaRPr lang="en-US" sz="1400" dirty="0"/>
          </a:p>
        </p:txBody>
      </p:sp>
      <p:sp>
        <p:nvSpPr>
          <p:cNvPr id="53" name="Role badge 2"/>
          <p:cNvSpPr/>
          <p:nvPr/>
        </p:nvSpPr>
        <p:spPr>
          <a:xfrm>
            <a:off x="7882128" y="2304288"/>
            <a:ext cx="256032" cy="256032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Role 2 name"/>
          <p:cNvSpPr/>
          <p:nvPr/>
        </p:nvSpPr>
        <p:spPr>
          <a:xfrm>
            <a:off x="8247888" y="2304288"/>
            <a:ext cx="15860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bus (SB)</a:t>
            </a:r>
            <a:endParaRPr lang="en-US" sz="1400" dirty="0"/>
          </a:p>
        </p:txBody>
      </p:sp>
      <p:sp>
        <p:nvSpPr>
          <p:cNvPr id="55" name="Role 2 cite"/>
          <p:cNvSpPr/>
          <p:nvPr/>
        </p:nvSpPr>
        <p:spPr>
          <a:xfrm>
            <a:off x="9943694" y="2350008"/>
            <a:ext cx="2667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p45</a:t>
            </a:r>
            <a:endParaRPr lang="en-US" sz="1000" dirty="0"/>
          </a:p>
        </p:txBody>
      </p:sp>
      <p:sp>
        <p:nvSpPr>
          <p:cNvPr id="56" name="Role 2 text"/>
          <p:cNvSpPr/>
          <p:nvPr/>
        </p:nvSpPr>
        <p:spPr>
          <a:xfrm>
            <a:off x="8247888" y="2532888"/>
            <a:ext cx="34838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“Provides an application publish/subscribe messaging service”</a:t>
            </a:r>
            <a:endParaRPr lang="en-US" sz="1400" dirty="0"/>
          </a:p>
        </p:txBody>
      </p:sp>
      <p:sp>
        <p:nvSpPr>
          <p:cNvPr id="57" name="Role badge 3"/>
          <p:cNvSpPr/>
          <p:nvPr/>
        </p:nvSpPr>
        <p:spPr>
          <a:xfrm>
            <a:off x="7882128" y="3127248"/>
            <a:ext cx="256032" cy="256032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Role 3 name"/>
          <p:cNvSpPr/>
          <p:nvPr/>
        </p:nvSpPr>
        <p:spPr>
          <a:xfrm>
            <a:off x="8247888" y="3127248"/>
            <a:ext cx="23566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OSAL (OS Abstraction API)</a:t>
            </a:r>
            <a:endParaRPr lang="en-US" sz="1400" dirty="0"/>
          </a:p>
        </p:txBody>
      </p:sp>
      <p:sp>
        <p:nvSpPr>
          <p:cNvPr id="59" name="Role 3 cite"/>
          <p:cNvSpPr/>
          <p:nvPr/>
        </p:nvSpPr>
        <p:spPr>
          <a:xfrm>
            <a:off x="10714279" y="3172968"/>
            <a:ext cx="97967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p23, paraphrase</a:t>
            </a:r>
            <a:endParaRPr lang="en-US" sz="1000" dirty="0"/>
          </a:p>
        </p:txBody>
      </p:sp>
      <p:sp>
        <p:nvSpPr>
          <p:cNvPr id="60" name="Role 3 text"/>
          <p:cNvSpPr/>
          <p:nvPr/>
        </p:nvSpPr>
        <p:spPr>
          <a:xfrm>
            <a:off x="8247888" y="3355848"/>
            <a:ext cx="34838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 to the cFE, whatever real-time OS runs underneath</a:t>
            </a:r>
            <a:endParaRPr lang="en-US" sz="1400" dirty="0"/>
          </a:p>
        </p:txBody>
      </p:sp>
      <p:sp>
        <p:nvSpPr>
          <p:cNvPr id="61" name="Role badge 4"/>
          <p:cNvSpPr/>
          <p:nvPr/>
        </p:nvSpPr>
        <p:spPr>
          <a:xfrm>
            <a:off x="7882128" y="3950208"/>
            <a:ext cx="256032" cy="256032"/>
          </a:xfrm>
          <a:prstGeom prst="ellipse">
            <a:avLst/>
          </a:prstGeom>
          <a:solidFill>
            <a:srgbClr val="1F23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2" name="Role 4 name"/>
          <p:cNvSpPr/>
          <p:nvPr/>
        </p:nvSpPr>
        <p:spPr>
          <a:xfrm>
            <a:off x="8247888" y="3950208"/>
            <a:ext cx="16555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(cFE PSP API)</a:t>
            </a:r>
            <a:endParaRPr lang="en-US" sz="1400" dirty="0"/>
          </a:p>
        </p:txBody>
      </p:sp>
      <p:sp>
        <p:nvSpPr>
          <p:cNvPr id="63" name="Role 4 cite"/>
          <p:cNvSpPr/>
          <p:nvPr/>
        </p:nvSpPr>
        <p:spPr>
          <a:xfrm>
            <a:off x="10013213" y="3995928"/>
            <a:ext cx="97967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p24, paraphrase</a:t>
            </a:r>
            <a:endParaRPr lang="en-US" sz="1000" dirty="0"/>
          </a:p>
        </p:txBody>
      </p:sp>
      <p:sp>
        <p:nvSpPr>
          <p:cNvPr id="64" name="Role 4 text"/>
          <p:cNvSpPr/>
          <p:nvPr/>
        </p:nvSpPr>
        <p:spPr>
          <a:xfrm>
            <a:off x="8247888" y="4178808"/>
            <a:ext cx="34838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 to the avionics hardware and board support package</a:t>
            </a:r>
            <a:endParaRPr lang="en-US" sz="1400" dirty="0"/>
          </a:p>
        </p:txBody>
      </p:sp>
      <p:sp>
        <p:nvSpPr>
          <p:cNvPr id="65" name="Legend title"/>
          <p:cNvSpPr/>
          <p:nvPr/>
        </p:nvSpPr>
        <p:spPr>
          <a:xfrm>
            <a:off x="7882128" y="4846320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August 2015</a:t>
            </a:r>
            <a:endParaRPr lang="en-US" sz="1100" dirty="0"/>
          </a:p>
        </p:txBody>
      </p:sp>
      <p:sp>
        <p:nvSpPr>
          <p:cNvPr id="66" name="Legend swatch Open source, NASA maintained"/>
          <p:cNvSpPr/>
          <p:nvPr/>
        </p:nvSpPr>
        <p:spPr>
          <a:xfrm>
            <a:off x="7882128" y="5065776"/>
            <a:ext cx="274320" cy="137160"/>
          </a:xfrm>
          <a:prstGeom prst="rect">
            <a:avLst/>
          </a:prstGeom>
          <a:solidFill>
            <a:srgbClr val="DCE6F0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67" name="Legend Open source, NASA maintained"/>
          <p:cNvSpPr/>
          <p:nvPr/>
        </p:nvSpPr>
        <p:spPr>
          <a:xfrm>
            <a:off x="8229600" y="5038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NASA maintained</a:t>
            </a:r>
            <a:endParaRPr lang="en-US" sz="1000" dirty="0"/>
          </a:p>
        </p:txBody>
      </p:sp>
      <p:sp>
        <p:nvSpPr>
          <p:cNvPr id="68" name="Legend swatch Mission developed"/>
          <p:cNvSpPr/>
          <p:nvPr/>
        </p:nvSpPr>
        <p:spPr>
          <a:xfrm>
            <a:off x="10094976" y="5065776"/>
            <a:ext cx="274320" cy="137160"/>
          </a:xfrm>
          <a:prstGeom prst="rect">
            <a:avLst/>
          </a:prstGeom>
          <a:solidFill>
            <a:srgbClr val="FBE4D2"/>
          </a:solidFill>
          <a:ln w="15875">
            <a:solidFill>
              <a:srgbClr val="B85F1E"/>
            </a:solidFill>
            <a:prstDash val="solid"/>
          </a:ln>
        </p:spPr>
      </p:sp>
      <p:sp>
        <p:nvSpPr>
          <p:cNvPr id="69" name="Legend Mission developed"/>
          <p:cNvSpPr/>
          <p:nvPr/>
        </p:nvSpPr>
        <p:spPr>
          <a:xfrm>
            <a:off x="10442448" y="503834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developed</a:t>
            </a:r>
            <a:endParaRPr lang="en-US" sz="1000" dirty="0"/>
          </a:p>
        </p:txBody>
      </p:sp>
      <p:sp>
        <p:nvSpPr>
          <p:cNvPr id="70" name="Legend swatch In development"/>
          <p:cNvSpPr/>
          <p:nvPr/>
        </p:nvSpPr>
        <p:spPr>
          <a:xfrm>
            <a:off x="7882128" y="5248656"/>
            <a:ext cx="274320" cy="137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D8A"/>
            </a:solidFill>
            <a:prstDash val="dash"/>
          </a:ln>
        </p:spPr>
      </p:sp>
      <p:sp>
        <p:nvSpPr>
          <p:cNvPr id="71" name="Legend In development"/>
          <p:cNvSpPr/>
          <p:nvPr/>
        </p:nvSpPr>
        <p:spPr>
          <a:xfrm>
            <a:off x="8229600" y="5221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1000" dirty="0"/>
          </a:p>
        </p:txBody>
      </p:sp>
      <p:sp>
        <p:nvSpPr>
          <p:cNvPr id="72" name="Legend swatch Third party"/>
          <p:cNvSpPr/>
          <p:nvPr/>
        </p:nvSpPr>
        <p:spPr>
          <a:xfrm>
            <a:off x="10094976" y="5248656"/>
            <a:ext cx="274320" cy="137160"/>
          </a:xfrm>
          <a:prstGeom prst="rect">
            <a:avLst/>
          </a:prstGeom>
          <a:solidFill>
            <a:srgbClr val="E4E7EB"/>
          </a:solidFill>
          <a:ln w="12700">
            <a:solidFill>
              <a:srgbClr val="7C8591"/>
            </a:solidFill>
            <a:prstDash val="solid"/>
          </a:ln>
        </p:spPr>
      </p:sp>
      <p:sp>
        <p:nvSpPr>
          <p:cNvPr id="73" name="Legend Third party"/>
          <p:cNvSpPr/>
          <p:nvPr/>
        </p:nvSpPr>
        <p:spPr>
          <a:xfrm>
            <a:off x="10442448" y="522122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party</a:t>
            </a:r>
            <a:endParaRPr lang="en-US" sz="1000" dirty="0"/>
          </a:p>
        </p:txBody>
      </p:sp>
      <p:sp>
        <p:nvSpPr>
          <p:cNvPr id="74" name="Legend swatch No status color in source"/>
          <p:cNvSpPr/>
          <p:nvPr/>
        </p:nvSpPr>
        <p:spPr>
          <a:xfrm>
            <a:off x="7882128" y="5431536"/>
            <a:ext cx="27432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7C8591"/>
            </a:solidFill>
            <a:prstDash val="solid"/>
          </a:ln>
        </p:spPr>
      </p:sp>
      <p:sp>
        <p:nvSpPr>
          <p:cNvPr id="75" name="Legend No status color in source"/>
          <p:cNvSpPr/>
          <p:nvPr/>
        </p:nvSpPr>
        <p:spPr>
          <a:xfrm>
            <a:off x="8229600" y="5404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status color in source</a:t>
            </a:r>
            <a:endParaRPr lang="en-US" sz="1000" dirty="0"/>
          </a:p>
        </p:txBody>
      </p:sp>
      <p:sp>
        <p:nvSpPr>
          <p:cNvPr id="76" name="Legend swatch Layer API"/>
          <p:cNvSpPr/>
          <p:nvPr/>
        </p:nvSpPr>
        <p:spPr>
          <a:xfrm>
            <a:off x="10094976" y="5431536"/>
            <a:ext cx="274320" cy="137160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77" name="Legend Layer API"/>
          <p:cNvSpPr/>
          <p:nvPr/>
        </p:nvSpPr>
        <p:spPr>
          <a:xfrm>
            <a:off x="10442448" y="540410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API</a:t>
            </a:r>
            <a:endParaRPr lang="en-US" sz="1000" dirty="0"/>
          </a:p>
        </p:txBody>
      </p:sp>
      <p:sp>
        <p:nvSpPr>
          <p:cNvPr id="78" name="Sources"/>
          <p:cNvSpPr/>
          <p:nvPr/>
        </p:nvSpPr>
        <p:spPr>
          <a:xfrm>
            <a:off x="457200" y="5687568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diagram rebuilt from McComas et al., NASA Goddard, Aug. 2015, NTRS 20150018075, p8. Service acronyms and order: 2021 memo, printed p45 (the 2015 deck lists the same five services on p9). Roles: NASA/TM-20205000691/REV 1, Jan. 2021, NTRS 20205011588, printed page on each heading. Dark bars: each layer’s standard API (2023 overview, NTRS 20230002444, slide 8).</a:t>
            </a:r>
            <a:endParaRPr lang="en-US" sz="1000" dirty="0"/>
          </a:p>
        </p:txBody>
      </p:sp>
      <p:sp>
        <p:nvSpPr>
          <p:cNvPr id="79" name="Footer"/>
          <p:cNvSpPr/>
          <p:nvPr/>
        </p:nvSpPr>
        <p:spPr>
          <a:xfrm>
            <a:off x="457200" y="61447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reconstruction of a public NASA slide.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457200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housekeeping packet crosses the software bus in six steps, and the app that sends it does not know who subscribed</a:t>
            </a:r>
            <a:endParaRPr lang="en-US" sz="2800" dirty="0"/>
          </a:p>
        </p:txBody>
      </p:sp>
      <p:sp>
        <p:nvSpPr>
          <p:cNvPr id="3" name="Flight software boundary"/>
          <p:cNvSpPr/>
          <p:nvPr/>
        </p:nvSpPr>
        <p:spPr>
          <a:xfrm>
            <a:off x="457200" y="1499616"/>
            <a:ext cx="6035040" cy="3931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7CDD4"/>
            </a:solidFill>
            <a:prstDash val="dash"/>
          </a:ln>
        </p:spPr>
      </p:sp>
      <p:sp>
        <p:nvSpPr>
          <p:cNvPr id="4" name="Boundary label"/>
          <p:cNvSpPr/>
          <p:nvPr/>
        </p:nvSpPr>
        <p:spPr>
          <a:xfrm>
            <a:off x="566928" y="1572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software, one processor</a:t>
            </a:r>
            <a:endParaRPr lang="en-US" sz="1100" dirty="0"/>
          </a:p>
        </p:txBody>
      </p:sp>
      <p:sp>
        <p:nvSpPr>
          <p:cNvPr id="5" name="Scheduler app"/>
          <p:cNvSpPr/>
          <p:nvPr/>
        </p:nvSpPr>
        <p:spPr>
          <a:xfrm>
            <a:off x="685800" y="1892808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app (SCH)</a:t>
            </a:r>
            <a:endParaRPr lang="en-US" sz="1300" dirty="0"/>
          </a:p>
        </p:txBody>
      </p:sp>
      <p:sp>
        <p:nvSpPr>
          <p:cNvPr id="6" name="Sending app"/>
          <p:cNvSpPr/>
          <p:nvPr/>
        </p:nvSpPr>
        <p:spPr>
          <a:xfrm>
            <a:off x="2606040" y="1892808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app</a:t>
            </a:r>
            <a:endParaRPr lang="en-US" sz="1300" dirty="0"/>
          </a:p>
        </p:txBody>
      </p:sp>
      <p:sp>
        <p:nvSpPr>
          <p:cNvPr id="7" name="Telemetry Output app"/>
          <p:cNvSpPr/>
          <p:nvPr/>
        </p:nvSpPr>
        <p:spPr>
          <a:xfrm>
            <a:off x="4709160" y="1892808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Output app (TO)</a:t>
            </a:r>
            <a:endParaRPr lang="en-US" sz="1300" dirty="0"/>
          </a:p>
        </p:txBody>
      </p:sp>
      <p:sp>
        <p:nvSpPr>
          <p:cNvPr id="8" name="Ground system"/>
          <p:cNvSpPr/>
          <p:nvPr/>
        </p:nvSpPr>
        <p:spPr>
          <a:xfrm>
            <a:off x="6858000" y="1892808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E4E7EB"/>
          </a:solidFill>
          <a:ln w="12700">
            <a:solidFill>
              <a:srgbClr val="7C8591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system</a:t>
            </a:r>
            <a:endParaRPr lang="en-US" sz="1300" dirty="0"/>
          </a:p>
        </p:txBody>
      </p:sp>
      <p:sp>
        <p:nvSpPr>
          <p:cNvPr id="9" name="Sending app pipe"/>
          <p:cNvSpPr/>
          <p:nvPr/>
        </p:nvSpPr>
        <p:spPr>
          <a:xfrm>
            <a:off x="2697480" y="2578608"/>
            <a:ext cx="65836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</a:t>
            </a:r>
            <a:endParaRPr lang="en-US" sz="1000" dirty="0"/>
          </a:p>
        </p:txBody>
      </p:sp>
      <p:sp>
        <p:nvSpPr>
          <p:cNvPr id="10" name="TO pipe"/>
          <p:cNvSpPr/>
          <p:nvPr/>
        </p:nvSpPr>
        <p:spPr>
          <a:xfrm>
            <a:off x="4800600" y="2578608"/>
            <a:ext cx="65836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</a:t>
            </a:r>
            <a:endParaRPr lang="en-US" sz="1000" dirty="0"/>
          </a:p>
        </p:txBody>
      </p:sp>
      <p:sp>
        <p:nvSpPr>
          <p:cNvPr id="11" name="Software bus"/>
          <p:cNvSpPr/>
          <p:nvPr/>
        </p:nvSpPr>
        <p:spPr>
          <a:xfrm>
            <a:off x="685800" y="3767328"/>
            <a:ext cx="5623560" cy="731520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bus (cFE SB)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each message ID to every subscribed pipe</a:t>
            </a:r>
            <a:endParaRPr lang="en-US" sz="1200" dirty="0"/>
          </a:p>
        </p:txBody>
      </p:sp>
      <p:sp>
        <p:nvSpPr>
          <p:cNvPr id="12" name="Other subscribers"/>
          <p:cNvSpPr/>
          <p:nvPr/>
        </p:nvSpPr>
        <p:spPr>
          <a:xfrm>
            <a:off x="4617720" y="484632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C8591"/>
            </a:solidFill>
            <a:prstDash val="dash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subscribers, such as Data Storage</a:t>
            </a:r>
            <a:endParaRPr lang="en-US" sz="1100" dirty="0"/>
          </a:p>
        </p:txBody>
      </p:sp>
      <p:sp>
        <p:nvSpPr>
          <p:cNvPr id="13" name="Arrow a1"/>
          <p:cNvSpPr/>
          <p:nvPr/>
        </p:nvSpPr>
        <p:spPr>
          <a:xfrm>
            <a:off x="5989320" y="2532888"/>
            <a:ext cx="0" cy="1234440"/>
          </a:xfrm>
          <a:prstGeom prst="line">
            <a:avLst/>
          </a:prstGeom>
          <a:noFill/>
          <a:ln w="19050">
            <a:solidFill>
              <a:srgbClr val="565E69"/>
            </a:solidFill>
            <a:prstDash val="dash"/>
            <a:headEnd type="none"/>
            <a:tailEnd type="triangle"/>
          </a:ln>
        </p:spPr>
      </p:sp>
      <p:sp>
        <p:nvSpPr>
          <p:cNvPr id="14" name="Arrow a2a"/>
          <p:cNvSpPr/>
          <p:nvPr/>
        </p:nvSpPr>
        <p:spPr>
          <a:xfrm>
            <a:off x="1417320" y="2532888"/>
            <a:ext cx="0" cy="123444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15" name="Arrow a2b"/>
          <p:cNvSpPr/>
          <p:nvPr/>
        </p:nvSpPr>
        <p:spPr>
          <a:xfrm flipV="1">
            <a:off x="3026664" y="2852928"/>
            <a:ext cx="0" cy="91440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16" name="Arrow a4"/>
          <p:cNvSpPr/>
          <p:nvPr/>
        </p:nvSpPr>
        <p:spPr>
          <a:xfrm>
            <a:off x="3749040" y="2532888"/>
            <a:ext cx="0" cy="123444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17" name="Arrow a5a"/>
          <p:cNvSpPr/>
          <p:nvPr/>
        </p:nvSpPr>
        <p:spPr>
          <a:xfrm flipV="1">
            <a:off x="5129784" y="2852928"/>
            <a:ext cx="0" cy="91440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18" name="Arrow a5b"/>
          <p:cNvSpPr/>
          <p:nvPr/>
        </p:nvSpPr>
        <p:spPr>
          <a:xfrm>
            <a:off x="5458968" y="4498848"/>
            <a:ext cx="0" cy="347472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19" name="Arrow a6"/>
          <p:cNvSpPr/>
          <p:nvPr/>
        </p:nvSpPr>
        <p:spPr>
          <a:xfrm>
            <a:off x="6309360" y="2212848"/>
            <a:ext cx="548640" cy="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20" name="UDP label"/>
          <p:cNvSpPr/>
          <p:nvPr/>
        </p:nvSpPr>
        <p:spPr>
          <a:xfrm>
            <a:off x="6309360" y="22860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UDP/IP</a:t>
            </a:r>
            <a:endParaRPr lang="en-US" sz="1000" dirty="0"/>
          </a:p>
        </p:txBody>
      </p:sp>
      <p:sp>
        <p:nvSpPr>
          <p:cNvPr id="21" name="Badge b1"/>
          <p:cNvSpPr/>
          <p:nvPr/>
        </p:nvSpPr>
        <p:spPr>
          <a:xfrm>
            <a:off x="6080760" y="308152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Badge b2"/>
          <p:cNvSpPr/>
          <p:nvPr/>
        </p:nvSpPr>
        <p:spPr>
          <a:xfrm>
            <a:off x="1508760" y="303580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Badge b2b"/>
          <p:cNvSpPr/>
          <p:nvPr/>
        </p:nvSpPr>
        <p:spPr>
          <a:xfrm>
            <a:off x="2615184" y="321868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Badge b3"/>
          <p:cNvSpPr/>
          <p:nvPr/>
        </p:nvSpPr>
        <p:spPr>
          <a:xfrm>
            <a:off x="3867912" y="175564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Badge b4"/>
          <p:cNvSpPr/>
          <p:nvPr/>
        </p:nvSpPr>
        <p:spPr>
          <a:xfrm>
            <a:off x="3840480" y="308152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Badge b5"/>
          <p:cNvSpPr/>
          <p:nvPr/>
        </p:nvSpPr>
        <p:spPr>
          <a:xfrm>
            <a:off x="4736592" y="321868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Badge b5b"/>
          <p:cNvSpPr/>
          <p:nvPr/>
        </p:nvSpPr>
        <p:spPr>
          <a:xfrm>
            <a:off x="5550408" y="4535424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Badge b6"/>
          <p:cNvSpPr/>
          <p:nvPr/>
        </p:nvSpPr>
        <p:spPr>
          <a:xfrm>
            <a:off x="6446520" y="1828800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Step badge 1"/>
          <p:cNvSpPr/>
          <p:nvPr/>
        </p:nvSpPr>
        <p:spPr>
          <a:xfrm>
            <a:off x="8321040" y="1499616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tep 1"/>
          <p:cNvSpPr/>
          <p:nvPr/>
        </p:nvSpPr>
        <p:spPr>
          <a:xfrm>
            <a:off x="8686800" y="1490472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startup, TO subscribes a pipe to the packet’s ID.</a:t>
            </a:r>
            <a:endParaRPr lang="en-US" sz="1400" dirty="0"/>
          </a:p>
        </p:txBody>
      </p:sp>
      <p:sp>
        <p:nvSpPr>
          <p:cNvPr id="31" name="Step 1 cite"/>
          <p:cNvSpPr/>
          <p:nvPr/>
        </p:nvSpPr>
        <p:spPr>
          <a:xfrm>
            <a:off x="8686800" y="1938528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p85 and p93</a:t>
            </a:r>
            <a:endParaRPr lang="en-US" sz="1000" dirty="0"/>
          </a:p>
        </p:txBody>
      </p:sp>
      <p:sp>
        <p:nvSpPr>
          <p:cNvPr id="32" name="Step badge 2"/>
          <p:cNvSpPr/>
          <p:nvPr/>
        </p:nvSpPr>
        <p:spPr>
          <a:xfrm>
            <a:off x="8321040" y="2167128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tep 2"/>
          <p:cNvSpPr/>
          <p:nvPr/>
        </p:nvSpPr>
        <p:spPr>
          <a:xfrm>
            <a:off x="8686800" y="2157984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scheduler sends a housekeeping request over the bus.</a:t>
            </a:r>
            <a:endParaRPr lang="en-US" sz="1400" dirty="0"/>
          </a:p>
        </p:txBody>
      </p:sp>
      <p:sp>
        <p:nvSpPr>
          <p:cNvPr id="34" name="Step 2 cite"/>
          <p:cNvSpPr/>
          <p:nvPr/>
        </p:nvSpPr>
        <p:spPr>
          <a:xfrm>
            <a:off x="8686800" y="2606040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p86 and p34</a:t>
            </a:r>
            <a:endParaRPr lang="en-US" sz="1000" dirty="0"/>
          </a:p>
        </p:txBody>
      </p:sp>
      <p:sp>
        <p:nvSpPr>
          <p:cNvPr id="35" name="Step badge 3"/>
          <p:cNvSpPr/>
          <p:nvPr/>
        </p:nvSpPr>
        <p:spPr>
          <a:xfrm>
            <a:off x="8321040" y="2834640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tep 3"/>
          <p:cNvSpPr/>
          <p:nvPr/>
        </p:nvSpPr>
        <p:spPr>
          <a:xfrm>
            <a:off x="8686800" y="2825496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fills its housekeeping packet and stamps the time.</a:t>
            </a:r>
            <a:endParaRPr lang="en-US" sz="1400" dirty="0"/>
          </a:p>
        </p:txBody>
      </p:sp>
      <p:sp>
        <p:nvSpPr>
          <p:cNvPr id="37" name="Step 3 cite"/>
          <p:cNvSpPr/>
          <p:nvPr/>
        </p:nvSpPr>
        <p:spPr>
          <a:xfrm>
            <a:off x="8686800" y="3273552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p88 and p98</a:t>
            </a:r>
            <a:endParaRPr lang="en-US" sz="1000" dirty="0"/>
          </a:p>
        </p:txBody>
      </p:sp>
      <p:sp>
        <p:nvSpPr>
          <p:cNvPr id="38" name="Step badge 4"/>
          <p:cNvSpPr/>
          <p:nvPr/>
        </p:nvSpPr>
        <p:spPr>
          <a:xfrm>
            <a:off x="8321040" y="3502152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tep 4"/>
          <p:cNvSpPr/>
          <p:nvPr/>
        </p:nvSpPr>
        <p:spPr>
          <a:xfrm>
            <a:off x="8686800" y="349300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sends the packet without knowing who subscribes.</a:t>
            </a:r>
            <a:endParaRPr lang="en-US" sz="1400" dirty="0"/>
          </a:p>
        </p:txBody>
      </p:sp>
      <p:sp>
        <p:nvSpPr>
          <p:cNvPr id="40" name="Step 4 cite"/>
          <p:cNvSpPr/>
          <p:nvPr/>
        </p:nvSpPr>
        <p:spPr>
          <a:xfrm>
            <a:off x="8686800" y="3941064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p85 and p97</a:t>
            </a:r>
            <a:endParaRPr lang="en-US" sz="1000" dirty="0"/>
          </a:p>
        </p:txBody>
      </p:sp>
      <p:sp>
        <p:nvSpPr>
          <p:cNvPr id="41" name="Step badge 5"/>
          <p:cNvSpPr/>
          <p:nvPr/>
        </p:nvSpPr>
        <p:spPr>
          <a:xfrm>
            <a:off x="8321040" y="4169664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Step 5"/>
          <p:cNvSpPr/>
          <p:nvPr/>
        </p:nvSpPr>
        <p:spPr>
          <a:xfrm>
            <a:off x="8686800" y="4160520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routes it to every pipe subscribed to its ID.</a:t>
            </a:r>
            <a:endParaRPr lang="en-US" sz="1400" dirty="0"/>
          </a:p>
        </p:txBody>
      </p:sp>
      <p:sp>
        <p:nvSpPr>
          <p:cNvPr id="43" name="Step 5 cite"/>
          <p:cNvSpPr/>
          <p:nvPr/>
        </p:nvSpPr>
        <p:spPr>
          <a:xfrm>
            <a:off x="8686800" y="4608576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p85</a:t>
            </a:r>
            <a:endParaRPr lang="en-US" sz="1000" dirty="0"/>
          </a:p>
        </p:txBody>
      </p:sp>
      <p:sp>
        <p:nvSpPr>
          <p:cNvPr id="44" name="Step badge 6"/>
          <p:cNvSpPr/>
          <p:nvPr/>
        </p:nvSpPr>
        <p:spPr>
          <a:xfrm>
            <a:off x="8321040" y="4837176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Step 6"/>
          <p:cNvSpPr/>
          <p:nvPr/>
        </p:nvSpPr>
        <p:spPr>
          <a:xfrm>
            <a:off x="8686800" y="4828032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Downlink.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reads its pipe and sends the packet over UDP/IP.</a:t>
            </a:r>
            <a:endParaRPr lang="en-US" sz="1400" dirty="0"/>
          </a:p>
        </p:txBody>
      </p:sp>
      <p:sp>
        <p:nvSpPr>
          <p:cNvPr id="46" name="Step 6 cite"/>
          <p:cNvSpPr/>
          <p:nvPr/>
        </p:nvSpPr>
        <p:spPr>
          <a:xfrm>
            <a:off x="8686800" y="5276088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p95 and p34</a:t>
            </a:r>
            <a:endParaRPr lang="en-US" sz="1000" dirty="0"/>
          </a:p>
        </p:txBody>
      </p:sp>
      <p:sp>
        <p:nvSpPr>
          <p:cNvPr id="47" name="Sources"/>
          <p:cNvSpPr/>
          <p:nvPr/>
        </p:nvSpPr>
        <p:spPr>
          <a:xfrm>
            <a:off x="457200" y="559612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steps from NASA/TM-20205000691/REV 1 (the 2021 memo), Jan. 2021, NTRS 20205011588, printed pages. TO in the open-source bundle is a lab app meant as an example (nasa/cFS README). The memo’s CFE_SB_SendMsg and CFE_SB_RcvMsg (p97) are CFE_SB_TransmitMsg and CFE_SB_ReceiveBuffer in the current cFE Application Developers Guide (nasa/cFE, sec. 6.6 and 6.7, read Oct. 6, 2026).</a:t>
            </a:r>
            <a:endParaRPr lang="en-US" sz="1000" dirty="0"/>
          </a:p>
        </p:txBody>
      </p:sp>
      <p:sp>
        <p:nvSpPr>
          <p:cNvPr id="48" name="Footer"/>
          <p:cNvSpPr/>
          <p:nvPr/>
        </p:nvSpPr>
        <p:spPr>
          <a:xfrm>
            <a:off x="457200" y="61447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diagram drawn from public NASA documents.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pptxgenjs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Portfolio project, not affiliated with 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 core Flight System, three ways</dc:title>
  <dc:subject>Built with Claude Code agents from public NASA documents</dc:subject>
  <dc:creator>Logan Ankenbrandt</dc:creator>
  <cp:lastModifiedBy>pptxgenjs, run by Claude Code agents</cp:lastModifiedBy>
  <cp:revision>1</cp:revision>
  <dcterms:created xsi:type="dcterms:W3CDTF">2026-10-08T14:43:56Z</dcterms:created>
  <dcterms:modified xsi:type="dcterms:W3CDTF">2026-10-08T14:43:56Z</dcterms:modified>
</cp:coreProperties>
</file>