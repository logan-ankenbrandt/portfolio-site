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7"/>
          <c:y val="0"/>
          <c:w val="0.66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 by NASA center (count)</c:v>
                </c:pt>
              </c:strCache>
            </c:strRef>
          </c:tx>
          <c:spPr>
            <a:solidFill>
              <a:srgbClr val="2F5D8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822B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Goddard (GSFC)</c:v>
                  </c:pt>
                  <c:pt idx="1">
                    <c:v>Johnson (JSC)</c:v>
                  </c:pt>
                  <c:pt idx="2">
                    <c:v>Ames (ARC)</c:v>
                  </c:pt>
                  <c:pt idx="3">
                    <c:v>Langley (LARC)</c:v>
                  </c:pt>
                  <c:pt idx="4">
                    <c:v>Glenn (GRC)</c:v>
                  </c:pt>
                  <c:pt idx="5">
                    <c:v>Marshall (MSFC)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</c:v>
                </c:pt>
                <c:pt idx="1">
                  <c:v>10</c:v>
                </c:pt>
                <c:pt idx="2">
                  <c:v>5</c:v>
                </c:pt>
                <c:pt idx="3">
                  <c:v>4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4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3"/>
          <c:y val="0"/>
          <c:w val="0.6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 by mission directorate (count)</c:v>
                </c:pt>
              </c:strCache>
            </c:strRef>
          </c:tx>
          <c:spPr>
            <a:solidFill>
              <a:srgbClr val="2F5D8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SMD</c:v>
                  </c:pt>
                  <c:pt idx="1">
                    <c:v>STMD</c:v>
                  </c:pt>
                  <c:pt idx="2">
                    <c:v>ESDMD</c:v>
                  </c:pt>
                  <c:pt idx="3">
                    <c:v>ARMD</c:v>
                  </c:pt>
                  <c:pt idx="4">
                    <c:v>SOMD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11</c:v>
                </c:pt>
                <c:pt idx="2">
                  <c:v>9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1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7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3"/>
          <c:y val="0"/>
          <c:w val="0.6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applications by segment (printed percent)</c:v>
                </c:pt>
              </c:strCache>
            </c:strRef>
          </c:tx>
          <c:spPr>
            <a:solidFill>
              <a:srgbClr val="8C959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Payload</c:v>
                  </c:pt>
                  <c:pt idx="1">
                    <c:v>Spacecraft</c:v>
                  </c:pt>
                  <c:pt idx="2">
                    <c:v>Capsule</c:v>
                  </c:pt>
                  <c:pt idx="3">
                    <c:v>Instrument</c:v>
                  </c:pt>
                  <c:pt idx="4">
                    <c:v>Architecture</c:v>
                  </c:pt>
                  <c:pt idx="5">
                    <c:v>Aircraft</c:v>
                  </c:pt>
                  <c:pt idx="6">
                    <c:v>Balloon</c:v>
                  </c:pt>
                  <c:pt idx="7">
                    <c:v>Lander</c:v>
                  </c:pt>
                  <c:pt idx="8">
                    <c:v>Launch Vehicle</c:v>
                  </c:pt>
                  <c:pt idx="9">
                    <c:v>Platform</c:v>
                  </c:pt>
                  <c:pt idx="10">
                    <c:v>Processor</c:v>
                  </c:pt>
                  <c:pt idx="11">
                    <c:v>Robot</c:v>
                  </c:pt>
                  <c:pt idx="12">
                    <c:v>Rover</c:v>
                  </c:pt>
                  <c:pt idx="13">
                    <c:v>Spacesuit</c:v>
                  </c:pt>
                  <c:pt idx="14">
                    <c:v>Telescope</c:v>
                  </c:pt>
                  <c:pt idx="15">
                    <c:v>Unmanned Aircraft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28</c:v>
                </c:pt>
                <c:pt idx="1">
                  <c:v>28</c:v>
                </c:pt>
                <c:pt idx="2">
                  <c:v>7</c:v>
                </c:pt>
                <c:pt idx="3">
                  <c:v>7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3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Ashok Prajapati, "Evolution of Core Flight System (cFS)", NASA GSFC, 2024, NTRS 20240004389, page 5. https://ntrs.nasa.gov/citations/20240004389. Work of the US Gov. Public Use Permitted. Revised version. Every change and every rejected change is in slides/01-cfs-usage/log-revised.md.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has been used on 40+ NASA projects historically, about half of them at Goddard</a:t>
            </a:r>
            <a:endParaRPr lang="en-US" sz="2800" dirty="0"/>
          </a:p>
        </p:txBody>
      </p:sp>
      <p:sp>
        <p:nvSpPr>
          <p:cNvPr id="3" name="Heading centers"/>
          <p:cNvSpPr/>
          <p:nvPr/>
        </p:nvSpPr>
        <p:spPr>
          <a:xfrm>
            <a:off x="457200" y="137160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by NASA center (n = 40)</a:t>
            </a:r>
            <a:endParaRPr lang="en-US" sz="1600" dirty="0"/>
          </a:p>
        </p:txBody>
      </p:sp>
      <p:graphicFrame>
        <p:nvGraphicFramePr>
          <p:cNvPr id="4" name="Projects by NASA center (count)" descr="Projects by NASA center (count): Goddard (GSFC) 19; Johnson (JSC) 10; Ames (ARC) 5; Langley (LARC) 4; Glenn (GRC) 1; Marshall (MSFC) 1"/>
          <p:cNvGraphicFramePr/>
          <p:nvPr/>
        </p:nvGraphicFramePr>
        <p:xfrm>
          <a:off x="457200" y="1700784"/>
          <a:ext cx="5989320" cy="20482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ption centers"/>
          <p:cNvSpPr/>
          <p:nvPr/>
        </p:nvSpPr>
        <p:spPr>
          <a:xfrm>
            <a:off x="457200" y="379476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is used at 6 NASA Centers</a:t>
            </a:r>
            <a:endParaRPr lang="en-US" sz="1400" dirty="0"/>
          </a:p>
        </p:txBody>
      </p:sp>
      <p:sp>
        <p:nvSpPr>
          <p:cNvPr id="6" name="Caption directorates"/>
          <p:cNvSpPr/>
          <p:nvPr/>
        </p:nvSpPr>
        <p:spPr>
          <a:xfrm>
            <a:off x="457200" y="408736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is across mission directorates and on 40+ projects historically including RST, CCRS, MAV, LRO, Gateway, Artemis, and many more</a:t>
            </a:r>
            <a:endParaRPr lang="en-US" sz="1400" dirty="0"/>
          </a:p>
        </p:txBody>
      </p:sp>
      <p:sp>
        <p:nvSpPr>
          <p:cNvPr id="7" name="Note ISwSIS"/>
          <p:cNvSpPr/>
          <p:nvPr/>
        </p:nvSpPr>
        <p:spPr>
          <a:xfrm>
            <a:off x="457200" y="4663440"/>
            <a:ext cx="59893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52400" tIns="50800" rIns="1016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named by ISwSIS (and approved by HEO directorate) as the standard FSW framework</a:t>
            </a:r>
            <a:endParaRPr lang="en-US" sz="1400" dirty="0"/>
          </a:p>
        </p:txBody>
      </p:sp>
      <p:sp>
        <p:nvSpPr>
          <p:cNvPr id="8" name="Note rule 1"/>
          <p:cNvSpPr/>
          <p:nvPr/>
        </p:nvSpPr>
        <p:spPr>
          <a:xfrm>
            <a:off x="457200" y="4663440"/>
            <a:ext cx="54864" cy="51206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9" name="Note dominant"/>
          <p:cNvSpPr/>
          <p:nvPr/>
        </p:nvSpPr>
        <p:spPr>
          <a:xfrm>
            <a:off x="457200" y="5266944"/>
            <a:ext cx="59893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52400" tIns="50800" rIns="1016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has become the dominant FSW framework at NASA and is likely the most used FSW system in the world</a:t>
            </a:r>
            <a:endParaRPr lang="en-US" sz="1400" dirty="0"/>
          </a:p>
        </p:txBody>
      </p:sp>
      <p:sp>
        <p:nvSpPr>
          <p:cNvPr id="10" name="Note rule 2"/>
          <p:cNvSpPr/>
          <p:nvPr/>
        </p:nvSpPr>
        <p:spPr>
          <a:xfrm>
            <a:off x="457200" y="5266944"/>
            <a:ext cx="54864" cy="512064"/>
          </a:xfrm>
          <a:prstGeom prst="rect">
            <a:avLst/>
          </a:prstGeom>
          <a:solidFill>
            <a:srgbClr val="2F5D8A"/>
          </a:solidFill>
          <a:ln/>
        </p:spPr>
      </p:sp>
      <p:sp>
        <p:nvSpPr>
          <p:cNvPr id="11" name="Heading directorates"/>
          <p:cNvSpPr/>
          <p:nvPr/>
        </p:nvSpPr>
        <p:spPr>
          <a:xfrm>
            <a:off x="6766560" y="137160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by mission directorate (n = 40)</a:t>
            </a:r>
            <a:endParaRPr lang="en-US" sz="1400" dirty="0"/>
          </a:p>
        </p:txBody>
      </p:sp>
      <p:graphicFrame>
        <p:nvGraphicFramePr>
          <p:cNvPr id="12" name="Projects by mission directorate (count)" descr="Projects by mission directorate (count): SMD 15; STMD 11; ESDMD 9; ARMD 3; SOMD 2"/>
          <p:cNvGraphicFramePr/>
          <p:nvPr/>
        </p:nvGraphicFramePr>
        <p:xfrm>
          <a:off x="6766560" y="1645920"/>
          <a:ext cx="4967935" cy="886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Heading segments"/>
          <p:cNvSpPr/>
          <p:nvPr/>
        </p:nvSpPr>
        <p:spPr>
          <a:xfrm>
            <a:off x="6766560" y="26334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by segment, as printed (labels total 103%)</a:t>
            </a:r>
            <a:endParaRPr lang="en-US" sz="1400" dirty="0"/>
          </a:p>
        </p:txBody>
      </p:sp>
      <p:sp>
        <p:nvSpPr>
          <p:cNvPr id="14" name="Caption segments"/>
          <p:cNvSpPr/>
          <p:nvPr/>
        </p:nvSpPr>
        <p:spPr>
          <a:xfrm>
            <a:off x="6766560" y="290779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is on embedded systems that span the space ecosystem</a:t>
            </a:r>
            <a:endParaRPr lang="en-US" sz="1400" dirty="0"/>
          </a:p>
        </p:txBody>
      </p:sp>
      <p:graphicFrame>
        <p:nvGraphicFramePr>
          <p:cNvPr id="15" name="Share of applications by segment (printed percent)" descr="Share of applications by segment (printed percent): Payload 28; Spacecraft 28; Capsule 7; Instrument 7; Architecture 5; Aircraft 4; Balloon 4; Lander 4; Launch Vehicle 2; Platform 2; Processor 2; Robot 2; Rover 2; Spacesuit 2; Telescope 2; Unmanned Aircraft 2"/>
          <p:cNvGraphicFramePr/>
          <p:nvPr/>
        </p:nvGraphicFramePr>
        <p:xfrm>
          <a:off x="6766560" y="3200400"/>
          <a:ext cx="4967935" cy="26334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Footnote"/>
          <p:cNvSpPr/>
          <p:nvPr/>
        </p:nvSpPr>
        <p:spPr>
          <a:xfrm>
            <a:off x="457200" y="5897880"/>
            <a:ext cx="112772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segment shares are as printed and total 103%. No split of 40 projects gives these labels (the smallest total that does is 57), so the source does not say what the segment chart counts.</a:t>
            </a:r>
            <a:endParaRPr lang="en-US" sz="1050" dirty="0"/>
          </a:p>
        </p:txBody>
      </p:sp>
      <p:sp>
        <p:nvSpPr>
          <p:cNvPr id="17" name="Source line"/>
          <p:cNvSpPr/>
          <p:nvPr/>
        </p:nvSpPr>
        <p:spPr>
          <a:xfrm>
            <a:off x="457200" y="6062472"/>
            <a:ext cx="112772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A. Prajapati, "Evolution of Core Flight System (cFS)," NASA GSFC, 2024, slide 5 (NTRS 20240004389). Values as printed. 3D pies redrawn as sorted bars.</a:t>
            </a:r>
            <a:endParaRPr lang="en-US" sz="1050" dirty="0"/>
          </a:p>
        </p:txBody>
      </p:sp>
      <p:sp>
        <p:nvSpPr>
          <p:cNvPr id="18" name="Portfolio footer"/>
          <p:cNvSpPr/>
          <p:nvPr/>
        </p:nvSpPr>
        <p:spPr>
          <a:xfrm>
            <a:off x="457200" y="6227064"/>
            <a:ext cx="112772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reconstruction of a public NASA slide.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PptxGenJS 4.0.1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Arial</vt:lpstr>
      <vt:lpstr>Office Theme</vt:lpstr>
      <vt:lpstr>Slide 1</vt:lpstr>
    </vt:vector>
  </TitlesOfParts>
  <Company/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cFS has been used on 40+ NASA projects historically (revised)</dc:title>
  <dc:subject>Portfolio reconstruction of a public NASA slide. Not a NASA document.</dc:subject>
  <dc:creator>Logan Ankenbrandt</dc:creator>
  <dc:description>Generated by src/01-cfs-usage-revised.js with PptxGenJS 4.0.1.</dc:description>
  <cp:lastModifiedBy>PptxGenJS 4.0.1</cp:lastModifiedBy>
  <cp:revision>1</cp:revision>
  <dcterms:created xsi:type="dcterms:W3CDTF">2026-10-08T15:07:01Z</dcterms:created>
  <dcterms:modified xsi:type="dcterms:W3CDTF">2026-10-08T15:07:01Z</dcterms:modified>
</cp:coreProperties>
</file>