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1833250"/>
  <p:notesSz cx="1183325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457200"/>
            <a:ext cx="8229600" cy="644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hides the OS and the hardware behind layered APIs, and its apps talk over a software bus</a:t>
            </a:r>
            <a:endParaRPr lang="en-US" sz="2200" dirty="0"/>
          </a:p>
        </p:txBody>
      </p:sp>
      <p:sp>
        <p:nvSpPr>
          <p:cNvPr id="3" name="Byline"/>
          <p:cNvSpPr/>
          <p:nvPr/>
        </p:nvSpPr>
        <p:spPr>
          <a:xfrm>
            <a:off x="457200" y="1156208"/>
            <a:ext cx="8229600" cy="174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brief on NASA’s core Flight System (cFS), documented from NASA’s public materials, 2015 to 2023.</a:t>
            </a:r>
            <a:endParaRPr lang="en-US" sz="1050" dirty="0"/>
          </a:p>
        </p:txBody>
      </p:sp>
      <p:sp>
        <p:nvSpPr>
          <p:cNvPr id="4" name="Top rule"/>
          <p:cNvSpPr/>
          <p:nvPr/>
        </p:nvSpPr>
        <p:spPr>
          <a:xfrm>
            <a:off x="457200" y="1421956"/>
            <a:ext cx="8229600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solid"/>
          </a:ln>
        </p:spPr>
      </p:sp>
      <p:sp>
        <p:nvSpPr>
          <p:cNvPr id="5" name="H Context"/>
          <p:cNvSpPr/>
          <p:nvPr/>
        </p:nvSpPr>
        <p:spPr>
          <a:xfrm>
            <a:off x="457200" y="15316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</p:txBody>
      </p:sp>
      <p:sp>
        <p:nvSpPr>
          <p:cNvPr id="6" name="Context text"/>
          <p:cNvSpPr/>
          <p:nvPr/>
        </p:nvSpPr>
        <p:spPr>
          <a:xfrm>
            <a:off x="457200" y="1769428"/>
            <a:ext cx="8229600" cy="53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NASA’s Goddard Space Flight Center created cFS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[2, p2]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its Flight Software Systems Branch maintains it as open source under Apache 2.0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NASA defines it as “a platform and project independent reusable software framework and set of reusable software applications”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p7]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Current code and docs: github.com/nasa/cFS, release v7.0.1 as of Oct. 6, 2026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H Layers"/>
          <p:cNvSpPr/>
          <p:nvPr/>
        </p:nvSpPr>
        <p:spPr>
          <a:xfrm>
            <a:off x="457200" y="2410079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layer hides from the one above</a:t>
            </a:r>
            <a:endParaRPr lang="en-US" sz="1300" dirty="0"/>
          </a:p>
        </p:txBody>
      </p:sp>
      <p:graphicFrame>
        <p:nvGraphicFramePr>
          <p:cNvPr id="2" name="Lay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47823"/>
          <a:ext cx="82296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794760"/>
                <a:gridCol w="3017520"/>
              </a:tblGrid>
              <a:tr h="247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NASA says it provides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layer above does not see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8A"/>
                    </a:solidFill>
                  </a:tcPr>
                </a:tc>
              </a:tr>
              <a:tr h="4034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cFE services: ES, SB, EVS, TIME, TBL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“services that are common to most flight applications”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5E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[1, p25, p45]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task services, behind ES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5E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[1, p61]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and who receives a message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5E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[1, p85]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4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API to the cFE “regardless of the underlying real-time operating system”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5E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[1, p23]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real-time OS runs underneath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34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API “to underlying avionics hardware and board support package”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5E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[1, p24]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board and its support package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4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RTOS and boot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“software interface between the processor and the FSW”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5E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[1, p22]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processor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9" name="Layer rule text"/>
          <p:cNvSpPr/>
          <p:nvPr/>
        </p:nvSpPr>
        <p:spPr>
          <a:xfrm>
            <a:off x="457200" y="4564063"/>
            <a:ext cx="8229600" cy="18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NASA’s rule for every layer: “Each layer ‘hides’ its implementation and technology details.”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[3, slide 8]</a:t>
            </a:r>
            <a:endParaRPr lang="en-US" sz="1100" dirty="0"/>
          </a:p>
        </p:txBody>
      </p:sp>
      <p:sp>
        <p:nvSpPr>
          <p:cNvPr id="10" name="H Steps"/>
          <p:cNvSpPr/>
          <p:nvPr/>
        </p:nvSpPr>
        <p:spPr>
          <a:xfrm>
            <a:off x="457200" y="4855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housekeeping packet, six steps across the software bus</a:t>
            </a:r>
            <a:endParaRPr lang="en-US" sz="1300" dirty="0"/>
          </a:p>
        </p:txBody>
      </p:sp>
      <p:sp>
        <p:nvSpPr>
          <p:cNvPr id="11" name="Flight software boundary"/>
          <p:cNvSpPr/>
          <p:nvPr/>
        </p:nvSpPr>
        <p:spPr>
          <a:xfrm>
            <a:off x="457200" y="5093272"/>
            <a:ext cx="6053328" cy="2011680"/>
          </a:xfrm>
          <a:prstGeom prst="rect">
            <a:avLst/>
          </a:prstGeom>
          <a:solidFill>
            <a:srgbClr val="EEF3F8"/>
          </a:solidFill>
          <a:ln w="12700">
            <a:solidFill>
              <a:srgbClr val="C7CDD4"/>
            </a:solidFill>
            <a:prstDash val="dash"/>
          </a:ln>
        </p:spPr>
      </p:sp>
      <p:sp>
        <p:nvSpPr>
          <p:cNvPr id="12" name="Boundary label"/>
          <p:cNvSpPr/>
          <p:nvPr/>
        </p:nvSpPr>
        <p:spPr>
          <a:xfrm>
            <a:off x="548640" y="5138991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software, one processor</a:t>
            </a:r>
            <a:endParaRPr lang="en-US" sz="1000" dirty="0"/>
          </a:p>
        </p:txBody>
      </p:sp>
      <p:sp>
        <p:nvSpPr>
          <p:cNvPr id="13" name="Scheduler app"/>
          <p:cNvSpPr/>
          <p:nvPr/>
        </p:nvSpPr>
        <p:spPr>
          <a:xfrm>
            <a:off x="640080" y="5367591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app (SCH)</a:t>
            </a:r>
            <a:endParaRPr lang="en-US" sz="1100" dirty="0"/>
          </a:p>
        </p:txBody>
      </p:sp>
      <p:sp>
        <p:nvSpPr>
          <p:cNvPr id="14" name="Sending app"/>
          <p:cNvSpPr/>
          <p:nvPr/>
        </p:nvSpPr>
        <p:spPr>
          <a:xfrm>
            <a:off x="2606040" y="5367591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app</a:t>
            </a:r>
            <a:endParaRPr lang="en-US" sz="1100" dirty="0"/>
          </a:p>
        </p:txBody>
      </p:sp>
      <p:sp>
        <p:nvSpPr>
          <p:cNvPr id="15" name="Telemetry Output app"/>
          <p:cNvSpPr/>
          <p:nvPr/>
        </p:nvSpPr>
        <p:spPr>
          <a:xfrm>
            <a:off x="4663440" y="5367591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Output app (TO)</a:t>
            </a:r>
            <a:endParaRPr lang="en-US" sz="1100" dirty="0"/>
          </a:p>
        </p:txBody>
      </p:sp>
      <p:sp>
        <p:nvSpPr>
          <p:cNvPr id="16" name="Ground system"/>
          <p:cNvSpPr/>
          <p:nvPr/>
        </p:nvSpPr>
        <p:spPr>
          <a:xfrm>
            <a:off x="7178040" y="5367591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4E7EB"/>
          </a:solidFill>
          <a:ln w="12700">
            <a:solidFill>
              <a:srgbClr val="7C8591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system</a:t>
            </a:r>
            <a:endParaRPr lang="en-US" sz="1100" dirty="0"/>
          </a:p>
        </p:txBody>
      </p:sp>
      <p:sp>
        <p:nvSpPr>
          <p:cNvPr id="17" name="Sending app pipe"/>
          <p:cNvSpPr/>
          <p:nvPr/>
        </p:nvSpPr>
        <p:spPr>
          <a:xfrm>
            <a:off x="2697480" y="5843080"/>
            <a:ext cx="6858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</a:t>
            </a:r>
            <a:endParaRPr lang="en-US" sz="1000" dirty="0"/>
          </a:p>
        </p:txBody>
      </p:sp>
      <p:sp>
        <p:nvSpPr>
          <p:cNvPr id="18" name="TO pipe"/>
          <p:cNvSpPr/>
          <p:nvPr/>
        </p:nvSpPr>
        <p:spPr>
          <a:xfrm>
            <a:off x="4754880" y="5843080"/>
            <a:ext cx="6858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</a:t>
            </a:r>
            <a:endParaRPr lang="en-US" sz="1000" dirty="0"/>
          </a:p>
        </p:txBody>
      </p:sp>
      <p:sp>
        <p:nvSpPr>
          <p:cNvPr id="19" name="Software bus"/>
          <p:cNvSpPr/>
          <p:nvPr/>
        </p:nvSpPr>
        <p:spPr>
          <a:xfrm>
            <a:off x="640080" y="6419152"/>
            <a:ext cx="5715000" cy="548640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bus (cFE SB)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each message ID to every subscribed pipe</a:t>
            </a:r>
            <a:endParaRPr lang="en-US" sz="1200" dirty="0"/>
          </a:p>
        </p:txBody>
      </p:sp>
      <p:sp>
        <p:nvSpPr>
          <p:cNvPr id="20" name="Arrow a1"/>
          <p:cNvSpPr/>
          <p:nvPr/>
        </p:nvSpPr>
        <p:spPr>
          <a:xfrm>
            <a:off x="6126480" y="5806504"/>
            <a:ext cx="0" cy="612648"/>
          </a:xfrm>
          <a:prstGeom prst="line">
            <a:avLst/>
          </a:prstGeom>
          <a:noFill/>
          <a:ln w="19050">
            <a:solidFill>
              <a:srgbClr val="565E69"/>
            </a:solidFill>
            <a:prstDash val="dash"/>
            <a:headEnd type="none"/>
            <a:tailEnd type="triangle"/>
          </a:ln>
        </p:spPr>
      </p:sp>
      <p:sp>
        <p:nvSpPr>
          <p:cNvPr id="21" name="Arrow a2a"/>
          <p:cNvSpPr/>
          <p:nvPr/>
        </p:nvSpPr>
        <p:spPr>
          <a:xfrm>
            <a:off x="1371600" y="5806504"/>
            <a:ext cx="0" cy="612648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22" name="Arrow a2b"/>
          <p:cNvSpPr/>
          <p:nvPr/>
        </p:nvSpPr>
        <p:spPr>
          <a:xfrm flipV="1">
            <a:off x="3035808" y="6044248"/>
            <a:ext cx="0" cy="374904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23" name="Arrow a4"/>
          <p:cNvSpPr/>
          <p:nvPr/>
        </p:nvSpPr>
        <p:spPr>
          <a:xfrm>
            <a:off x="3886200" y="5806504"/>
            <a:ext cx="0" cy="612648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24" name="Arrow a5a"/>
          <p:cNvSpPr/>
          <p:nvPr/>
        </p:nvSpPr>
        <p:spPr>
          <a:xfrm flipV="1">
            <a:off x="5093208" y="6044248"/>
            <a:ext cx="0" cy="374904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25" name="Arrow a6"/>
          <p:cNvSpPr/>
          <p:nvPr/>
        </p:nvSpPr>
        <p:spPr>
          <a:xfrm>
            <a:off x="6355080" y="5587048"/>
            <a:ext cx="822960" cy="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26" name="UDP label"/>
          <p:cNvSpPr/>
          <p:nvPr/>
        </p:nvSpPr>
        <p:spPr>
          <a:xfrm>
            <a:off x="6510528" y="5641911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UDP/IP</a:t>
            </a:r>
            <a:endParaRPr lang="en-US" sz="1000" dirty="0"/>
          </a:p>
        </p:txBody>
      </p:sp>
      <p:sp>
        <p:nvSpPr>
          <p:cNvPr id="27" name="Badge b1"/>
          <p:cNvSpPr/>
          <p:nvPr/>
        </p:nvSpPr>
        <p:spPr>
          <a:xfrm>
            <a:off x="5815584" y="5998528"/>
            <a:ext cx="237744" cy="237744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Badge b2"/>
          <p:cNvSpPr/>
          <p:nvPr/>
        </p:nvSpPr>
        <p:spPr>
          <a:xfrm>
            <a:off x="1463040" y="5998528"/>
            <a:ext cx="237744" cy="237744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Badge b2b"/>
          <p:cNvSpPr/>
          <p:nvPr/>
        </p:nvSpPr>
        <p:spPr>
          <a:xfrm>
            <a:off x="2724912" y="6099111"/>
            <a:ext cx="237744" cy="237744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Badge b3"/>
          <p:cNvSpPr/>
          <p:nvPr/>
        </p:nvSpPr>
        <p:spPr>
          <a:xfrm>
            <a:off x="4242816" y="5468176"/>
            <a:ext cx="237744" cy="237744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Badge b4"/>
          <p:cNvSpPr/>
          <p:nvPr/>
        </p:nvSpPr>
        <p:spPr>
          <a:xfrm>
            <a:off x="3977640" y="5998528"/>
            <a:ext cx="237744" cy="237744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Badge b5"/>
          <p:cNvSpPr/>
          <p:nvPr/>
        </p:nvSpPr>
        <p:spPr>
          <a:xfrm>
            <a:off x="4782312" y="6099111"/>
            <a:ext cx="237744" cy="237744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Badge b6"/>
          <p:cNvSpPr/>
          <p:nvPr/>
        </p:nvSpPr>
        <p:spPr>
          <a:xfrm>
            <a:off x="6656832" y="5276152"/>
            <a:ext cx="237744" cy="237744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Step badge 1"/>
          <p:cNvSpPr/>
          <p:nvPr/>
        </p:nvSpPr>
        <p:spPr>
          <a:xfrm>
            <a:off x="457200" y="7242111"/>
            <a:ext cx="219456" cy="219456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35" name="Step 1"/>
          <p:cNvSpPr/>
          <p:nvPr/>
        </p:nvSpPr>
        <p:spPr>
          <a:xfrm>
            <a:off x="786384" y="7232967"/>
            <a:ext cx="3694176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Subscribe.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startup, TO creates a pipe and subscribes it to the packet’s ID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p85, p93]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36" name="Step badge 2"/>
          <p:cNvSpPr/>
          <p:nvPr/>
        </p:nvSpPr>
        <p:spPr>
          <a:xfrm>
            <a:off x="457200" y="7651305"/>
            <a:ext cx="219456" cy="219456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Step 2"/>
          <p:cNvSpPr/>
          <p:nvPr/>
        </p:nvSpPr>
        <p:spPr>
          <a:xfrm>
            <a:off x="786384" y="7642161"/>
            <a:ext cx="3694176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Request.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Scheduler app sends a housekeeping request over the bus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p86, p34]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38" name="Step badge 3"/>
          <p:cNvSpPr/>
          <p:nvPr/>
        </p:nvSpPr>
        <p:spPr>
          <a:xfrm>
            <a:off x="457200" y="8060499"/>
            <a:ext cx="219456" cy="219456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9" name="Step 3"/>
          <p:cNvSpPr/>
          <p:nvPr/>
        </p:nvSpPr>
        <p:spPr>
          <a:xfrm>
            <a:off x="786384" y="8051355"/>
            <a:ext cx="3694176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Build.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app fills its packet and stamps the time in the header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p88, p98]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40" name="Step badge 4"/>
          <p:cNvSpPr/>
          <p:nvPr/>
        </p:nvSpPr>
        <p:spPr>
          <a:xfrm>
            <a:off x="4663440" y="7242111"/>
            <a:ext cx="219456" cy="219456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Step 4"/>
          <p:cNvSpPr/>
          <p:nvPr/>
        </p:nvSpPr>
        <p:spPr>
          <a:xfrm>
            <a:off x="4992624" y="7232967"/>
            <a:ext cx="3694176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Send.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app sends it on the bus without knowing who subscribes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p85, p97]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42" name="Step badge 5"/>
          <p:cNvSpPr/>
          <p:nvPr/>
        </p:nvSpPr>
        <p:spPr>
          <a:xfrm>
            <a:off x="4663440" y="7651305"/>
            <a:ext cx="219456" cy="219456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43" name="Step 5"/>
          <p:cNvSpPr/>
          <p:nvPr/>
        </p:nvSpPr>
        <p:spPr>
          <a:xfrm>
            <a:off x="4992624" y="7642161"/>
            <a:ext cx="3694176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Route.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bus delivers it to every pipe subscribed to its ID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p85]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44" name="Step badge 6"/>
          <p:cNvSpPr/>
          <p:nvPr/>
        </p:nvSpPr>
        <p:spPr>
          <a:xfrm>
            <a:off x="4663440" y="8060499"/>
            <a:ext cx="219456" cy="219456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45" name="Step 6"/>
          <p:cNvSpPr/>
          <p:nvPr/>
        </p:nvSpPr>
        <p:spPr>
          <a:xfrm>
            <a:off x="4992624" y="8051355"/>
            <a:ext cx="3694176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Downlink.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reads its pipe and sends the packet over UDP/IP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p95, p34]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46" name="Steps note"/>
          <p:cNvSpPr/>
          <p:nvPr/>
        </p:nvSpPr>
        <p:spPr>
          <a:xfrm>
            <a:off x="457200" y="8478837"/>
            <a:ext cx="8229600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names: CFE_SB_SendMsg, CFE_SB_RcvMsg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p97]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Current guide: CFE_SB_TransmitMsg, CFE_SB_ReceiveBuffer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[5, 6.6, 6.7]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47" name="H Tradeoffs"/>
          <p:cNvSpPr/>
          <p:nvPr/>
        </p:nvSpPr>
        <p:spPr>
          <a:xfrm>
            <a:off x="457200" y="8755443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Tradeoffs NASA states</a:t>
            </a:r>
            <a:endParaRPr lang="en-US" sz="1300" dirty="0"/>
          </a:p>
        </p:txBody>
      </p:sp>
      <p:sp>
        <p:nvSpPr>
          <p:cNvPr id="48" name="Bullet 1"/>
          <p:cNvSpPr/>
          <p:nvPr/>
        </p:nvSpPr>
        <p:spPr>
          <a:xfrm>
            <a:off x="457200" y="89931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49" name="Tradeoff 1"/>
          <p:cNvSpPr/>
          <p:nvPr/>
        </p:nvSpPr>
        <p:spPr>
          <a:xfrm>
            <a:off x="685800" y="8993187"/>
            <a:ext cx="8001000" cy="18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 slow large messages.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send copies the message into a bus buffer, which NASA calls a “drawback”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[5, 6.8]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50" name="Bullet 2"/>
          <p:cNvSpPr/>
          <p:nvPr/>
        </p:nvSpPr>
        <p:spPr>
          <a:xfrm>
            <a:off x="457200" y="92206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51" name="Tradeoff 2"/>
          <p:cNvSpPr/>
          <p:nvPr/>
        </p:nvSpPr>
        <p:spPr>
          <a:xfrm>
            <a:off x="685800" y="9220644"/>
            <a:ext cx="8001000" cy="18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pipe rejects new messages,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one slow app cannot hold up routing to the others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[5, 6.1.2.1]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52" name="Bullet 3"/>
          <p:cNvSpPr/>
          <p:nvPr/>
        </p:nvSpPr>
        <p:spPr>
          <a:xfrm>
            <a:off x="457200" y="944810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53" name="Tradeoff 3"/>
          <p:cNvSpPr/>
          <p:nvPr/>
        </p:nvSpPr>
        <p:spPr>
          <a:xfrm>
            <a:off x="685800" y="9448101"/>
            <a:ext cx="8001000" cy="18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reset clears the bus.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“Any packet in transit at the time of the reset is discarded”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p90]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54" name="Bullet 4"/>
          <p:cNvSpPr/>
          <p:nvPr/>
        </p:nvSpPr>
        <p:spPr>
          <a:xfrm>
            <a:off x="457200" y="96755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55" name="Tradeoff 4"/>
          <p:cNvSpPr/>
          <p:nvPr/>
        </p:nvSpPr>
        <p:spPr>
          <a:xfrm>
            <a:off x="685800" y="9675558"/>
            <a:ext cx="8001000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abstraction has edges.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 design “is tightly coupled with the mission avionics design”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[1, p129]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on GPM the “Addition of PSP changed build infrastructure midstream”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[2, p14]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56" name="Bullet 5"/>
          <p:cNvSpPr/>
          <p:nvPr/>
        </p:nvSpPr>
        <p:spPr>
          <a:xfrm>
            <a:off x="457200" y="10066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50" dirty="0"/>
          </a:p>
        </p:txBody>
      </p:sp>
      <p:sp>
        <p:nvSpPr>
          <p:cNvPr id="57" name="Tradeoff 5"/>
          <p:cNvSpPr/>
          <p:nvPr/>
        </p:nvSpPr>
        <p:spPr>
          <a:xfrm>
            <a:off x="685800" y="10066464"/>
            <a:ext cx="8001000" cy="18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bundle is a starting point.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“has not been fully verified as an operational system” </a:t>
            </a:r>
            <a:pPr algn="l" indent="0" marL="0">
              <a:buNone/>
            </a:pPr>
            <a:r>
              <a:rPr lang="en-US" sz="11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pPr algn="l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58" name="Refs rule"/>
          <p:cNvSpPr/>
          <p:nvPr/>
        </p:nvSpPr>
        <p:spPr>
          <a:xfrm>
            <a:off x="457200" y="10376217"/>
            <a:ext cx="8229600" cy="0"/>
          </a:xfrm>
          <a:prstGeom prst="line">
            <a:avLst/>
          </a:prstGeom>
          <a:noFill/>
          <a:ln w="9525">
            <a:solidFill>
              <a:srgbClr val="C7CDD4"/>
            </a:solidFill>
            <a:prstDash val="solid"/>
          </a:ln>
        </p:spPr>
      </p:sp>
      <p:sp>
        <p:nvSpPr>
          <p:cNvPr id="59" name="References"/>
          <p:cNvSpPr/>
          <p:nvPr/>
        </p:nvSpPr>
        <p:spPr>
          <a:xfrm>
            <a:off x="457200" y="10440225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NASA/TM-20205000691/REV 1, "Core Flight System (cFS) Training," NASA Goddard, Jan. 2021, NTRS 20205011588 (printed pages).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McComas et al., "Core Flight System (cFS) a Low Cost Solution for SmallSats," NASA Goddard, Aug. 2015, NTRS 20150018075.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Baker, "core Flight System (cFS) Overview," NASA Goddard, 2023, NTRS 20230002444. [4] nasa/cFS README, read Oct. 6, 2026.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"cFE Application Developers Guide," nasa/cFE docs on GitHub, read Oct. 6, 2026 (section numbers).</a:t>
            </a:r>
            <a:endParaRPr lang="en-US" sz="1000" dirty="0"/>
          </a:p>
        </p:txBody>
      </p:sp>
      <p:sp>
        <p:nvSpPr>
          <p:cNvPr id="60" name="Footer"/>
          <p:cNvSpPr/>
          <p:nvPr/>
        </p:nvSpPr>
        <p:spPr>
          <a:xfrm>
            <a:off x="457200" y="11126025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brief drawn from public NASA documents.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pptxgenjs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Portfolio project, not affiliated with 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cFS architecture brief</dc:title>
  <dc:subject>Built with Claude Code agents from public NASA documents</dc:subject>
  <dc:creator>Logan Ankenbrandt</dc:creator>
  <cp:lastModifiedBy>pptxgenjs, run by Claude Code agents</cp:lastModifiedBy>
  <cp:revision>1</cp:revision>
  <dcterms:created xsi:type="dcterms:W3CDTF">2026-10-08T15:34:39Z</dcterms:created>
  <dcterms:modified xsi:type="dcterms:W3CDTF">2026-10-08T15:34:39Z</dcterms:modified>
</cp:coreProperties>
</file>