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457200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housekeeping packet crosses the software bus in six steps, and the app that sends it does not know who subscribed</a:t>
            </a:r>
            <a:endParaRPr lang="en-US" sz="2800" dirty="0"/>
          </a:p>
        </p:txBody>
      </p:sp>
      <p:sp>
        <p:nvSpPr>
          <p:cNvPr id="3" name="Flight software boundary"/>
          <p:cNvSpPr/>
          <p:nvPr/>
        </p:nvSpPr>
        <p:spPr>
          <a:xfrm>
            <a:off x="457200" y="1499616"/>
            <a:ext cx="6035040" cy="3931920"/>
          </a:xfrm>
          <a:prstGeom prst="rect">
            <a:avLst/>
          </a:prstGeom>
          <a:solidFill>
            <a:srgbClr val="EEF3F8"/>
          </a:solidFill>
          <a:ln w="12700">
            <a:solidFill>
              <a:srgbClr val="C7CDD4"/>
            </a:solidFill>
            <a:prstDash val="dash"/>
          </a:ln>
        </p:spPr>
      </p:sp>
      <p:sp>
        <p:nvSpPr>
          <p:cNvPr id="4" name="Boundary label"/>
          <p:cNvSpPr/>
          <p:nvPr/>
        </p:nvSpPr>
        <p:spPr>
          <a:xfrm>
            <a:off x="566928" y="1572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software, one processor</a:t>
            </a:r>
            <a:endParaRPr lang="en-US" sz="1100" dirty="0"/>
          </a:p>
        </p:txBody>
      </p:sp>
      <p:sp>
        <p:nvSpPr>
          <p:cNvPr id="5" name="Scheduler app"/>
          <p:cNvSpPr/>
          <p:nvPr/>
        </p:nvSpPr>
        <p:spPr>
          <a:xfrm>
            <a:off x="685800" y="1892808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app (SCH)</a:t>
            </a:r>
            <a:endParaRPr lang="en-US" sz="1300" dirty="0"/>
          </a:p>
        </p:txBody>
      </p:sp>
      <p:sp>
        <p:nvSpPr>
          <p:cNvPr id="6" name="Sending app"/>
          <p:cNvSpPr/>
          <p:nvPr/>
        </p:nvSpPr>
        <p:spPr>
          <a:xfrm>
            <a:off x="2606040" y="1892808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app</a:t>
            </a:r>
            <a:endParaRPr lang="en-US" sz="1300" dirty="0"/>
          </a:p>
        </p:txBody>
      </p:sp>
      <p:sp>
        <p:nvSpPr>
          <p:cNvPr id="7" name="Telemetry Output app"/>
          <p:cNvSpPr/>
          <p:nvPr/>
        </p:nvSpPr>
        <p:spPr>
          <a:xfrm>
            <a:off x="4709160" y="1892808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Output app (TO)</a:t>
            </a:r>
            <a:endParaRPr lang="en-US" sz="1300" dirty="0"/>
          </a:p>
        </p:txBody>
      </p:sp>
      <p:sp>
        <p:nvSpPr>
          <p:cNvPr id="8" name="Ground system"/>
          <p:cNvSpPr/>
          <p:nvPr/>
        </p:nvSpPr>
        <p:spPr>
          <a:xfrm>
            <a:off x="6858000" y="1892808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4E7EB"/>
          </a:solidFill>
          <a:ln w="12700">
            <a:solidFill>
              <a:srgbClr val="7C8591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system</a:t>
            </a:r>
            <a:endParaRPr lang="en-US" sz="1300" dirty="0"/>
          </a:p>
        </p:txBody>
      </p:sp>
      <p:sp>
        <p:nvSpPr>
          <p:cNvPr id="9" name="Sending app pipe"/>
          <p:cNvSpPr/>
          <p:nvPr/>
        </p:nvSpPr>
        <p:spPr>
          <a:xfrm>
            <a:off x="2697480" y="2578608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</a:t>
            </a:r>
            <a:endParaRPr lang="en-US" sz="1000" dirty="0"/>
          </a:p>
        </p:txBody>
      </p:sp>
      <p:sp>
        <p:nvSpPr>
          <p:cNvPr id="10" name="TO pipe"/>
          <p:cNvSpPr/>
          <p:nvPr/>
        </p:nvSpPr>
        <p:spPr>
          <a:xfrm>
            <a:off x="4800600" y="2578608"/>
            <a:ext cx="65836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2F5D8A"/>
            </a:solidFill>
            <a:prstDash val="solid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</a:t>
            </a:r>
            <a:endParaRPr lang="en-US" sz="1000" dirty="0"/>
          </a:p>
        </p:txBody>
      </p:sp>
      <p:sp>
        <p:nvSpPr>
          <p:cNvPr id="11" name="Software bus"/>
          <p:cNvSpPr/>
          <p:nvPr/>
        </p:nvSpPr>
        <p:spPr>
          <a:xfrm>
            <a:off x="685800" y="3767328"/>
            <a:ext cx="5623560" cy="731520"/>
          </a:xfrm>
          <a:prstGeom prst="rect">
            <a:avLst/>
          </a:prstGeom>
          <a:solidFill>
            <a:srgbClr val="2F5D8A"/>
          </a:solidFill>
          <a:ln/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bus (cFE SB)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each message ID to every subscribed pipe</a:t>
            </a:r>
            <a:endParaRPr lang="en-US" sz="1200" dirty="0"/>
          </a:p>
        </p:txBody>
      </p:sp>
      <p:sp>
        <p:nvSpPr>
          <p:cNvPr id="12" name="Other subscribers"/>
          <p:cNvSpPr/>
          <p:nvPr/>
        </p:nvSpPr>
        <p:spPr>
          <a:xfrm>
            <a:off x="4617720" y="484632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7C8591"/>
            </a:solidFill>
            <a:prstDash val="dash"/>
          </a:ln>
        </p:spPr>
        <p:txBody>
          <a:bodyPr wrap="square" lIns="38100" tIns="25400" rIns="381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subscribers, such as Data Storage</a:t>
            </a:r>
            <a:endParaRPr lang="en-US" sz="1100" dirty="0"/>
          </a:p>
        </p:txBody>
      </p:sp>
      <p:sp>
        <p:nvSpPr>
          <p:cNvPr id="13" name="Arrow a1"/>
          <p:cNvSpPr/>
          <p:nvPr/>
        </p:nvSpPr>
        <p:spPr>
          <a:xfrm>
            <a:off x="5989320" y="2532888"/>
            <a:ext cx="0" cy="1234440"/>
          </a:xfrm>
          <a:prstGeom prst="line">
            <a:avLst/>
          </a:prstGeom>
          <a:noFill/>
          <a:ln w="19050">
            <a:solidFill>
              <a:srgbClr val="565E69"/>
            </a:solidFill>
            <a:prstDash val="dash"/>
            <a:headEnd type="none"/>
            <a:tailEnd type="triangle"/>
          </a:ln>
        </p:spPr>
      </p:sp>
      <p:sp>
        <p:nvSpPr>
          <p:cNvPr id="14" name="Arrow a2a"/>
          <p:cNvSpPr/>
          <p:nvPr/>
        </p:nvSpPr>
        <p:spPr>
          <a:xfrm>
            <a:off x="1417320" y="2532888"/>
            <a:ext cx="0" cy="123444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5" name="Arrow a2b"/>
          <p:cNvSpPr/>
          <p:nvPr/>
        </p:nvSpPr>
        <p:spPr>
          <a:xfrm flipV="1">
            <a:off x="3026664" y="2852928"/>
            <a:ext cx="0" cy="91440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6" name="Arrow a4"/>
          <p:cNvSpPr/>
          <p:nvPr/>
        </p:nvSpPr>
        <p:spPr>
          <a:xfrm>
            <a:off x="3749040" y="2532888"/>
            <a:ext cx="0" cy="123444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7" name="Arrow a5a"/>
          <p:cNvSpPr/>
          <p:nvPr/>
        </p:nvSpPr>
        <p:spPr>
          <a:xfrm flipV="1">
            <a:off x="5129784" y="2852928"/>
            <a:ext cx="0" cy="91440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8" name="Arrow a5b"/>
          <p:cNvSpPr/>
          <p:nvPr/>
        </p:nvSpPr>
        <p:spPr>
          <a:xfrm>
            <a:off x="5458968" y="4498848"/>
            <a:ext cx="0" cy="347472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19" name="Arrow a6"/>
          <p:cNvSpPr/>
          <p:nvPr/>
        </p:nvSpPr>
        <p:spPr>
          <a:xfrm>
            <a:off x="6309360" y="2212848"/>
            <a:ext cx="548640" cy="0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headEnd type="none"/>
            <a:tailEnd type="triangle"/>
          </a:ln>
        </p:spPr>
      </p:sp>
      <p:sp>
        <p:nvSpPr>
          <p:cNvPr id="20" name="UDP label"/>
          <p:cNvSpPr/>
          <p:nvPr/>
        </p:nvSpPr>
        <p:spPr>
          <a:xfrm>
            <a:off x="6309360" y="22860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UDP/IP</a:t>
            </a:r>
            <a:endParaRPr lang="en-US" sz="1000" dirty="0"/>
          </a:p>
        </p:txBody>
      </p:sp>
      <p:sp>
        <p:nvSpPr>
          <p:cNvPr id="21" name="Badge b1"/>
          <p:cNvSpPr/>
          <p:nvPr/>
        </p:nvSpPr>
        <p:spPr>
          <a:xfrm>
            <a:off x="6080760" y="308152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Badge b2"/>
          <p:cNvSpPr/>
          <p:nvPr/>
        </p:nvSpPr>
        <p:spPr>
          <a:xfrm>
            <a:off x="1508760" y="303580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Badge b2b"/>
          <p:cNvSpPr/>
          <p:nvPr/>
        </p:nvSpPr>
        <p:spPr>
          <a:xfrm>
            <a:off x="2615184" y="321868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Badge b3"/>
          <p:cNvSpPr/>
          <p:nvPr/>
        </p:nvSpPr>
        <p:spPr>
          <a:xfrm>
            <a:off x="3867912" y="175564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Badge b4"/>
          <p:cNvSpPr/>
          <p:nvPr/>
        </p:nvSpPr>
        <p:spPr>
          <a:xfrm>
            <a:off x="3840480" y="308152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Badge b5"/>
          <p:cNvSpPr/>
          <p:nvPr/>
        </p:nvSpPr>
        <p:spPr>
          <a:xfrm>
            <a:off x="4736592" y="3218688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Badge b5b"/>
          <p:cNvSpPr/>
          <p:nvPr/>
        </p:nvSpPr>
        <p:spPr>
          <a:xfrm>
            <a:off x="5550408" y="4535424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Badge b6"/>
          <p:cNvSpPr/>
          <p:nvPr/>
        </p:nvSpPr>
        <p:spPr>
          <a:xfrm>
            <a:off x="6446520" y="1828800"/>
            <a:ext cx="274320" cy="274320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Step badge 1"/>
          <p:cNvSpPr/>
          <p:nvPr/>
        </p:nvSpPr>
        <p:spPr>
          <a:xfrm>
            <a:off x="8321040" y="1499616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tep 1"/>
          <p:cNvSpPr/>
          <p:nvPr/>
        </p:nvSpPr>
        <p:spPr>
          <a:xfrm>
            <a:off x="8686800" y="1490472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startup, TO subscribes a pipe to the packet’s ID.</a:t>
            </a:r>
            <a:endParaRPr lang="en-US" sz="1400" dirty="0"/>
          </a:p>
        </p:txBody>
      </p:sp>
      <p:sp>
        <p:nvSpPr>
          <p:cNvPr id="31" name="Step 1 cite"/>
          <p:cNvSpPr/>
          <p:nvPr/>
        </p:nvSpPr>
        <p:spPr>
          <a:xfrm>
            <a:off x="8686800" y="1938528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p85 and p93</a:t>
            </a:r>
            <a:endParaRPr lang="en-US" sz="1000" dirty="0"/>
          </a:p>
        </p:txBody>
      </p:sp>
      <p:sp>
        <p:nvSpPr>
          <p:cNvPr id="32" name="Step badge 2"/>
          <p:cNvSpPr/>
          <p:nvPr/>
        </p:nvSpPr>
        <p:spPr>
          <a:xfrm>
            <a:off x="8321040" y="2167128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tep 2"/>
          <p:cNvSpPr/>
          <p:nvPr/>
        </p:nvSpPr>
        <p:spPr>
          <a:xfrm>
            <a:off x="8686800" y="2157984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scheduler sends a housekeeping request over the bus.</a:t>
            </a:r>
            <a:endParaRPr lang="en-US" sz="1400" dirty="0"/>
          </a:p>
        </p:txBody>
      </p:sp>
      <p:sp>
        <p:nvSpPr>
          <p:cNvPr id="34" name="Step 2 cite"/>
          <p:cNvSpPr/>
          <p:nvPr/>
        </p:nvSpPr>
        <p:spPr>
          <a:xfrm>
            <a:off x="8686800" y="2606040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p86 and p34</a:t>
            </a:r>
            <a:endParaRPr lang="en-US" sz="1000" dirty="0"/>
          </a:p>
        </p:txBody>
      </p:sp>
      <p:sp>
        <p:nvSpPr>
          <p:cNvPr id="35" name="Step badge 3"/>
          <p:cNvSpPr/>
          <p:nvPr/>
        </p:nvSpPr>
        <p:spPr>
          <a:xfrm>
            <a:off x="8321040" y="2834640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tep 3"/>
          <p:cNvSpPr/>
          <p:nvPr/>
        </p:nvSpPr>
        <p:spPr>
          <a:xfrm>
            <a:off x="8686800" y="2825496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fills its housekeeping packet and stamps the time.</a:t>
            </a:r>
            <a:endParaRPr lang="en-US" sz="1400" dirty="0"/>
          </a:p>
        </p:txBody>
      </p:sp>
      <p:sp>
        <p:nvSpPr>
          <p:cNvPr id="37" name="Step 3 cite"/>
          <p:cNvSpPr/>
          <p:nvPr/>
        </p:nvSpPr>
        <p:spPr>
          <a:xfrm>
            <a:off x="8686800" y="3273552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p88 and p98</a:t>
            </a:r>
            <a:endParaRPr lang="en-US" sz="1000" dirty="0"/>
          </a:p>
        </p:txBody>
      </p:sp>
      <p:sp>
        <p:nvSpPr>
          <p:cNvPr id="38" name="Step badge 4"/>
          <p:cNvSpPr/>
          <p:nvPr/>
        </p:nvSpPr>
        <p:spPr>
          <a:xfrm>
            <a:off x="8321040" y="3502152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Step 4"/>
          <p:cNvSpPr/>
          <p:nvPr/>
        </p:nvSpPr>
        <p:spPr>
          <a:xfrm>
            <a:off x="8686800" y="349300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sends the packet without knowing who subscribes.</a:t>
            </a:r>
            <a:endParaRPr lang="en-US" sz="1400" dirty="0"/>
          </a:p>
        </p:txBody>
      </p:sp>
      <p:sp>
        <p:nvSpPr>
          <p:cNvPr id="40" name="Step 4 cite"/>
          <p:cNvSpPr/>
          <p:nvPr/>
        </p:nvSpPr>
        <p:spPr>
          <a:xfrm>
            <a:off x="8686800" y="3941064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p85 and p97</a:t>
            </a:r>
            <a:endParaRPr lang="en-US" sz="1000" dirty="0"/>
          </a:p>
        </p:txBody>
      </p:sp>
      <p:sp>
        <p:nvSpPr>
          <p:cNvPr id="41" name="Step badge 5"/>
          <p:cNvSpPr/>
          <p:nvPr/>
        </p:nvSpPr>
        <p:spPr>
          <a:xfrm>
            <a:off x="8321040" y="4169664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Step 5"/>
          <p:cNvSpPr/>
          <p:nvPr/>
        </p:nvSpPr>
        <p:spPr>
          <a:xfrm>
            <a:off x="8686800" y="4160520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routes it to every pipe subscribed to its ID.</a:t>
            </a:r>
            <a:endParaRPr lang="en-US" sz="1400" dirty="0"/>
          </a:p>
        </p:txBody>
      </p:sp>
      <p:sp>
        <p:nvSpPr>
          <p:cNvPr id="43" name="Step 5 cite"/>
          <p:cNvSpPr/>
          <p:nvPr/>
        </p:nvSpPr>
        <p:spPr>
          <a:xfrm>
            <a:off x="8686800" y="4608576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p85</a:t>
            </a:r>
            <a:endParaRPr lang="en-US" sz="1000" dirty="0"/>
          </a:p>
        </p:txBody>
      </p:sp>
      <p:sp>
        <p:nvSpPr>
          <p:cNvPr id="44" name="Step badge 6"/>
          <p:cNvSpPr/>
          <p:nvPr/>
        </p:nvSpPr>
        <p:spPr>
          <a:xfrm>
            <a:off x="8321040" y="4837176"/>
            <a:ext cx="256032" cy="256032"/>
          </a:xfrm>
          <a:prstGeom prst="ellipse">
            <a:avLst/>
          </a:prstGeom>
          <a:solidFill>
            <a:srgbClr val="2F5D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Step 6"/>
          <p:cNvSpPr/>
          <p:nvPr/>
        </p:nvSpPr>
        <p:spPr>
          <a:xfrm>
            <a:off x="8686800" y="4828032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Downlink. </a:t>
            </a:r>
            <a:pPr algn="l" indent="0" marL="0">
              <a:buNone/>
            </a:pPr>
            <a:r>
              <a:rPr lang="en-US" sz="1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reads its pipe and sends the packet over UDP/IP.</a:t>
            </a:r>
            <a:endParaRPr lang="en-US" sz="1400" dirty="0"/>
          </a:p>
        </p:txBody>
      </p:sp>
      <p:sp>
        <p:nvSpPr>
          <p:cNvPr id="46" name="Step 6 cite"/>
          <p:cNvSpPr/>
          <p:nvPr/>
        </p:nvSpPr>
        <p:spPr>
          <a:xfrm>
            <a:off x="8686800" y="5276088"/>
            <a:ext cx="30449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memo, p95 and p34</a:t>
            </a:r>
            <a:endParaRPr lang="en-US" sz="1000" dirty="0"/>
          </a:p>
        </p:txBody>
      </p:sp>
      <p:sp>
        <p:nvSpPr>
          <p:cNvPr id="47" name="Sources"/>
          <p:cNvSpPr/>
          <p:nvPr/>
        </p:nvSpPr>
        <p:spPr>
          <a:xfrm>
            <a:off x="457200" y="559612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steps from NASA/TM-20205000691/REV 1 (the 2021 memo), Jan. 2021, NTRS 20205011588, printed pages. TO in the open-source bundle is a lab app meant as an example (nasa/cFS README). The memo’s CFE_SB_SendMsg and CFE_SB_RcvMsg (p97) are CFE_SB_TransmitMsg and CFE_SB_ReceiveBuffer in the current cFE Application Developers Guide (nasa/cFE, sec. 6.6 and 6.7, read Oct. 6, 2026).</a:t>
            </a:r>
            <a:endParaRPr lang="en-US" sz="1000" dirty="0"/>
          </a:p>
        </p:txBody>
      </p:sp>
      <p:sp>
        <p:nvSpPr>
          <p:cNvPr id="48" name="Footer"/>
          <p:cNvSpPr/>
          <p:nvPr/>
        </p:nvSpPr>
        <p:spPr>
          <a:xfrm>
            <a:off x="457200" y="6144768"/>
            <a:ext cx="11274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diagram drawn from public NASA documents.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Portfolio project, not affiliated with NASA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cFS software bus: one packet in six steps</dc:title>
  <dc:subject>Built with Claude Code agents from public NASA documents</dc:subject>
  <dc:creator>Logan Ankenbrandt</dc:creator>
  <cp:lastModifiedBy>pptxgenjs, run by Claude Code agents</cp:lastModifiedBy>
  <cp:revision>1</cp:revision>
  <dcterms:created xsi:type="dcterms:W3CDTF">2026-10-08T15:34:39Z</dcterms:created>
  <dcterms:modified xsi:type="dcterms:W3CDTF">2026-10-08T15:34:39Z</dcterms:modified>
</cp:coreProperties>
</file>