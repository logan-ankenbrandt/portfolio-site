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David McComas, Susanne Strege and Jonathan Wilmot, "Core Flight System (cFS) a Low Cost Solution for SmallSats", NASA GSFC, August 2015, NTRS 20150018075, page 8. https://ntrs.nasa.gov/citations/20150018075. Work of the US Gov. Public Use Permitted. Faithful rebuild. The log is slides/02-cfs-key-features/log-faithful.md.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gradient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F8FDFE"/>
              </a:gs>
              <a:gs pos="41700">
                <a:srgbClr val="F7FCFF"/>
              </a:gs>
              <a:gs pos="55600">
                <a:srgbClr val="F5FAFD"/>
              </a:gs>
              <a:gs pos="66700">
                <a:srgbClr val="EBF6F8"/>
              </a:gs>
              <a:gs pos="75000">
                <a:srgbClr val="D7EAF1"/>
              </a:gs>
              <a:gs pos="77800">
                <a:srgbClr val="CAE3EA"/>
              </a:gs>
              <a:gs pos="83300">
                <a:srgbClr val="A1CBD9"/>
              </a:gs>
              <a:gs pos="88900">
                <a:srgbClr val="82BACB"/>
              </a:gs>
              <a:gs pos="91700">
                <a:srgbClr val="76B5C6"/>
              </a:gs>
              <a:gs pos="95800">
                <a:srgbClr val="6FB0C2"/>
              </a:gs>
              <a:gs pos="100000">
                <a:srgbClr val="6EAFC1"/>
              </a:gs>
            </a:gsLst>
            <a:lin ang="5400000" scaled="0"/>
          </a:gradFill>
          <a:ln/>
        </p:spPr>
      </p:sp>
      <p:sp>
        <p:nvSpPr>
          <p:cNvPr id="3" name="Background lift 1"/>
          <p:cNvSpPr/>
          <p:nvPr/>
        </p:nvSpPr>
        <p:spPr>
          <a:xfrm>
            <a:off x="0" y="3470275"/>
            <a:ext cx="9144000" cy="3387725"/>
          </a:xfrm>
          <a:custGeom>
            <a:avLst/>
            <a:gdLst/>
            <a:ahLst/>
            <a:cxnLst/>
            <a:rect l="l" t="t" r="r" b="b"/>
            <a:pathLst>
              <a:path w="9144000" h="3387725">
                <a:moveTo>
                  <a:pt x="9144000" y="1863725"/>
                </a:moveTo>
                <a:lnTo>
                  <a:pt x="9144000" y="1945020"/>
                </a:lnTo>
                <a:lnTo>
                  <a:pt x="9144000" y="2026159"/>
                </a:lnTo>
                <a:lnTo>
                  <a:pt x="9144000" y="2106990"/>
                </a:lnTo>
                <a:lnTo>
                  <a:pt x="9144000" y="2187357"/>
                </a:lnTo>
                <a:lnTo>
                  <a:pt x="9144000" y="2267109"/>
                </a:lnTo>
                <a:lnTo>
                  <a:pt x="9144000" y="2346093"/>
                </a:lnTo>
                <a:lnTo>
                  <a:pt x="9144000" y="2424158"/>
                </a:lnTo>
                <a:lnTo>
                  <a:pt x="9144000" y="2501156"/>
                </a:lnTo>
                <a:lnTo>
                  <a:pt x="9144000" y="2576942"/>
                </a:lnTo>
                <a:lnTo>
                  <a:pt x="9144000" y="2651369"/>
                </a:lnTo>
                <a:lnTo>
                  <a:pt x="9144000" y="2724297"/>
                </a:lnTo>
                <a:lnTo>
                  <a:pt x="9114390" y="2795588"/>
                </a:lnTo>
                <a:lnTo>
                  <a:pt x="8995672" y="2865104"/>
                </a:lnTo>
                <a:lnTo>
                  <a:pt x="8868534" y="2932714"/>
                </a:lnTo>
                <a:lnTo>
                  <a:pt x="8733218" y="2998289"/>
                </a:lnTo>
                <a:lnTo>
                  <a:pt x="8589980" y="3061704"/>
                </a:lnTo>
                <a:lnTo>
                  <a:pt x="8439093" y="3122839"/>
                </a:lnTo>
                <a:lnTo>
                  <a:pt x="8280846" y="3181578"/>
                </a:lnTo>
                <a:lnTo>
                  <a:pt x="8115538" y="3237807"/>
                </a:lnTo>
                <a:lnTo>
                  <a:pt x="7943485" y="3291421"/>
                </a:lnTo>
                <a:lnTo>
                  <a:pt x="7765015" y="3342317"/>
                </a:lnTo>
                <a:lnTo>
                  <a:pt x="7580466" y="3387725"/>
                </a:lnTo>
                <a:lnTo>
                  <a:pt x="7390190" y="3387725"/>
                </a:lnTo>
                <a:lnTo>
                  <a:pt x="7194550" y="3387725"/>
                </a:lnTo>
                <a:lnTo>
                  <a:pt x="6993918" y="3387725"/>
                </a:lnTo>
                <a:lnTo>
                  <a:pt x="6788675" y="3387725"/>
                </a:lnTo>
                <a:lnTo>
                  <a:pt x="6579213" y="3387725"/>
                </a:lnTo>
                <a:lnTo>
                  <a:pt x="6365930" y="3387725"/>
                </a:lnTo>
                <a:lnTo>
                  <a:pt x="6149232" y="3387725"/>
                </a:lnTo>
                <a:lnTo>
                  <a:pt x="5929532" y="3387725"/>
                </a:lnTo>
                <a:lnTo>
                  <a:pt x="5707247" y="3387725"/>
                </a:lnTo>
                <a:lnTo>
                  <a:pt x="5482802" y="3387725"/>
                </a:lnTo>
                <a:lnTo>
                  <a:pt x="5256623" y="3387725"/>
                </a:lnTo>
                <a:lnTo>
                  <a:pt x="5029141" y="3387725"/>
                </a:lnTo>
                <a:lnTo>
                  <a:pt x="4800788" y="3387725"/>
                </a:lnTo>
                <a:lnTo>
                  <a:pt x="4572000" y="3387725"/>
                </a:lnTo>
                <a:lnTo>
                  <a:pt x="4343212" y="3387725"/>
                </a:lnTo>
                <a:lnTo>
                  <a:pt x="4114859" y="3387725"/>
                </a:lnTo>
                <a:lnTo>
                  <a:pt x="3887377" y="3387725"/>
                </a:lnTo>
                <a:lnTo>
                  <a:pt x="3661198" y="3387725"/>
                </a:lnTo>
                <a:lnTo>
                  <a:pt x="3436753" y="3387725"/>
                </a:lnTo>
                <a:lnTo>
                  <a:pt x="3214468" y="3387725"/>
                </a:lnTo>
                <a:lnTo>
                  <a:pt x="2994768" y="3387725"/>
                </a:lnTo>
                <a:lnTo>
                  <a:pt x="2778070" y="3387725"/>
                </a:lnTo>
                <a:lnTo>
                  <a:pt x="2564787" y="3387725"/>
                </a:lnTo>
                <a:lnTo>
                  <a:pt x="2355325" y="3387725"/>
                </a:lnTo>
                <a:lnTo>
                  <a:pt x="2150082" y="3387725"/>
                </a:lnTo>
                <a:lnTo>
                  <a:pt x="1949450" y="3387725"/>
                </a:lnTo>
                <a:lnTo>
                  <a:pt x="1753810" y="3387725"/>
                </a:lnTo>
                <a:lnTo>
                  <a:pt x="1563534" y="3387725"/>
                </a:lnTo>
                <a:lnTo>
                  <a:pt x="1378985" y="3342317"/>
                </a:lnTo>
                <a:lnTo>
                  <a:pt x="1200515" y="3291421"/>
                </a:lnTo>
                <a:lnTo>
                  <a:pt x="1028462" y="3237807"/>
                </a:lnTo>
                <a:lnTo>
                  <a:pt x="863154" y="3181578"/>
                </a:lnTo>
                <a:lnTo>
                  <a:pt x="704907" y="3122839"/>
                </a:lnTo>
                <a:lnTo>
                  <a:pt x="554020" y="3061704"/>
                </a:lnTo>
                <a:lnTo>
                  <a:pt x="410782" y="2998289"/>
                </a:lnTo>
                <a:lnTo>
                  <a:pt x="275466" y="2932714"/>
                </a:lnTo>
                <a:lnTo>
                  <a:pt x="148328" y="2865104"/>
                </a:lnTo>
                <a:lnTo>
                  <a:pt x="29610" y="2795588"/>
                </a:lnTo>
                <a:lnTo>
                  <a:pt x="0" y="2724297"/>
                </a:lnTo>
                <a:lnTo>
                  <a:pt x="0" y="2651369"/>
                </a:lnTo>
                <a:lnTo>
                  <a:pt x="0" y="2576942"/>
                </a:lnTo>
                <a:lnTo>
                  <a:pt x="0" y="2501156"/>
                </a:lnTo>
                <a:lnTo>
                  <a:pt x="0" y="2424158"/>
                </a:lnTo>
                <a:lnTo>
                  <a:pt x="0" y="2346093"/>
                </a:lnTo>
                <a:lnTo>
                  <a:pt x="0" y="2267109"/>
                </a:lnTo>
                <a:lnTo>
                  <a:pt x="0" y="2187357"/>
                </a:lnTo>
                <a:lnTo>
                  <a:pt x="0" y="2106990"/>
                </a:lnTo>
                <a:lnTo>
                  <a:pt x="0" y="2026159"/>
                </a:lnTo>
                <a:lnTo>
                  <a:pt x="0" y="1945020"/>
                </a:lnTo>
                <a:lnTo>
                  <a:pt x="0" y="1863725"/>
                </a:lnTo>
                <a:lnTo>
                  <a:pt x="0" y="1782430"/>
                </a:lnTo>
                <a:lnTo>
                  <a:pt x="0" y="1701291"/>
                </a:lnTo>
                <a:lnTo>
                  <a:pt x="0" y="1620460"/>
                </a:lnTo>
                <a:lnTo>
                  <a:pt x="0" y="1540093"/>
                </a:lnTo>
                <a:lnTo>
                  <a:pt x="0" y="1460341"/>
                </a:lnTo>
                <a:lnTo>
                  <a:pt x="0" y="1381357"/>
                </a:lnTo>
                <a:lnTo>
                  <a:pt x="0" y="1303292"/>
                </a:lnTo>
                <a:lnTo>
                  <a:pt x="0" y="1226294"/>
                </a:lnTo>
                <a:lnTo>
                  <a:pt x="0" y="1150508"/>
                </a:lnTo>
                <a:lnTo>
                  <a:pt x="0" y="1076081"/>
                </a:lnTo>
                <a:lnTo>
                  <a:pt x="0" y="1003153"/>
                </a:lnTo>
                <a:lnTo>
                  <a:pt x="29610" y="931862"/>
                </a:lnTo>
                <a:lnTo>
                  <a:pt x="148328" y="862346"/>
                </a:lnTo>
                <a:lnTo>
                  <a:pt x="275466" y="794736"/>
                </a:lnTo>
                <a:lnTo>
                  <a:pt x="410782" y="729161"/>
                </a:lnTo>
                <a:lnTo>
                  <a:pt x="554020" y="665746"/>
                </a:lnTo>
                <a:lnTo>
                  <a:pt x="704907" y="604611"/>
                </a:lnTo>
                <a:lnTo>
                  <a:pt x="863154" y="545872"/>
                </a:lnTo>
                <a:lnTo>
                  <a:pt x="1028462" y="489643"/>
                </a:lnTo>
                <a:lnTo>
                  <a:pt x="1200515" y="436029"/>
                </a:lnTo>
                <a:lnTo>
                  <a:pt x="1378985" y="385133"/>
                </a:lnTo>
                <a:lnTo>
                  <a:pt x="1563534" y="337051"/>
                </a:lnTo>
                <a:lnTo>
                  <a:pt x="1753810" y="291875"/>
                </a:lnTo>
                <a:lnTo>
                  <a:pt x="1949450" y="249692"/>
                </a:lnTo>
                <a:lnTo>
                  <a:pt x="2150082" y="210581"/>
                </a:lnTo>
                <a:lnTo>
                  <a:pt x="2355325" y="174617"/>
                </a:lnTo>
                <a:lnTo>
                  <a:pt x="2564787" y="141868"/>
                </a:lnTo>
                <a:lnTo>
                  <a:pt x="2778070" y="112396"/>
                </a:lnTo>
                <a:lnTo>
                  <a:pt x="2994768" y="86259"/>
                </a:lnTo>
                <a:lnTo>
                  <a:pt x="3214468" y="63505"/>
                </a:lnTo>
                <a:lnTo>
                  <a:pt x="3436753" y="44178"/>
                </a:lnTo>
                <a:lnTo>
                  <a:pt x="3661198" y="28314"/>
                </a:lnTo>
                <a:lnTo>
                  <a:pt x="3887377" y="15944"/>
                </a:lnTo>
                <a:lnTo>
                  <a:pt x="4114859" y="7092"/>
                </a:lnTo>
                <a:lnTo>
                  <a:pt x="4343212" y="1774"/>
                </a:lnTo>
                <a:lnTo>
                  <a:pt x="4572000" y="0"/>
                </a:lnTo>
                <a:lnTo>
                  <a:pt x="4800788" y="1774"/>
                </a:lnTo>
                <a:lnTo>
                  <a:pt x="5029141" y="7092"/>
                </a:lnTo>
                <a:lnTo>
                  <a:pt x="5256623" y="15944"/>
                </a:lnTo>
                <a:lnTo>
                  <a:pt x="5482802" y="28314"/>
                </a:lnTo>
                <a:lnTo>
                  <a:pt x="5707247" y="44178"/>
                </a:lnTo>
                <a:lnTo>
                  <a:pt x="5929532" y="63505"/>
                </a:lnTo>
                <a:lnTo>
                  <a:pt x="6149232" y="86259"/>
                </a:lnTo>
                <a:lnTo>
                  <a:pt x="6365930" y="112396"/>
                </a:lnTo>
                <a:lnTo>
                  <a:pt x="6579213" y="141868"/>
                </a:lnTo>
                <a:lnTo>
                  <a:pt x="6788675" y="174617"/>
                </a:lnTo>
                <a:lnTo>
                  <a:pt x="6993918" y="210581"/>
                </a:lnTo>
                <a:lnTo>
                  <a:pt x="7194550" y="249692"/>
                </a:lnTo>
                <a:lnTo>
                  <a:pt x="7390190" y="291875"/>
                </a:lnTo>
                <a:lnTo>
                  <a:pt x="7580466" y="337051"/>
                </a:lnTo>
                <a:lnTo>
                  <a:pt x="7765015" y="385133"/>
                </a:lnTo>
                <a:lnTo>
                  <a:pt x="7943485" y="436029"/>
                </a:lnTo>
                <a:lnTo>
                  <a:pt x="8115538" y="489643"/>
                </a:lnTo>
                <a:lnTo>
                  <a:pt x="8280846" y="545872"/>
                </a:lnTo>
                <a:lnTo>
                  <a:pt x="8439093" y="604611"/>
                </a:lnTo>
                <a:lnTo>
                  <a:pt x="8589980" y="665746"/>
                </a:lnTo>
                <a:lnTo>
                  <a:pt x="8733218" y="729161"/>
                </a:lnTo>
                <a:lnTo>
                  <a:pt x="8868534" y="794736"/>
                </a:lnTo>
                <a:lnTo>
                  <a:pt x="8995672" y="862346"/>
                </a:lnTo>
                <a:lnTo>
                  <a:pt x="9114390" y="931863"/>
                </a:lnTo>
                <a:lnTo>
                  <a:pt x="9144000" y="1003153"/>
                </a:lnTo>
                <a:lnTo>
                  <a:pt x="9144000" y="1076081"/>
                </a:lnTo>
                <a:lnTo>
                  <a:pt x="9144000" y="1150508"/>
                </a:lnTo>
                <a:lnTo>
                  <a:pt x="9144000" y="1226294"/>
                </a:lnTo>
                <a:lnTo>
                  <a:pt x="9144000" y="1303292"/>
                </a:lnTo>
                <a:lnTo>
                  <a:pt x="9144000" y="1381357"/>
                </a:lnTo>
                <a:lnTo>
                  <a:pt x="9144000" y="1460341"/>
                </a:lnTo>
                <a:lnTo>
                  <a:pt x="9144000" y="1540093"/>
                </a:lnTo>
                <a:lnTo>
                  <a:pt x="9144000" y="1620460"/>
                </a:lnTo>
                <a:lnTo>
                  <a:pt x="9144000" y="1701291"/>
                </a:lnTo>
                <a:lnTo>
                  <a:pt x="9144000" y="1782430"/>
                </a:lnTo>
                <a:close/>
              </a:path>
            </a:pathLst>
          </a:custGeom>
          <a:solidFill>
            <a:srgbClr val="FFFFFF">
              <a:alpha val="7000"/>
            </a:srgbClr>
          </a:solidFill>
          <a:ln/>
          <a:effectLst>
            <a:softEdge rad="203200"/>
          </a:effectLst>
        </p:spPr>
      </p:sp>
      <p:sp>
        <p:nvSpPr>
          <p:cNvPr id="4" name="Background lift 2"/>
          <p:cNvSpPr/>
          <p:nvPr/>
        </p:nvSpPr>
        <p:spPr>
          <a:xfrm>
            <a:off x="149860" y="3752215"/>
            <a:ext cx="8844280" cy="3105785"/>
          </a:xfrm>
          <a:custGeom>
            <a:avLst/>
            <a:gdLst/>
            <a:ahLst/>
            <a:cxnLst/>
            <a:rect l="l" t="t" r="r" b="b"/>
            <a:pathLst>
              <a:path w="8844280" h="3105785">
                <a:moveTo>
                  <a:pt x="8844280" y="1581785"/>
                </a:moveTo>
                <a:lnTo>
                  <a:pt x="8840071" y="1650781"/>
                </a:lnTo>
                <a:lnTo>
                  <a:pt x="8827452" y="1719647"/>
                </a:lnTo>
                <a:lnTo>
                  <a:pt x="8806448" y="1788249"/>
                </a:lnTo>
                <a:lnTo>
                  <a:pt x="8777098" y="1856459"/>
                </a:lnTo>
                <a:lnTo>
                  <a:pt x="8739458" y="1924146"/>
                </a:lnTo>
                <a:lnTo>
                  <a:pt x="8693599" y="1991181"/>
                </a:lnTo>
                <a:lnTo>
                  <a:pt x="8639610" y="2057437"/>
                </a:lnTo>
                <a:lnTo>
                  <a:pt x="8577592" y="2122787"/>
                </a:lnTo>
                <a:lnTo>
                  <a:pt x="8507665" y="2187108"/>
                </a:lnTo>
                <a:lnTo>
                  <a:pt x="8429960" y="2250276"/>
                </a:lnTo>
                <a:lnTo>
                  <a:pt x="8344626" y="2312172"/>
                </a:lnTo>
                <a:lnTo>
                  <a:pt x="8251826" y="2372677"/>
                </a:lnTo>
                <a:lnTo>
                  <a:pt x="8151735" y="2431677"/>
                </a:lnTo>
                <a:lnTo>
                  <a:pt x="8044545" y="2489060"/>
                </a:lnTo>
                <a:lnTo>
                  <a:pt x="7930460" y="2544715"/>
                </a:lnTo>
                <a:lnTo>
                  <a:pt x="7809696" y="2598537"/>
                </a:lnTo>
                <a:lnTo>
                  <a:pt x="7682484" y="2650423"/>
                </a:lnTo>
                <a:lnTo>
                  <a:pt x="7549065" y="2700276"/>
                </a:lnTo>
                <a:lnTo>
                  <a:pt x="7409694" y="2747999"/>
                </a:lnTo>
                <a:lnTo>
                  <a:pt x="7264637" y="2793503"/>
                </a:lnTo>
                <a:lnTo>
                  <a:pt x="7114168" y="2836699"/>
                </a:lnTo>
                <a:lnTo>
                  <a:pt x="6958575" y="2877507"/>
                </a:lnTo>
                <a:lnTo>
                  <a:pt x="6798154" y="2915849"/>
                </a:lnTo>
                <a:lnTo>
                  <a:pt x="6633210" y="2951651"/>
                </a:lnTo>
                <a:lnTo>
                  <a:pt x="6464057" y="2984845"/>
                </a:lnTo>
                <a:lnTo>
                  <a:pt x="6291017" y="3015369"/>
                </a:lnTo>
                <a:lnTo>
                  <a:pt x="6114420" y="3043164"/>
                </a:lnTo>
                <a:lnTo>
                  <a:pt x="5934601" y="3068177"/>
                </a:lnTo>
                <a:lnTo>
                  <a:pt x="5751903" y="3090360"/>
                </a:lnTo>
                <a:lnTo>
                  <a:pt x="5566674" y="3105785"/>
                </a:lnTo>
                <a:lnTo>
                  <a:pt x="5379266" y="3105785"/>
                </a:lnTo>
                <a:lnTo>
                  <a:pt x="5190037" y="3105785"/>
                </a:lnTo>
                <a:lnTo>
                  <a:pt x="4999345" y="3105785"/>
                </a:lnTo>
                <a:lnTo>
                  <a:pt x="4807555" y="3105785"/>
                </a:lnTo>
                <a:lnTo>
                  <a:pt x="4615031" y="3105785"/>
                </a:lnTo>
                <a:lnTo>
                  <a:pt x="4422140" y="3105785"/>
                </a:lnTo>
                <a:lnTo>
                  <a:pt x="4229249" y="3105785"/>
                </a:lnTo>
                <a:lnTo>
                  <a:pt x="4036725" y="3105785"/>
                </a:lnTo>
                <a:lnTo>
                  <a:pt x="3844935" y="3105785"/>
                </a:lnTo>
                <a:lnTo>
                  <a:pt x="3654243" y="3105785"/>
                </a:lnTo>
                <a:lnTo>
                  <a:pt x="3465014" y="3105785"/>
                </a:lnTo>
                <a:lnTo>
                  <a:pt x="3277606" y="3105785"/>
                </a:lnTo>
                <a:lnTo>
                  <a:pt x="3092377" y="3090360"/>
                </a:lnTo>
                <a:lnTo>
                  <a:pt x="2909679" y="3068177"/>
                </a:lnTo>
                <a:lnTo>
                  <a:pt x="2729860" y="3043164"/>
                </a:lnTo>
                <a:lnTo>
                  <a:pt x="2553263" y="3015369"/>
                </a:lnTo>
                <a:lnTo>
                  <a:pt x="2380223" y="2984845"/>
                </a:lnTo>
                <a:lnTo>
                  <a:pt x="2211070" y="2951651"/>
                </a:lnTo>
                <a:lnTo>
                  <a:pt x="2046126" y="2915849"/>
                </a:lnTo>
                <a:lnTo>
                  <a:pt x="1885705" y="2877507"/>
                </a:lnTo>
                <a:lnTo>
                  <a:pt x="1730112" y="2836699"/>
                </a:lnTo>
                <a:lnTo>
                  <a:pt x="1579643" y="2793503"/>
                </a:lnTo>
                <a:lnTo>
                  <a:pt x="1434586" y="2747999"/>
                </a:lnTo>
                <a:lnTo>
                  <a:pt x="1295215" y="2700276"/>
                </a:lnTo>
                <a:lnTo>
                  <a:pt x="1161796" y="2650423"/>
                </a:lnTo>
                <a:lnTo>
                  <a:pt x="1034584" y="2598537"/>
                </a:lnTo>
                <a:lnTo>
                  <a:pt x="913820" y="2544715"/>
                </a:lnTo>
                <a:lnTo>
                  <a:pt x="799735" y="2489060"/>
                </a:lnTo>
                <a:lnTo>
                  <a:pt x="692545" y="2431677"/>
                </a:lnTo>
                <a:lnTo>
                  <a:pt x="592454" y="2372678"/>
                </a:lnTo>
                <a:lnTo>
                  <a:pt x="499654" y="2312172"/>
                </a:lnTo>
                <a:lnTo>
                  <a:pt x="414320" y="2250276"/>
                </a:lnTo>
                <a:lnTo>
                  <a:pt x="336615" y="2187108"/>
                </a:lnTo>
                <a:lnTo>
                  <a:pt x="266688" y="2122787"/>
                </a:lnTo>
                <a:lnTo>
                  <a:pt x="204670" y="2057437"/>
                </a:lnTo>
                <a:lnTo>
                  <a:pt x="150681" y="1991181"/>
                </a:lnTo>
                <a:lnTo>
                  <a:pt x="104822" y="1924146"/>
                </a:lnTo>
                <a:lnTo>
                  <a:pt x="67182" y="1856459"/>
                </a:lnTo>
                <a:lnTo>
                  <a:pt x="37832" y="1788249"/>
                </a:lnTo>
                <a:lnTo>
                  <a:pt x="16828" y="1719647"/>
                </a:lnTo>
                <a:lnTo>
                  <a:pt x="4209" y="1650781"/>
                </a:lnTo>
                <a:lnTo>
                  <a:pt x="0" y="1581785"/>
                </a:lnTo>
                <a:lnTo>
                  <a:pt x="4209" y="1512789"/>
                </a:lnTo>
                <a:lnTo>
                  <a:pt x="16828" y="1443923"/>
                </a:lnTo>
                <a:lnTo>
                  <a:pt x="37832" y="1375321"/>
                </a:lnTo>
                <a:lnTo>
                  <a:pt x="67182" y="1307111"/>
                </a:lnTo>
                <a:lnTo>
                  <a:pt x="104822" y="1239424"/>
                </a:lnTo>
                <a:lnTo>
                  <a:pt x="150681" y="1172389"/>
                </a:lnTo>
                <a:lnTo>
                  <a:pt x="204670" y="1106133"/>
                </a:lnTo>
                <a:lnTo>
                  <a:pt x="266688" y="1040783"/>
                </a:lnTo>
                <a:lnTo>
                  <a:pt x="336615" y="976462"/>
                </a:lnTo>
                <a:lnTo>
                  <a:pt x="414320" y="913294"/>
                </a:lnTo>
                <a:lnTo>
                  <a:pt x="499654" y="851398"/>
                </a:lnTo>
                <a:lnTo>
                  <a:pt x="592454" y="790892"/>
                </a:lnTo>
                <a:lnTo>
                  <a:pt x="692545" y="731893"/>
                </a:lnTo>
                <a:lnTo>
                  <a:pt x="799735" y="674510"/>
                </a:lnTo>
                <a:lnTo>
                  <a:pt x="913820" y="618855"/>
                </a:lnTo>
                <a:lnTo>
                  <a:pt x="1034584" y="565033"/>
                </a:lnTo>
                <a:lnTo>
                  <a:pt x="1161796" y="513147"/>
                </a:lnTo>
                <a:lnTo>
                  <a:pt x="1295215" y="463294"/>
                </a:lnTo>
                <a:lnTo>
                  <a:pt x="1434586" y="415571"/>
                </a:lnTo>
                <a:lnTo>
                  <a:pt x="1579643" y="370067"/>
                </a:lnTo>
                <a:lnTo>
                  <a:pt x="1730112" y="326871"/>
                </a:lnTo>
                <a:lnTo>
                  <a:pt x="1885705" y="286063"/>
                </a:lnTo>
                <a:lnTo>
                  <a:pt x="2046126" y="247721"/>
                </a:lnTo>
                <a:lnTo>
                  <a:pt x="2211070" y="211919"/>
                </a:lnTo>
                <a:lnTo>
                  <a:pt x="2380223" y="178725"/>
                </a:lnTo>
                <a:lnTo>
                  <a:pt x="2553263" y="148201"/>
                </a:lnTo>
                <a:lnTo>
                  <a:pt x="2729860" y="120406"/>
                </a:lnTo>
                <a:lnTo>
                  <a:pt x="2909679" y="95393"/>
                </a:lnTo>
                <a:lnTo>
                  <a:pt x="3092377" y="73210"/>
                </a:lnTo>
                <a:lnTo>
                  <a:pt x="3277606" y="53898"/>
                </a:lnTo>
                <a:lnTo>
                  <a:pt x="3465014" y="37495"/>
                </a:lnTo>
                <a:lnTo>
                  <a:pt x="3654243" y="24031"/>
                </a:lnTo>
                <a:lnTo>
                  <a:pt x="3844935" y="13532"/>
                </a:lnTo>
                <a:lnTo>
                  <a:pt x="4036725" y="6019"/>
                </a:lnTo>
                <a:lnTo>
                  <a:pt x="4229249" y="1506"/>
                </a:lnTo>
                <a:lnTo>
                  <a:pt x="4422140" y="0"/>
                </a:lnTo>
                <a:lnTo>
                  <a:pt x="4615031" y="1506"/>
                </a:lnTo>
                <a:lnTo>
                  <a:pt x="4807555" y="6019"/>
                </a:lnTo>
                <a:lnTo>
                  <a:pt x="4999345" y="13532"/>
                </a:lnTo>
                <a:lnTo>
                  <a:pt x="5190037" y="24031"/>
                </a:lnTo>
                <a:lnTo>
                  <a:pt x="5379266" y="37495"/>
                </a:lnTo>
                <a:lnTo>
                  <a:pt x="5566674" y="53898"/>
                </a:lnTo>
                <a:lnTo>
                  <a:pt x="5751903" y="73210"/>
                </a:lnTo>
                <a:lnTo>
                  <a:pt x="5934601" y="95393"/>
                </a:lnTo>
                <a:lnTo>
                  <a:pt x="6114420" y="120406"/>
                </a:lnTo>
                <a:lnTo>
                  <a:pt x="6291017" y="148201"/>
                </a:lnTo>
                <a:lnTo>
                  <a:pt x="6464057" y="178725"/>
                </a:lnTo>
                <a:lnTo>
                  <a:pt x="6633210" y="211919"/>
                </a:lnTo>
                <a:lnTo>
                  <a:pt x="6798154" y="247721"/>
                </a:lnTo>
                <a:lnTo>
                  <a:pt x="6958575" y="286063"/>
                </a:lnTo>
                <a:lnTo>
                  <a:pt x="7114168" y="326871"/>
                </a:lnTo>
                <a:lnTo>
                  <a:pt x="7264637" y="370067"/>
                </a:lnTo>
                <a:lnTo>
                  <a:pt x="7409694" y="415571"/>
                </a:lnTo>
                <a:lnTo>
                  <a:pt x="7549065" y="463294"/>
                </a:lnTo>
                <a:lnTo>
                  <a:pt x="7682484" y="513147"/>
                </a:lnTo>
                <a:lnTo>
                  <a:pt x="7809696" y="565033"/>
                </a:lnTo>
                <a:lnTo>
                  <a:pt x="7930460" y="618855"/>
                </a:lnTo>
                <a:lnTo>
                  <a:pt x="8044545" y="674510"/>
                </a:lnTo>
                <a:lnTo>
                  <a:pt x="8151735" y="731893"/>
                </a:lnTo>
                <a:lnTo>
                  <a:pt x="8251826" y="790893"/>
                </a:lnTo>
                <a:lnTo>
                  <a:pt x="8344626" y="851398"/>
                </a:lnTo>
                <a:lnTo>
                  <a:pt x="8429960" y="913294"/>
                </a:lnTo>
                <a:lnTo>
                  <a:pt x="8507665" y="976462"/>
                </a:lnTo>
                <a:lnTo>
                  <a:pt x="8577592" y="1040783"/>
                </a:lnTo>
                <a:lnTo>
                  <a:pt x="8639610" y="1106133"/>
                </a:lnTo>
                <a:lnTo>
                  <a:pt x="8693599" y="1172389"/>
                </a:lnTo>
                <a:lnTo>
                  <a:pt x="8739458" y="1239424"/>
                </a:lnTo>
                <a:lnTo>
                  <a:pt x="8777098" y="1307111"/>
                </a:lnTo>
                <a:lnTo>
                  <a:pt x="8806448" y="1375321"/>
                </a:lnTo>
                <a:lnTo>
                  <a:pt x="8827452" y="1443923"/>
                </a:lnTo>
                <a:lnTo>
                  <a:pt x="8840071" y="1512789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/>
          <a:effectLst>
            <a:softEdge rad="203200"/>
          </a:effectLst>
        </p:spPr>
      </p:sp>
      <p:sp>
        <p:nvSpPr>
          <p:cNvPr id="5" name="Background lift 3"/>
          <p:cNvSpPr/>
          <p:nvPr/>
        </p:nvSpPr>
        <p:spPr>
          <a:xfrm>
            <a:off x="869950" y="3998912"/>
            <a:ext cx="7404100" cy="2670175"/>
          </a:xfrm>
          <a:custGeom>
            <a:avLst/>
            <a:gdLst/>
            <a:ahLst/>
            <a:cxnLst/>
            <a:rect l="l" t="t" r="r" b="b"/>
            <a:pathLst>
              <a:path w="7404100" h="2670175">
                <a:moveTo>
                  <a:pt x="7404100" y="1335088"/>
                </a:moveTo>
                <a:lnTo>
                  <a:pt x="7400576" y="1393323"/>
                </a:lnTo>
                <a:lnTo>
                  <a:pt x="7390013" y="1451448"/>
                </a:lnTo>
                <a:lnTo>
                  <a:pt x="7372428" y="1509351"/>
                </a:lnTo>
                <a:lnTo>
                  <a:pt x="7347858" y="1566923"/>
                </a:lnTo>
                <a:lnTo>
                  <a:pt x="7316347" y="1624053"/>
                </a:lnTo>
                <a:lnTo>
                  <a:pt x="7277956" y="1680634"/>
                </a:lnTo>
                <a:lnTo>
                  <a:pt x="7232758" y="1736556"/>
                </a:lnTo>
                <a:lnTo>
                  <a:pt x="7180839" y="1791714"/>
                </a:lnTo>
                <a:lnTo>
                  <a:pt x="7122298" y="1846003"/>
                </a:lnTo>
                <a:lnTo>
                  <a:pt x="7057247" y="1899320"/>
                </a:lnTo>
                <a:lnTo>
                  <a:pt x="6985808" y="1951562"/>
                </a:lnTo>
                <a:lnTo>
                  <a:pt x="6908119" y="2002631"/>
                </a:lnTo>
                <a:lnTo>
                  <a:pt x="6824327" y="2052429"/>
                </a:lnTo>
                <a:lnTo>
                  <a:pt x="6734592" y="2100862"/>
                </a:lnTo>
                <a:lnTo>
                  <a:pt x="6639084" y="2147837"/>
                </a:lnTo>
                <a:lnTo>
                  <a:pt x="6537985" y="2193265"/>
                </a:lnTo>
                <a:lnTo>
                  <a:pt x="6431488" y="2237060"/>
                </a:lnTo>
                <a:lnTo>
                  <a:pt x="6319795" y="2279137"/>
                </a:lnTo>
                <a:lnTo>
                  <a:pt x="6203119" y="2319417"/>
                </a:lnTo>
                <a:lnTo>
                  <a:pt x="6081682" y="2357824"/>
                </a:lnTo>
                <a:lnTo>
                  <a:pt x="5955715" y="2394284"/>
                </a:lnTo>
                <a:lnTo>
                  <a:pt x="5825459" y="2428727"/>
                </a:lnTo>
                <a:lnTo>
                  <a:pt x="5691160" y="2461089"/>
                </a:lnTo>
                <a:lnTo>
                  <a:pt x="5553075" y="2491307"/>
                </a:lnTo>
                <a:lnTo>
                  <a:pt x="5411466" y="2519325"/>
                </a:lnTo>
                <a:lnTo>
                  <a:pt x="5266604" y="2545088"/>
                </a:lnTo>
                <a:lnTo>
                  <a:pt x="5118763" y="2568548"/>
                </a:lnTo>
                <a:lnTo>
                  <a:pt x="4968226" y="2589659"/>
                </a:lnTo>
                <a:lnTo>
                  <a:pt x="4815278" y="2608383"/>
                </a:lnTo>
                <a:lnTo>
                  <a:pt x="4660211" y="2624683"/>
                </a:lnTo>
                <a:lnTo>
                  <a:pt x="4503320" y="2638528"/>
                </a:lnTo>
                <a:lnTo>
                  <a:pt x="4344904" y="2649892"/>
                </a:lnTo>
                <a:lnTo>
                  <a:pt x="4185264" y="2658753"/>
                </a:lnTo>
                <a:lnTo>
                  <a:pt x="4024705" y="2665095"/>
                </a:lnTo>
                <a:lnTo>
                  <a:pt x="3863531" y="2668904"/>
                </a:lnTo>
                <a:lnTo>
                  <a:pt x="3702050" y="2670175"/>
                </a:lnTo>
                <a:lnTo>
                  <a:pt x="3540569" y="2668904"/>
                </a:lnTo>
                <a:lnTo>
                  <a:pt x="3379395" y="2665095"/>
                </a:lnTo>
                <a:lnTo>
                  <a:pt x="3218836" y="2658753"/>
                </a:lnTo>
                <a:lnTo>
                  <a:pt x="3059196" y="2649892"/>
                </a:lnTo>
                <a:lnTo>
                  <a:pt x="2900780" y="2638528"/>
                </a:lnTo>
                <a:lnTo>
                  <a:pt x="2743889" y="2624683"/>
                </a:lnTo>
                <a:lnTo>
                  <a:pt x="2588822" y="2608383"/>
                </a:lnTo>
                <a:lnTo>
                  <a:pt x="2435874" y="2589659"/>
                </a:lnTo>
                <a:lnTo>
                  <a:pt x="2285337" y="2568548"/>
                </a:lnTo>
                <a:lnTo>
                  <a:pt x="2137496" y="2545088"/>
                </a:lnTo>
                <a:lnTo>
                  <a:pt x="1992634" y="2519325"/>
                </a:lnTo>
                <a:lnTo>
                  <a:pt x="1851025" y="2491307"/>
                </a:lnTo>
                <a:lnTo>
                  <a:pt x="1712940" y="2461089"/>
                </a:lnTo>
                <a:lnTo>
                  <a:pt x="1578641" y="2428727"/>
                </a:lnTo>
                <a:lnTo>
                  <a:pt x="1448385" y="2394284"/>
                </a:lnTo>
                <a:lnTo>
                  <a:pt x="1322418" y="2357824"/>
                </a:lnTo>
                <a:lnTo>
                  <a:pt x="1200981" y="2319417"/>
                </a:lnTo>
                <a:lnTo>
                  <a:pt x="1084305" y="2279137"/>
                </a:lnTo>
                <a:lnTo>
                  <a:pt x="972612" y="2237060"/>
                </a:lnTo>
                <a:lnTo>
                  <a:pt x="866115" y="2193265"/>
                </a:lnTo>
                <a:lnTo>
                  <a:pt x="765016" y="2147837"/>
                </a:lnTo>
                <a:lnTo>
                  <a:pt x="669508" y="2100862"/>
                </a:lnTo>
                <a:lnTo>
                  <a:pt x="579773" y="2052429"/>
                </a:lnTo>
                <a:lnTo>
                  <a:pt x="495981" y="2002631"/>
                </a:lnTo>
                <a:lnTo>
                  <a:pt x="418292" y="1951562"/>
                </a:lnTo>
                <a:lnTo>
                  <a:pt x="346853" y="1899320"/>
                </a:lnTo>
                <a:lnTo>
                  <a:pt x="281802" y="1846003"/>
                </a:lnTo>
                <a:lnTo>
                  <a:pt x="223261" y="1791714"/>
                </a:lnTo>
                <a:lnTo>
                  <a:pt x="171342" y="1736556"/>
                </a:lnTo>
                <a:lnTo>
                  <a:pt x="126144" y="1680634"/>
                </a:lnTo>
                <a:lnTo>
                  <a:pt x="87753" y="1624053"/>
                </a:lnTo>
                <a:lnTo>
                  <a:pt x="56242" y="1566923"/>
                </a:lnTo>
                <a:lnTo>
                  <a:pt x="31672" y="1509351"/>
                </a:lnTo>
                <a:lnTo>
                  <a:pt x="14087" y="1451448"/>
                </a:lnTo>
                <a:lnTo>
                  <a:pt x="3524" y="1393323"/>
                </a:lnTo>
                <a:lnTo>
                  <a:pt x="0" y="1335088"/>
                </a:lnTo>
                <a:lnTo>
                  <a:pt x="3524" y="1276852"/>
                </a:lnTo>
                <a:lnTo>
                  <a:pt x="14087" y="1218727"/>
                </a:lnTo>
                <a:lnTo>
                  <a:pt x="31672" y="1160824"/>
                </a:lnTo>
                <a:lnTo>
                  <a:pt x="56242" y="1103252"/>
                </a:lnTo>
                <a:lnTo>
                  <a:pt x="87753" y="1046122"/>
                </a:lnTo>
                <a:lnTo>
                  <a:pt x="126144" y="989541"/>
                </a:lnTo>
                <a:lnTo>
                  <a:pt x="171342" y="933619"/>
                </a:lnTo>
                <a:lnTo>
                  <a:pt x="223261" y="878461"/>
                </a:lnTo>
                <a:lnTo>
                  <a:pt x="281802" y="824172"/>
                </a:lnTo>
                <a:lnTo>
                  <a:pt x="346853" y="770855"/>
                </a:lnTo>
                <a:lnTo>
                  <a:pt x="418292" y="718613"/>
                </a:lnTo>
                <a:lnTo>
                  <a:pt x="495981" y="667544"/>
                </a:lnTo>
                <a:lnTo>
                  <a:pt x="579773" y="617746"/>
                </a:lnTo>
                <a:lnTo>
                  <a:pt x="669508" y="569313"/>
                </a:lnTo>
                <a:lnTo>
                  <a:pt x="765016" y="522338"/>
                </a:lnTo>
                <a:lnTo>
                  <a:pt x="866115" y="476910"/>
                </a:lnTo>
                <a:lnTo>
                  <a:pt x="972612" y="433115"/>
                </a:lnTo>
                <a:lnTo>
                  <a:pt x="1084305" y="391038"/>
                </a:lnTo>
                <a:lnTo>
                  <a:pt x="1200981" y="350758"/>
                </a:lnTo>
                <a:lnTo>
                  <a:pt x="1322418" y="312351"/>
                </a:lnTo>
                <a:lnTo>
                  <a:pt x="1448385" y="275891"/>
                </a:lnTo>
                <a:lnTo>
                  <a:pt x="1578641" y="241448"/>
                </a:lnTo>
                <a:lnTo>
                  <a:pt x="1712940" y="209086"/>
                </a:lnTo>
                <a:lnTo>
                  <a:pt x="1851025" y="178868"/>
                </a:lnTo>
                <a:lnTo>
                  <a:pt x="1992634" y="150850"/>
                </a:lnTo>
                <a:lnTo>
                  <a:pt x="2137496" y="125087"/>
                </a:lnTo>
                <a:lnTo>
                  <a:pt x="2285337" y="101627"/>
                </a:lnTo>
                <a:lnTo>
                  <a:pt x="2435874" y="80516"/>
                </a:lnTo>
                <a:lnTo>
                  <a:pt x="2588822" y="61792"/>
                </a:lnTo>
                <a:lnTo>
                  <a:pt x="2743889" y="45492"/>
                </a:lnTo>
                <a:lnTo>
                  <a:pt x="2900780" y="31647"/>
                </a:lnTo>
                <a:lnTo>
                  <a:pt x="3059196" y="20283"/>
                </a:lnTo>
                <a:lnTo>
                  <a:pt x="3218836" y="11422"/>
                </a:lnTo>
                <a:lnTo>
                  <a:pt x="3379395" y="5080"/>
                </a:lnTo>
                <a:lnTo>
                  <a:pt x="3540569" y="1271"/>
                </a:lnTo>
                <a:lnTo>
                  <a:pt x="3702050" y="0"/>
                </a:lnTo>
                <a:lnTo>
                  <a:pt x="3863531" y="1271"/>
                </a:lnTo>
                <a:lnTo>
                  <a:pt x="4024705" y="5080"/>
                </a:lnTo>
                <a:lnTo>
                  <a:pt x="4185264" y="11422"/>
                </a:lnTo>
                <a:lnTo>
                  <a:pt x="4344904" y="20283"/>
                </a:lnTo>
                <a:lnTo>
                  <a:pt x="4503320" y="31647"/>
                </a:lnTo>
                <a:lnTo>
                  <a:pt x="4660211" y="45492"/>
                </a:lnTo>
                <a:lnTo>
                  <a:pt x="4815278" y="61792"/>
                </a:lnTo>
                <a:lnTo>
                  <a:pt x="4968226" y="80516"/>
                </a:lnTo>
                <a:lnTo>
                  <a:pt x="5118763" y="101627"/>
                </a:lnTo>
                <a:lnTo>
                  <a:pt x="5266604" y="125087"/>
                </a:lnTo>
                <a:lnTo>
                  <a:pt x="5411466" y="150850"/>
                </a:lnTo>
                <a:lnTo>
                  <a:pt x="5553075" y="178868"/>
                </a:lnTo>
                <a:lnTo>
                  <a:pt x="5691160" y="209086"/>
                </a:lnTo>
                <a:lnTo>
                  <a:pt x="5825459" y="241448"/>
                </a:lnTo>
                <a:lnTo>
                  <a:pt x="5955715" y="275891"/>
                </a:lnTo>
                <a:lnTo>
                  <a:pt x="6081682" y="312351"/>
                </a:lnTo>
                <a:lnTo>
                  <a:pt x="6203119" y="350758"/>
                </a:lnTo>
                <a:lnTo>
                  <a:pt x="6319795" y="391038"/>
                </a:lnTo>
                <a:lnTo>
                  <a:pt x="6431488" y="433115"/>
                </a:lnTo>
                <a:lnTo>
                  <a:pt x="6537985" y="476910"/>
                </a:lnTo>
                <a:lnTo>
                  <a:pt x="6639084" y="522338"/>
                </a:lnTo>
                <a:lnTo>
                  <a:pt x="6734592" y="569313"/>
                </a:lnTo>
                <a:lnTo>
                  <a:pt x="6824327" y="617746"/>
                </a:lnTo>
                <a:lnTo>
                  <a:pt x="6908119" y="667544"/>
                </a:lnTo>
                <a:lnTo>
                  <a:pt x="6985808" y="718613"/>
                </a:lnTo>
                <a:lnTo>
                  <a:pt x="7057247" y="770855"/>
                </a:lnTo>
                <a:lnTo>
                  <a:pt x="7122298" y="824172"/>
                </a:lnTo>
                <a:lnTo>
                  <a:pt x="7180839" y="878461"/>
                </a:lnTo>
                <a:lnTo>
                  <a:pt x="7232758" y="933619"/>
                </a:lnTo>
                <a:lnTo>
                  <a:pt x="7277956" y="989541"/>
                </a:lnTo>
                <a:lnTo>
                  <a:pt x="7316347" y="1046122"/>
                </a:lnTo>
                <a:lnTo>
                  <a:pt x="7347858" y="1103252"/>
                </a:lnTo>
                <a:lnTo>
                  <a:pt x="7372428" y="1160824"/>
                </a:lnTo>
                <a:lnTo>
                  <a:pt x="7390013" y="1218727"/>
                </a:lnTo>
                <a:lnTo>
                  <a:pt x="7400576" y="1276852"/>
                </a:lnTo>
                <a:close/>
              </a:path>
            </a:pathLst>
          </a:custGeom>
          <a:solidFill>
            <a:srgbClr val="FFFFFF">
              <a:alpha val="22000"/>
            </a:srgbClr>
          </a:solidFill>
          <a:ln/>
          <a:effectLst>
            <a:softEdge rad="203200"/>
          </a:effectLst>
        </p:spPr>
      </p:sp>
      <p:sp>
        <p:nvSpPr>
          <p:cNvPr id="6" name="Background lift 4"/>
          <p:cNvSpPr/>
          <p:nvPr/>
        </p:nvSpPr>
        <p:spPr>
          <a:xfrm>
            <a:off x="1898650" y="4351338"/>
            <a:ext cx="5346700" cy="1965325"/>
          </a:xfrm>
          <a:custGeom>
            <a:avLst/>
            <a:gdLst/>
            <a:ahLst/>
            <a:cxnLst/>
            <a:rect l="l" t="t" r="r" b="b"/>
            <a:pathLst>
              <a:path w="5346700" h="1965325">
                <a:moveTo>
                  <a:pt x="5346700" y="982662"/>
                </a:moveTo>
                <a:lnTo>
                  <a:pt x="5344156" y="1025526"/>
                </a:lnTo>
                <a:lnTo>
                  <a:pt x="5336527" y="1068307"/>
                </a:lnTo>
                <a:lnTo>
                  <a:pt x="5323829" y="1110926"/>
                </a:lnTo>
                <a:lnTo>
                  <a:pt x="5306086" y="1153300"/>
                </a:lnTo>
                <a:lnTo>
                  <a:pt x="5283331" y="1195350"/>
                </a:lnTo>
                <a:lnTo>
                  <a:pt x="5255608" y="1236994"/>
                </a:lnTo>
                <a:lnTo>
                  <a:pt x="5222969" y="1278155"/>
                </a:lnTo>
                <a:lnTo>
                  <a:pt x="5185477" y="1318753"/>
                </a:lnTo>
                <a:lnTo>
                  <a:pt x="5143203" y="1358711"/>
                </a:lnTo>
                <a:lnTo>
                  <a:pt x="5096228" y="1397954"/>
                </a:lnTo>
                <a:lnTo>
                  <a:pt x="5044640" y="1436406"/>
                </a:lnTo>
                <a:lnTo>
                  <a:pt x="4988539" y="1473994"/>
                </a:lnTo>
                <a:lnTo>
                  <a:pt x="4928031" y="1510647"/>
                </a:lnTo>
                <a:lnTo>
                  <a:pt x="4863230" y="1546295"/>
                </a:lnTo>
                <a:lnTo>
                  <a:pt x="4794261" y="1580870"/>
                </a:lnTo>
                <a:lnTo>
                  <a:pt x="4721255" y="1614306"/>
                </a:lnTo>
                <a:lnTo>
                  <a:pt x="4644350" y="1646540"/>
                </a:lnTo>
                <a:lnTo>
                  <a:pt x="4563694" y="1677510"/>
                </a:lnTo>
                <a:lnTo>
                  <a:pt x="4479439" y="1707157"/>
                </a:lnTo>
                <a:lnTo>
                  <a:pt x="4391746" y="1735426"/>
                </a:lnTo>
                <a:lnTo>
                  <a:pt x="4300782" y="1762261"/>
                </a:lnTo>
                <a:lnTo>
                  <a:pt x="4206721" y="1787612"/>
                </a:lnTo>
                <a:lnTo>
                  <a:pt x="4109740" y="1811432"/>
                </a:lnTo>
                <a:lnTo>
                  <a:pt x="4010025" y="1833673"/>
                </a:lnTo>
                <a:lnTo>
                  <a:pt x="3907766" y="1854295"/>
                </a:lnTo>
                <a:lnTo>
                  <a:pt x="3803157" y="1873257"/>
                </a:lnTo>
                <a:lnTo>
                  <a:pt x="3696397" y="1890524"/>
                </a:lnTo>
                <a:lnTo>
                  <a:pt x="3587690" y="1906063"/>
                </a:lnTo>
                <a:lnTo>
                  <a:pt x="3477242" y="1919844"/>
                </a:lnTo>
                <a:lnTo>
                  <a:pt x="3365264" y="1931842"/>
                </a:lnTo>
                <a:lnTo>
                  <a:pt x="3251969" y="1942032"/>
                </a:lnTo>
                <a:lnTo>
                  <a:pt x="3137572" y="1950396"/>
                </a:lnTo>
                <a:lnTo>
                  <a:pt x="3022292" y="1956918"/>
                </a:lnTo>
                <a:lnTo>
                  <a:pt x="2906348" y="1961586"/>
                </a:lnTo>
                <a:lnTo>
                  <a:pt x="2789960" y="1964390"/>
                </a:lnTo>
                <a:lnTo>
                  <a:pt x="2673350" y="1965325"/>
                </a:lnTo>
                <a:lnTo>
                  <a:pt x="2556740" y="1964390"/>
                </a:lnTo>
                <a:lnTo>
                  <a:pt x="2440352" y="1961586"/>
                </a:lnTo>
                <a:lnTo>
                  <a:pt x="2324408" y="1956918"/>
                </a:lnTo>
                <a:lnTo>
                  <a:pt x="2209128" y="1950396"/>
                </a:lnTo>
                <a:lnTo>
                  <a:pt x="2094731" y="1942032"/>
                </a:lnTo>
                <a:lnTo>
                  <a:pt x="1981436" y="1931842"/>
                </a:lnTo>
                <a:lnTo>
                  <a:pt x="1869458" y="1919844"/>
                </a:lnTo>
                <a:lnTo>
                  <a:pt x="1759010" y="1906063"/>
                </a:lnTo>
                <a:lnTo>
                  <a:pt x="1650303" y="1890524"/>
                </a:lnTo>
                <a:lnTo>
                  <a:pt x="1543543" y="1873257"/>
                </a:lnTo>
                <a:lnTo>
                  <a:pt x="1438934" y="1854295"/>
                </a:lnTo>
                <a:lnTo>
                  <a:pt x="1336675" y="1833673"/>
                </a:lnTo>
                <a:lnTo>
                  <a:pt x="1236960" y="1811432"/>
                </a:lnTo>
                <a:lnTo>
                  <a:pt x="1139979" y="1787612"/>
                </a:lnTo>
                <a:lnTo>
                  <a:pt x="1045918" y="1762261"/>
                </a:lnTo>
                <a:lnTo>
                  <a:pt x="954954" y="1735426"/>
                </a:lnTo>
                <a:lnTo>
                  <a:pt x="867261" y="1707157"/>
                </a:lnTo>
                <a:lnTo>
                  <a:pt x="783006" y="1677510"/>
                </a:lnTo>
                <a:lnTo>
                  <a:pt x="702350" y="1646540"/>
                </a:lnTo>
                <a:lnTo>
                  <a:pt x="625445" y="1614306"/>
                </a:lnTo>
                <a:lnTo>
                  <a:pt x="552439" y="1580870"/>
                </a:lnTo>
                <a:lnTo>
                  <a:pt x="483470" y="1546295"/>
                </a:lnTo>
                <a:lnTo>
                  <a:pt x="418669" y="1510647"/>
                </a:lnTo>
                <a:lnTo>
                  <a:pt x="358161" y="1473994"/>
                </a:lnTo>
                <a:lnTo>
                  <a:pt x="302060" y="1436406"/>
                </a:lnTo>
                <a:lnTo>
                  <a:pt x="250472" y="1397954"/>
                </a:lnTo>
                <a:lnTo>
                  <a:pt x="203497" y="1358711"/>
                </a:lnTo>
                <a:lnTo>
                  <a:pt x="161223" y="1318753"/>
                </a:lnTo>
                <a:lnTo>
                  <a:pt x="123731" y="1278155"/>
                </a:lnTo>
                <a:lnTo>
                  <a:pt x="91092" y="1236994"/>
                </a:lnTo>
                <a:lnTo>
                  <a:pt x="63369" y="1195350"/>
                </a:lnTo>
                <a:lnTo>
                  <a:pt x="40614" y="1153300"/>
                </a:lnTo>
                <a:lnTo>
                  <a:pt x="22871" y="1110926"/>
                </a:lnTo>
                <a:lnTo>
                  <a:pt x="10173" y="1068307"/>
                </a:lnTo>
                <a:lnTo>
                  <a:pt x="2544" y="1025526"/>
                </a:lnTo>
                <a:lnTo>
                  <a:pt x="0" y="982662"/>
                </a:lnTo>
                <a:lnTo>
                  <a:pt x="2544" y="939799"/>
                </a:lnTo>
                <a:lnTo>
                  <a:pt x="10173" y="897018"/>
                </a:lnTo>
                <a:lnTo>
                  <a:pt x="22871" y="854399"/>
                </a:lnTo>
                <a:lnTo>
                  <a:pt x="40614" y="812025"/>
                </a:lnTo>
                <a:lnTo>
                  <a:pt x="63369" y="769975"/>
                </a:lnTo>
                <a:lnTo>
                  <a:pt x="91092" y="728331"/>
                </a:lnTo>
                <a:lnTo>
                  <a:pt x="123731" y="687170"/>
                </a:lnTo>
                <a:lnTo>
                  <a:pt x="161223" y="646572"/>
                </a:lnTo>
                <a:lnTo>
                  <a:pt x="203497" y="606614"/>
                </a:lnTo>
                <a:lnTo>
                  <a:pt x="250472" y="567371"/>
                </a:lnTo>
                <a:lnTo>
                  <a:pt x="302060" y="528919"/>
                </a:lnTo>
                <a:lnTo>
                  <a:pt x="358161" y="491331"/>
                </a:lnTo>
                <a:lnTo>
                  <a:pt x="418669" y="454678"/>
                </a:lnTo>
                <a:lnTo>
                  <a:pt x="483470" y="419030"/>
                </a:lnTo>
                <a:lnTo>
                  <a:pt x="552439" y="384455"/>
                </a:lnTo>
                <a:lnTo>
                  <a:pt x="625445" y="351019"/>
                </a:lnTo>
                <a:lnTo>
                  <a:pt x="702350" y="318785"/>
                </a:lnTo>
                <a:lnTo>
                  <a:pt x="783006" y="287815"/>
                </a:lnTo>
                <a:lnTo>
                  <a:pt x="867261" y="258168"/>
                </a:lnTo>
                <a:lnTo>
                  <a:pt x="954954" y="229899"/>
                </a:lnTo>
                <a:lnTo>
                  <a:pt x="1045918" y="203064"/>
                </a:lnTo>
                <a:lnTo>
                  <a:pt x="1139979" y="177713"/>
                </a:lnTo>
                <a:lnTo>
                  <a:pt x="1236960" y="153893"/>
                </a:lnTo>
                <a:lnTo>
                  <a:pt x="1336675" y="131652"/>
                </a:lnTo>
                <a:lnTo>
                  <a:pt x="1438934" y="111030"/>
                </a:lnTo>
                <a:lnTo>
                  <a:pt x="1543543" y="92068"/>
                </a:lnTo>
                <a:lnTo>
                  <a:pt x="1650303" y="74801"/>
                </a:lnTo>
                <a:lnTo>
                  <a:pt x="1759010" y="59262"/>
                </a:lnTo>
                <a:lnTo>
                  <a:pt x="1869458" y="45481"/>
                </a:lnTo>
                <a:lnTo>
                  <a:pt x="1981436" y="33483"/>
                </a:lnTo>
                <a:lnTo>
                  <a:pt x="2094731" y="23293"/>
                </a:lnTo>
                <a:lnTo>
                  <a:pt x="2209128" y="14929"/>
                </a:lnTo>
                <a:lnTo>
                  <a:pt x="2324408" y="8407"/>
                </a:lnTo>
                <a:lnTo>
                  <a:pt x="2440352" y="3739"/>
                </a:lnTo>
                <a:lnTo>
                  <a:pt x="2556740" y="935"/>
                </a:lnTo>
                <a:lnTo>
                  <a:pt x="2673350" y="0"/>
                </a:lnTo>
                <a:lnTo>
                  <a:pt x="2789960" y="935"/>
                </a:lnTo>
                <a:lnTo>
                  <a:pt x="2906348" y="3739"/>
                </a:lnTo>
                <a:lnTo>
                  <a:pt x="3022292" y="8407"/>
                </a:lnTo>
                <a:lnTo>
                  <a:pt x="3137572" y="14929"/>
                </a:lnTo>
                <a:lnTo>
                  <a:pt x="3251969" y="23293"/>
                </a:lnTo>
                <a:lnTo>
                  <a:pt x="3365264" y="33483"/>
                </a:lnTo>
                <a:lnTo>
                  <a:pt x="3477242" y="45481"/>
                </a:lnTo>
                <a:lnTo>
                  <a:pt x="3587690" y="59262"/>
                </a:lnTo>
                <a:lnTo>
                  <a:pt x="3696397" y="74801"/>
                </a:lnTo>
                <a:lnTo>
                  <a:pt x="3803157" y="92068"/>
                </a:lnTo>
                <a:lnTo>
                  <a:pt x="3907766" y="111030"/>
                </a:lnTo>
                <a:lnTo>
                  <a:pt x="4010025" y="131652"/>
                </a:lnTo>
                <a:lnTo>
                  <a:pt x="4109740" y="153893"/>
                </a:lnTo>
                <a:lnTo>
                  <a:pt x="4206721" y="177713"/>
                </a:lnTo>
                <a:lnTo>
                  <a:pt x="4300782" y="203064"/>
                </a:lnTo>
                <a:lnTo>
                  <a:pt x="4391746" y="229899"/>
                </a:lnTo>
                <a:lnTo>
                  <a:pt x="4479439" y="258168"/>
                </a:lnTo>
                <a:lnTo>
                  <a:pt x="4563694" y="287815"/>
                </a:lnTo>
                <a:lnTo>
                  <a:pt x="4644350" y="318785"/>
                </a:lnTo>
                <a:lnTo>
                  <a:pt x="4721255" y="351019"/>
                </a:lnTo>
                <a:lnTo>
                  <a:pt x="4794261" y="384455"/>
                </a:lnTo>
                <a:lnTo>
                  <a:pt x="4863230" y="419030"/>
                </a:lnTo>
                <a:lnTo>
                  <a:pt x="4928031" y="454678"/>
                </a:lnTo>
                <a:lnTo>
                  <a:pt x="4988539" y="491331"/>
                </a:lnTo>
                <a:lnTo>
                  <a:pt x="5044640" y="528919"/>
                </a:lnTo>
                <a:lnTo>
                  <a:pt x="5096228" y="567371"/>
                </a:lnTo>
                <a:lnTo>
                  <a:pt x="5143203" y="606614"/>
                </a:lnTo>
                <a:lnTo>
                  <a:pt x="5185477" y="646572"/>
                </a:lnTo>
                <a:lnTo>
                  <a:pt x="5222969" y="687170"/>
                </a:lnTo>
                <a:lnTo>
                  <a:pt x="5255608" y="728331"/>
                </a:lnTo>
                <a:lnTo>
                  <a:pt x="5283331" y="769975"/>
                </a:lnTo>
                <a:lnTo>
                  <a:pt x="5306086" y="812025"/>
                </a:lnTo>
                <a:lnTo>
                  <a:pt x="5323829" y="854399"/>
                </a:lnTo>
                <a:lnTo>
                  <a:pt x="5336527" y="897018"/>
                </a:lnTo>
                <a:lnTo>
                  <a:pt x="5344156" y="939799"/>
                </a:lnTo>
                <a:close/>
              </a:path>
            </a:pathLst>
          </a:custGeom>
          <a:solidFill>
            <a:srgbClr val="FFFFFF">
              <a:alpha val="24000"/>
            </a:srgbClr>
          </a:solidFill>
          <a:ln/>
          <a:effectLst>
            <a:softEdge rad="203200"/>
          </a:effectLst>
        </p:spPr>
      </p:sp>
      <p:sp>
        <p:nvSpPr>
          <p:cNvPr id="7" name="Background lift 5"/>
          <p:cNvSpPr/>
          <p:nvPr/>
        </p:nvSpPr>
        <p:spPr>
          <a:xfrm>
            <a:off x="2927350" y="4703763"/>
            <a:ext cx="3289300" cy="1260475"/>
          </a:xfrm>
          <a:custGeom>
            <a:avLst/>
            <a:gdLst/>
            <a:ahLst/>
            <a:cxnLst/>
            <a:rect l="l" t="t" r="r" b="b"/>
            <a:pathLst>
              <a:path w="3289300" h="1260475">
                <a:moveTo>
                  <a:pt x="3289300" y="630238"/>
                </a:moveTo>
                <a:lnTo>
                  <a:pt x="3287735" y="657728"/>
                </a:lnTo>
                <a:lnTo>
                  <a:pt x="3283042" y="685166"/>
                </a:lnTo>
                <a:lnTo>
                  <a:pt x="3275230" y="712500"/>
                </a:lnTo>
                <a:lnTo>
                  <a:pt x="3264314" y="739677"/>
                </a:lnTo>
                <a:lnTo>
                  <a:pt x="3250315" y="766646"/>
                </a:lnTo>
                <a:lnTo>
                  <a:pt x="3233260" y="793355"/>
                </a:lnTo>
                <a:lnTo>
                  <a:pt x="3213181" y="819754"/>
                </a:lnTo>
                <a:lnTo>
                  <a:pt x="3190115" y="845791"/>
                </a:lnTo>
                <a:lnTo>
                  <a:pt x="3164108" y="871419"/>
                </a:lnTo>
                <a:lnTo>
                  <a:pt x="3135209" y="896587"/>
                </a:lnTo>
                <a:lnTo>
                  <a:pt x="3103472" y="921249"/>
                </a:lnTo>
                <a:lnTo>
                  <a:pt x="3068959" y="945356"/>
                </a:lnTo>
                <a:lnTo>
                  <a:pt x="3031734" y="968864"/>
                </a:lnTo>
                <a:lnTo>
                  <a:pt x="2991868" y="991727"/>
                </a:lnTo>
                <a:lnTo>
                  <a:pt x="2949439" y="1013902"/>
                </a:lnTo>
                <a:lnTo>
                  <a:pt x="2904525" y="1035346"/>
                </a:lnTo>
                <a:lnTo>
                  <a:pt x="2857213" y="1056020"/>
                </a:lnTo>
                <a:lnTo>
                  <a:pt x="2807593" y="1075883"/>
                </a:lnTo>
                <a:lnTo>
                  <a:pt x="2755759" y="1094897"/>
                </a:lnTo>
                <a:lnTo>
                  <a:pt x="2701811" y="1113027"/>
                </a:lnTo>
                <a:lnTo>
                  <a:pt x="2645849" y="1130239"/>
                </a:lnTo>
                <a:lnTo>
                  <a:pt x="2587982" y="1146498"/>
                </a:lnTo>
                <a:lnTo>
                  <a:pt x="2528320" y="1161774"/>
                </a:lnTo>
                <a:lnTo>
                  <a:pt x="2466975" y="1176039"/>
                </a:lnTo>
                <a:lnTo>
                  <a:pt x="2404065" y="1189265"/>
                </a:lnTo>
                <a:lnTo>
                  <a:pt x="2339709" y="1201427"/>
                </a:lnTo>
                <a:lnTo>
                  <a:pt x="2274030" y="1212501"/>
                </a:lnTo>
                <a:lnTo>
                  <a:pt x="2207153" y="1222467"/>
                </a:lnTo>
                <a:lnTo>
                  <a:pt x="2139206" y="1231306"/>
                </a:lnTo>
                <a:lnTo>
                  <a:pt x="2070317" y="1239000"/>
                </a:lnTo>
                <a:lnTo>
                  <a:pt x="2000617" y="1245536"/>
                </a:lnTo>
                <a:lnTo>
                  <a:pt x="1930240" y="1250900"/>
                </a:lnTo>
                <a:lnTo>
                  <a:pt x="1859320" y="1255083"/>
                </a:lnTo>
                <a:lnTo>
                  <a:pt x="1787991" y="1258077"/>
                </a:lnTo>
                <a:lnTo>
                  <a:pt x="1716389" y="1259875"/>
                </a:lnTo>
                <a:lnTo>
                  <a:pt x="1644650" y="1260475"/>
                </a:lnTo>
                <a:lnTo>
                  <a:pt x="1572911" y="1259875"/>
                </a:lnTo>
                <a:lnTo>
                  <a:pt x="1501309" y="1258077"/>
                </a:lnTo>
                <a:lnTo>
                  <a:pt x="1429980" y="1255083"/>
                </a:lnTo>
                <a:lnTo>
                  <a:pt x="1359060" y="1250900"/>
                </a:lnTo>
                <a:lnTo>
                  <a:pt x="1288683" y="1245536"/>
                </a:lnTo>
                <a:lnTo>
                  <a:pt x="1218983" y="1239000"/>
                </a:lnTo>
                <a:lnTo>
                  <a:pt x="1150094" y="1231306"/>
                </a:lnTo>
                <a:lnTo>
                  <a:pt x="1082147" y="1222467"/>
                </a:lnTo>
                <a:lnTo>
                  <a:pt x="1015270" y="1212501"/>
                </a:lnTo>
                <a:lnTo>
                  <a:pt x="949591" y="1201427"/>
                </a:lnTo>
                <a:lnTo>
                  <a:pt x="885235" y="1189265"/>
                </a:lnTo>
                <a:lnTo>
                  <a:pt x="822325" y="1176039"/>
                </a:lnTo>
                <a:lnTo>
                  <a:pt x="760980" y="1161774"/>
                </a:lnTo>
                <a:lnTo>
                  <a:pt x="701318" y="1146498"/>
                </a:lnTo>
                <a:lnTo>
                  <a:pt x="643451" y="1130239"/>
                </a:lnTo>
                <a:lnTo>
                  <a:pt x="587489" y="1113027"/>
                </a:lnTo>
                <a:lnTo>
                  <a:pt x="533541" y="1094897"/>
                </a:lnTo>
                <a:lnTo>
                  <a:pt x="481707" y="1075883"/>
                </a:lnTo>
                <a:lnTo>
                  <a:pt x="432087" y="1056020"/>
                </a:lnTo>
                <a:lnTo>
                  <a:pt x="384775" y="1035346"/>
                </a:lnTo>
                <a:lnTo>
                  <a:pt x="339861" y="1013902"/>
                </a:lnTo>
                <a:lnTo>
                  <a:pt x="297432" y="991727"/>
                </a:lnTo>
                <a:lnTo>
                  <a:pt x="257566" y="968864"/>
                </a:lnTo>
                <a:lnTo>
                  <a:pt x="220341" y="945356"/>
                </a:lnTo>
                <a:lnTo>
                  <a:pt x="185828" y="921249"/>
                </a:lnTo>
                <a:lnTo>
                  <a:pt x="154091" y="896587"/>
                </a:lnTo>
                <a:lnTo>
                  <a:pt x="125192" y="871419"/>
                </a:lnTo>
                <a:lnTo>
                  <a:pt x="99185" y="845791"/>
                </a:lnTo>
                <a:lnTo>
                  <a:pt x="76119" y="819754"/>
                </a:lnTo>
                <a:lnTo>
                  <a:pt x="56040" y="793355"/>
                </a:lnTo>
                <a:lnTo>
                  <a:pt x="38985" y="766646"/>
                </a:lnTo>
                <a:lnTo>
                  <a:pt x="24986" y="739677"/>
                </a:lnTo>
                <a:lnTo>
                  <a:pt x="14070" y="712500"/>
                </a:lnTo>
                <a:lnTo>
                  <a:pt x="6258" y="685166"/>
                </a:lnTo>
                <a:lnTo>
                  <a:pt x="1565" y="657728"/>
                </a:lnTo>
                <a:lnTo>
                  <a:pt x="0" y="630238"/>
                </a:lnTo>
                <a:lnTo>
                  <a:pt x="1565" y="602747"/>
                </a:lnTo>
                <a:lnTo>
                  <a:pt x="6258" y="575309"/>
                </a:lnTo>
                <a:lnTo>
                  <a:pt x="14070" y="547975"/>
                </a:lnTo>
                <a:lnTo>
                  <a:pt x="24986" y="520798"/>
                </a:lnTo>
                <a:lnTo>
                  <a:pt x="38985" y="493829"/>
                </a:lnTo>
                <a:lnTo>
                  <a:pt x="56040" y="467120"/>
                </a:lnTo>
                <a:lnTo>
                  <a:pt x="76119" y="440721"/>
                </a:lnTo>
                <a:lnTo>
                  <a:pt x="99185" y="414684"/>
                </a:lnTo>
                <a:lnTo>
                  <a:pt x="125192" y="389056"/>
                </a:lnTo>
                <a:lnTo>
                  <a:pt x="154091" y="363888"/>
                </a:lnTo>
                <a:lnTo>
                  <a:pt x="185828" y="339226"/>
                </a:lnTo>
                <a:lnTo>
                  <a:pt x="220341" y="315119"/>
                </a:lnTo>
                <a:lnTo>
                  <a:pt x="257566" y="291611"/>
                </a:lnTo>
                <a:lnTo>
                  <a:pt x="297432" y="268748"/>
                </a:lnTo>
                <a:lnTo>
                  <a:pt x="339861" y="246573"/>
                </a:lnTo>
                <a:lnTo>
                  <a:pt x="384775" y="225129"/>
                </a:lnTo>
                <a:lnTo>
                  <a:pt x="432087" y="204455"/>
                </a:lnTo>
                <a:lnTo>
                  <a:pt x="481707" y="184592"/>
                </a:lnTo>
                <a:lnTo>
                  <a:pt x="533541" y="165578"/>
                </a:lnTo>
                <a:lnTo>
                  <a:pt x="587489" y="147448"/>
                </a:lnTo>
                <a:lnTo>
                  <a:pt x="643451" y="130236"/>
                </a:lnTo>
                <a:lnTo>
                  <a:pt x="701318" y="113977"/>
                </a:lnTo>
                <a:lnTo>
                  <a:pt x="760980" y="98701"/>
                </a:lnTo>
                <a:lnTo>
                  <a:pt x="822325" y="84436"/>
                </a:lnTo>
                <a:lnTo>
                  <a:pt x="885235" y="71210"/>
                </a:lnTo>
                <a:lnTo>
                  <a:pt x="949591" y="59048"/>
                </a:lnTo>
                <a:lnTo>
                  <a:pt x="1015270" y="47974"/>
                </a:lnTo>
                <a:lnTo>
                  <a:pt x="1082147" y="38008"/>
                </a:lnTo>
                <a:lnTo>
                  <a:pt x="1150094" y="29169"/>
                </a:lnTo>
                <a:lnTo>
                  <a:pt x="1218983" y="21475"/>
                </a:lnTo>
                <a:lnTo>
                  <a:pt x="1288683" y="14939"/>
                </a:lnTo>
                <a:lnTo>
                  <a:pt x="1359060" y="9575"/>
                </a:lnTo>
                <a:lnTo>
                  <a:pt x="1429980" y="5392"/>
                </a:lnTo>
                <a:lnTo>
                  <a:pt x="1501309" y="2398"/>
                </a:lnTo>
                <a:lnTo>
                  <a:pt x="1572911" y="600"/>
                </a:lnTo>
                <a:lnTo>
                  <a:pt x="1644650" y="0"/>
                </a:lnTo>
                <a:lnTo>
                  <a:pt x="1716389" y="600"/>
                </a:lnTo>
                <a:lnTo>
                  <a:pt x="1787991" y="2398"/>
                </a:lnTo>
                <a:lnTo>
                  <a:pt x="1859320" y="5392"/>
                </a:lnTo>
                <a:lnTo>
                  <a:pt x="1930240" y="9575"/>
                </a:lnTo>
                <a:lnTo>
                  <a:pt x="2000617" y="14939"/>
                </a:lnTo>
                <a:lnTo>
                  <a:pt x="2070317" y="21475"/>
                </a:lnTo>
                <a:lnTo>
                  <a:pt x="2139206" y="29169"/>
                </a:lnTo>
                <a:lnTo>
                  <a:pt x="2207153" y="38008"/>
                </a:lnTo>
                <a:lnTo>
                  <a:pt x="2274030" y="47974"/>
                </a:lnTo>
                <a:lnTo>
                  <a:pt x="2339709" y="59048"/>
                </a:lnTo>
                <a:lnTo>
                  <a:pt x="2404065" y="71210"/>
                </a:lnTo>
                <a:lnTo>
                  <a:pt x="2466975" y="84436"/>
                </a:lnTo>
                <a:lnTo>
                  <a:pt x="2528320" y="98701"/>
                </a:lnTo>
                <a:lnTo>
                  <a:pt x="2587982" y="113977"/>
                </a:lnTo>
                <a:lnTo>
                  <a:pt x="2645849" y="130236"/>
                </a:lnTo>
                <a:lnTo>
                  <a:pt x="2701811" y="147448"/>
                </a:lnTo>
                <a:lnTo>
                  <a:pt x="2755759" y="165578"/>
                </a:lnTo>
                <a:lnTo>
                  <a:pt x="2807593" y="184592"/>
                </a:lnTo>
                <a:lnTo>
                  <a:pt x="2857213" y="204455"/>
                </a:lnTo>
                <a:lnTo>
                  <a:pt x="2904525" y="225129"/>
                </a:lnTo>
                <a:lnTo>
                  <a:pt x="2949439" y="246573"/>
                </a:lnTo>
                <a:lnTo>
                  <a:pt x="2991868" y="268748"/>
                </a:lnTo>
                <a:lnTo>
                  <a:pt x="3031734" y="291611"/>
                </a:lnTo>
                <a:lnTo>
                  <a:pt x="3068959" y="315119"/>
                </a:lnTo>
                <a:lnTo>
                  <a:pt x="3103472" y="339226"/>
                </a:lnTo>
                <a:lnTo>
                  <a:pt x="3135209" y="363888"/>
                </a:lnTo>
                <a:lnTo>
                  <a:pt x="3164108" y="389056"/>
                </a:lnTo>
                <a:lnTo>
                  <a:pt x="3190115" y="414684"/>
                </a:lnTo>
                <a:lnTo>
                  <a:pt x="3213181" y="440721"/>
                </a:lnTo>
                <a:lnTo>
                  <a:pt x="3233260" y="467120"/>
                </a:lnTo>
                <a:lnTo>
                  <a:pt x="3250315" y="493829"/>
                </a:lnTo>
                <a:lnTo>
                  <a:pt x="3264314" y="520798"/>
                </a:lnTo>
                <a:lnTo>
                  <a:pt x="3275230" y="547975"/>
                </a:lnTo>
                <a:lnTo>
                  <a:pt x="3283042" y="575309"/>
                </a:lnTo>
                <a:lnTo>
                  <a:pt x="3287735" y="602747"/>
                </a:lnTo>
                <a:close/>
              </a:path>
            </a:pathLst>
          </a:custGeom>
          <a:solidFill>
            <a:srgbClr val="FFFFFF">
              <a:alpha val="15000"/>
            </a:srgbClr>
          </a:solidFill>
          <a:ln/>
          <a:effectLst>
            <a:softEdge rad="203200"/>
          </a:effectLst>
        </p:spPr>
      </p:sp>
      <p:sp>
        <p:nvSpPr>
          <p:cNvPr id="8" name="Wave 1"/>
          <p:cNvSpPr/>
          <p:nvPr/>
        </p:nvSpPr>
        <p:spPr>
          <a:xfrm>
            <a:off x="0" y="5080000"/>
            <a:ext cx="9144000" cy="1524000"/>
          </a:xfrm>
          <a:custGeom>
            <a:avLst/>
            <a:gdLst/>
            <a:ahLst/>
            <a:cxnLst/>
            <a:rect l="l" t="t" r="r" b="b"/>
            <a:pathLst>
              <a:path w="9144000" h="1524000">
                <a:moveTo>
                  <a:pt x="0" y="381000"/>
                </a:moveTo>
                <a:cubicBezTo>
                  <a:pt x="3302000" y="1460500"/>
                  <a:pt x="6604000" y="1206500"/>
                  <a:pt x="9144000" y="0"/>
                </a:cubicBezTo>
                <a:lnTo>
                  <a:pt x="9144000" y="177800"/>
                </a:lnTo>
                <a:cubicBezTo>
                  <a:pt x="6604000" y="1384300"/>
                  <a:pt x="3302000" y="1638300"/>
                  <a:pt x="0" y="558800"/>
                </a:cubicBezTo>
                <a:close/>
              </a:path>
            </a:pathLst>
          </a:custGeom>
          <a:solidFill>
            <a:srgbClr val="FFFFFF">
              <a:alpha val="22000"/>
            </a:srgbClr>
          </a:solidFill>
          <a:ln/>
          <a:effectLst>
            <a:softEdge rad="63500"/>
          </a:effectLst>
        </p:spPr>
      </p:sp>
      <p:sp>
        <p:nvSpPr>
          <p:cNvPr id="9" name="Wave 2"/>
          <p:cNvSpPr/>
          <p:nvPr/>
        </p:nvSpPr>
        <p:spPr>
          <a:xfrm>
            <a:off x="0" y="5461000"/>
            <a:ext cx="9144000" cy="1397000"/>
          </a:xfrm>
          <a:custGeom>
            <a:avLst/>
            <a:gdLst/>
            <a:ahLst/>
            <a:cxnLst/>
            <a:rect l="l" t="t" r="r" b="b"/>
            <a:pathLst>
              <a:path w="9144000" h="1397000">
                <a:moveTo>
                  <a:pt x="0" y="381000"/>
                </a:moveTo>
                <a:cubicBezTo>
                  <a:pt x="3302000" y="1460500"/>
                  <a:pt x="6604000" y="1206500"/>
                  <a:pt x="9144000" y="254000"/>
                </a:cubicBezTo>
                <a:lnTo>
                  <a:pt x="9144000" y="381000"/>
                </a:lnTo>
                <a:cubicBezTo>
                  <a:pt x="6604000" y="1333500"/>
                  <a:pt x="3302000" y="1587500"/>
                  <a:pt x="0" y="508000"/>
                </a:cubicBezTo>
                <a:close/>
              </a:path>
            </a:pathLst>
          </a:custGeom>
          <a:solidFill>
            <a:srgbClr val="FFFFFF">
              <a:alpha val="18000"/>
            </a:srgbClr>
          </a:solidFill>
          <a:ln/>
          <a:effectLst>
            <a:softEdge rad="63500"/>
          </a:effectLst>
        </p:spPr>
      </p:sp>
      <p:sp>
        <p:nvSpPr>
          <p:cNvPr id="10" name="Title"/>
          <p:cNvSpPr/>
          <p:nvPr/>
        </p:nvSpPr>
        <p:spPr>
          <a:xfrm>
            <a:off x="3131566" y="427863"/>
            <a:ext cx="3472434" cy="461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7C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 Key Features</a:t>
            </a:r>
            <a:endParaRPr lang="en-US" sz="2800" dirty="0"/>
          </a:p>
        </p:txBody>
      </p:sp>
      <p:sp>
        <p:nvSpPr>
          <p:cNvPr id="11" name="Bullets"/>
          <p:cNvSpPr/>
          <p:nvPr/>
        </p:nvSpPr>
        <p:spPr>
          <a:xfrm>
            <a:off x="472440" y="1127760"/>
            <a:ext cx="7655560" cy="117094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 marL="348996" indent="-348996">
              <a:lnSpc>
                <a:spcPts val="2160"/>
              </a:lnSpc>
              <a:buClr>
                <a:srgbClr val="6FB7D7"/>
              </a:buClr>
              <a:buSzPct val="110000"/>
              <a:buFont typeface="Arial"/>
              <a:buChar char="•"/>
            </a:pPr>
            <a:r>
              <a:rPr lang="en-US" sz="1800" dirty="0">
                <a:solidFill>
                  <a:srgbClr val="595959"/>
                </a:solidFill>
                <a:latin typeface="Arial"/>
                <a:cs typeface="Arial"/>
              </a:rPr>
              <a:t>Layered  architecture</a:t>
            </a:r>
          </a:p>
          <a:p>
            <a:pPr marL="686054" indent="-337058">
              <a:lnSpc>
                <a:spcPts val="2139"/>
              </a:lnSpc>
              <a:buClr>
                <a:srgbClr val="215D77"/>
              </a:buClr>
              <a:buSzPct val="110000"/>
              <a:buFont typeface="Arial"/>
              <a:buChar char="-"/>
            </a:pPr>
            <a:r>
              <a:rPr lang="en-US" sz="1600" dirty="0">
                <a:solidFill>
                  <a:srgbClr val="595959"/>
                </a:solidFill>
                <a:latin typeface="Arial"/>
                <a:cs typeface="Arial"/>
              </a:rPr>
              <a:t>Reusable components</a:t>
            </a:r>
          </a:p>
          <a:p>
            <a:pPr marL="686054" indent="-337058">
              <a:lnSpc>
                <a:spcPts val="2139"/>
              </a:lnSpc>
              <a:buClr>
                <a:srgbClr val="215D77"/>
              </a:buClr>
              <a:buSzPct val="110000"/>
              <a:buFont typeface="Arial"/>
              <a:buChar char="-"/>
            </a:pPr>
            <a:r>
              <a:rPr lang="en-US" sz="1600" dirty="0">
                <a:solidFill>
                  <a:srgbClr val="595959"/>
                </a:solidFill>
                <a:latin typeface="Arial"/>
                <a:cs typeface="Arial"/>
              </a:rPr>
              <a:t>Platform Independent</a:t>
            </a:r>
          </a:p>
          <a:p>
            <a:pPr marL="686054" indent="-337058">
              <a:lnSpc>
                <a:spcPts val="2139"/>
              </a:lnSpc>
              <a:buClr>
                <a:srgbClr val="215D77"/>
              </a:buClr>
              <a:buSzPct val="110000"/>
              <a:buFont typeface="Arial"/>
              <a:buChar char="-"/>
            </a:pPr>
            <a:r>
              <a:rPr lang="en-US" sz="1600" dirty="0">
                <a:solidFill>
                  <a:srgbClr val="595959"/>
                </a:solidFill>
                <a:latin typeface="Arial"/>
                <a:cs typeface="Arial"/>
              </a:rPr>
              <a:t>Supports advances in technology without changes to the framework</a:t>
            </a:r>
          </a:p>
        </p:txBody>
      </p:sp>
      <p:sp>
        <p:nvSpPr>
          <p:cNvPr id="12" name="cFE Apps stack 4"/>
          <p:cNvSpPr/>
          <p:nvPr/>
        </p:nvSpPr>
        <p:spPr>
          <a:xfrm>
            <a:off x="1160717" y="2440876"/>
            <a:ext cx="568071" cy="545211"/>
          </a:xfrm>
          <a:prstGeom prst="ellipse">
            <a:avLst/>
          </a:prstGeom>
          <a:solidFill>
            <a:srgbClr val="AFDBEA"/>
          </a:solidFill>
          <a:ln w="10287">
            <a:solidFill>
              <a:srgbClr val="000000"/>
            </a:solidFill>
            <a:prstDash val="solid"/>
          </a:ln>
          <a:effectLst>
            <a:outerShdw sx="100000" sy="100000" kx="0" ky="0" algn="bl" rotWithShape="0" blurRad="38100" dist="20320" dir="2700000">
              <a:srgbClr val="000000">
                <a:alpha val="20000"/>
              </a:srgbClr>
            </a:outerShdw>
          </a:effectLst>
        </p:spPr>
      </p:sp>
      <p:sp>
        <p:nvSpPr>
          <p:cNvPr id="13" name="cFE Apps stack 3"/>
          <p:cNvSpPr/>
          <p:nvPr/>
        </p:nvSpPr>
        <p:spPr>
          <a:xfrm>
            <a:off x="1114997" y="2440876"/>
            <a:ext cx="568071" cy="545211"/>
          </a:xfrm>
          <a:prstGeom prst="ellipse">
            <a:avLst/>
          </a:prstGeom>
          <a:solidFill>
            <a:srgbClr val="AFDBEA"/>
          </a:solidFill>
          <a:ln w="10287">
            <a:solidFill>
              <a:srgbClr val="000000"/>
            </a:solidFill>
            <a:prstDash val="solid"/>
          </a:ln>
          <a:effectLst>
            <a:outerShdw sx="100000" sy="100000" kx="0" ky="0" algn="bl" rotWithShape="0" blurRad="38100" dist="20320" dir="2700000">
              <a:srgbClr val="000000">
                <a:alpha val="20000"/>
              </a:srgbClr>
            </a:outerShdw>
          </a:effectLst>
        </p:spPr>
      </p:sp>
      <p:sp>
        <p:nvSpPr>
          <p:cNvPr id="14" name="cFE Apps stack 2"/>
          <p:cNvSpPr/>
          <p:nvPr/>
        </p:nvSpPr>
        <p:spPr>
          <a:xfrm>
            <a:off x="1069277" y="2440876"/>
            <a:ext cx="568071" cy="545211"/>
          </a:xfrm>
          <a:prstGeom prst="ellipse">
            <a:avLst/>
          </a:prstGeom>
          <a:solidFill>
            <a:srgbClr val="AFDBEA"/>
          </a:solidFill>
          <a:ln w="10287">
            <a:solidFill>
              <a:srgbClr val="000000"/>
            </a:solidFill>
            <a:prstDash val="solid"/>
          </a:ln>
          <a:effectLst>
            <a:outerShdw sx="100000" sy="100000" kx="0" ky="0" algn="bl" rotWithShape="0" blurRad="38100" dist="20320" dir="2700000">
              <a:srgbClr val="000000">
                <a:alpha val="20000"/>
              </a:srgbClr>
            </a:outerShdw>
          </a:effectLst>
        </p:spPr>
      </p:sp>
      <p:sp>
        <p:nvSpPr>
          <p:cNvPr id="15" name="cFE Apps stack 1"/>
          <p:cNvSpPr/>
          <p:nvPr/>
        </p:nvSpPr>
        <p:spPr>
          <a:xfrm>
            <a:off x="1023557" y="2440876"/>
            <a:ext cx="568071" cy="545211"/>
          </a:xfrm>
          <a:prstGeom prst="ellipse">
            <a:avLst/>
          </a:prstGeom>
          <a:solidFill>
            <a:srgbClr val="AFDBEA"/>
          </a:solidFill>
          <a:ln w="10287">
            <a:solidFill>
              <a:srgbClr val="000000"/>
            </a:solidFill>
            <a:prstDash val="solid"/>
          </a:ln>
          <a:effectLst>
            <a:outerShdw sx="100000" sy="100000" kx="0" ky="0" algn="bl" rotWithShape="0" blurRad="38100" dist="20320" dir="2700000">
              <a:srgbClr val="000000">
                <a:alpha val="20000"/>
              </a:srgbClr>
            </a:outerShdw>
          </a:effectLst>
        </p:spPr>
      </p:sp>
      <p:sp>
        <p:nvSpPr>
          <p:cNvPr id="16" name="cFE Apps (x5)"/>
          <p:cNvSpPr/>
          <p:nvPr/>
        </p:nvSpPr>
        <p:spPr>
          <a:xfrm>
            <a:off x="977837" y="2440876"/>
            <a:ext cx="568071" cy="545211"/>
          </a:xfrm>
          <a:prstGeom prst="ellipse">
            <a:avLst/>
          </a:prstGeom>
          <a:solidFill>
            <a:srgbClr val="AFDBEA"/>
          </a:solidFill>
          <a:ln w="10287">
            <a:solidFill>
              <a:srgbClr val="000000"/>
            </a:solidFill>
          </a:ln>
          <a:effectLst>
            <a:outerShdw sx="100000" sy="100000" kx="0" ky="0" algn="bl" rotWithShape="0" blurRad="38100" dist="20320" dir="27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cFE</a:t>
            </a:r>
            <a:br/>
            <a:pPr algn="ctr" indent="0" marL="0">
              <a:lnSpc>
                <a:spcPts val="109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</a:t>
            </a:r>
            <a:br/>
            <a:pPr algn="ctr" indent="0" marL="0">
              <a:lnSpc>
                <a:spcPts val="109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(x5)</a:t>
            </a:r>
            <a:endParaRPr lang="en-US" sz="850" dirty="0"/>
          </a:p>
        </p:txBody>
      </p:sp>
      <p:sp>
        <p:nvSpPr>
          <p:cNvPr id="17" name="Software Bus Network"/>
          <p:cNvSpPr/>
          <p:nvPr/>
        </p:nvSpPr>
        <p:spPr>
          <a:xfrm>
            <a:off x="1979105" y="2408873"/>
            <a:ext cx="568071" cy="549783"/>
          </a:xfrm>
          <a:prstGeom prst="ellipse">
            <a:avLst/>
          </a:prstGeom>
          <a:solidFill>
            <a:srgbClr val="92D050"/>
          </a:solidFill>
          <a:ln w="10287">
            <a:solidFill>
              <a:srgbClr val="000000"/>
            </a:solidFill>
          </a:ln>
          <a:effectLst>
            <a:outerShdw sx="100000" sy="100000" kx="0" ky="0" algn="bl" rotWithShape="0" blurRad="38100" dist="20320" dir="2700000">
              <a:srgbClr val="000000">
                <a:alpha val="20000"/>
              </a:srgbClr>
            </a:outerShdw>
          </a:effectLst>
        </p:spPr>
        <p:txBody>
          <a:bodyPr wrap="none" lIns="0" tIns="48260" rIns="0" bIns="0" rtlCol="0" anchor="ctr"/>
          <a:lstStyle/>
          <a:p>
            <a:pPr algn="ctr" indent="0" marL="0">
              <a:lnSpc>
                <a:spcPts val="103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br/>
            <a:pPr algn="ctr" indent="0" marL="0">
              <a:lnSpc>
                <a:spcPts val="103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</a:t>
            </a:r>
            <a:br/>
            <a:pPr algn="ctr" indent="0" marL="0">
              <a:lnSpc>
                <a:spcPts val="103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850" dirty="0"/>
          </a:p>
        </p:txBody>
      </p:sp>
      <p:sp>
        <p:nvSpPr>
          <p:cNvPr id="18" name="cFS App 1"/>
          <p:cNvSpPr/>
          <p:nvPr/>
        </p:nvSpPr>
        <p:spPr>
          <a:xfrm>
            <a:off x="2788349" y="2422588"/>
            <a:ext cx="568071" cy="549783"/>
          </a:xfrm>
          <a:prstGeom prst="ellipse">
            <a:avLst/>
          </a:prstGeom>
          <a:solidFill>
            <a:srgbClr val="00B0F0"/>
          </a:solidFill>
          <a:ln w="10287">
            <a:solidFill>
              <a:srgbClr val="000000"/>
            </a:solidFill>
          </a:ln>
          <a:effectLst>
            <a:outerShdw sx="100000" sy="100000" kx="0" ky="0" algn="bl" rotWithShape="0" blurRad="38100" dist="20320" dir="27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3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</a:t>
            </a:r>
            <a:br/>
            <a:pPr algn="ctr" indent="0" marL="0">
              <a:lnSpc>
                <a:spcPts val="103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br/>
            <a:pPr algn="ctr" indent="0" marL="0">
              <a:lnSpc>
                <a:spcPts val="103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9" name="cFS App n(13)"/>
          <p:cNvSpPr/>
          <p:nvPr/>
        </p:nvSpPr>
        <p:spPr>
          <a:xfrm>
            <a:off x="3766757" y="2422588"/>
            <a:ext cx="549783" cy="549783"/>
          </a:xfrm>
          <a:prstGeom prst="ellipse">
            <a:avLst/>
          </a:prstGeom>
          <a:solidFill>
            <a:srgbClr val="00B0F0"/>
          </a:solidFill>
          <a:ln w="10287">
            <a:solidFill>
              <a:srgbClr val="000000"/>
            </a:solidFill>
          </a:ln>
          <a:effectLst>
            <a:outerShdw sx="100000" sy="100000" kx="0" ky="0" algn="bl" rotWithShape="0" blurRad="38100" dist="20320" dir="27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3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</a:t>
            </a:r>
            <a:br/>
            <a:pPr algn="ctr" indent="0" marL="0">
              <a:lnSpc>
                <a:spcPts val="103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br/>
            <a:pPr algn="ctr" indent="0" marL="0">
              <a:lnSpc>
                <a:spcPts val="103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n(13)</a:t>
            </a:r>
            <a:endParaRPr lang="en-US" sz="850" dirty="0"/>
          </a:p>
        </p:txBody>
      </p:sp>
      <p:sp>
        <p:nvSpPr>
          <p:cNvPr id="20" name="Mission App 1"/>
          <p:cNvSpPr/>
          <p:nvPr/>
        </p:nvSpPr>
        <p:spPr>
          <a:xfrm>
            <a:off x="4539425" y="2422588"/>
            <a:ext cx="563499" cy="549783"/>
          </a:xfrm>
          <a:prstGeom prst="ellipse">
            <a:avLst/>
          </a:prstGeom>
          <a:solidFill>
            <a:srgbClr val="BFBFBF"/>
          </a:solidFill>
          <a:ln w="10287">
            <a:solidFill>
              <a:srgbClr val="000000"/>
            </a:solidFill>
          </a:ln>
          <a:effectLst>
            <a:outerShdw sx="100000" sy="100000" kx="0" ky="0" algn="bl" rotWithShape="0" blurRad="38100" dist="20320" dir="27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br/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1</a:t>
            </a:r>
            <a:endParaRPr lang="en-US" sz="900" dirty="0"/>
          </a:p>
        </p:txBody>
      </p:sp>
      <p:sp>
        <p:nvSpPr>
          <p:cNvPr id="21" name="Mission App 2"/>
          <p:cNvSpPr/>
          <p:nvPr/>
        </p:nvSpPr>
        <p:spPr>
          <a:xfrm>
            <a:off x="5316665" y="2422588"/>
            <a:ext cx="568071" cy="549783"/>
          </a:xfrm>
          <a:prstGeom prst="ellipse">
            <a:avLst/>
          </a:prstGeom>
          <a:solidFill>
            <a:srgbClr val="BFBFBF"/>
          </a:solidFill>
          <a:ln w="10287">
            <a:solidFill>
              <a:srgbClr val="000000"/>
            </a:solidFill>
          </a:ln>
          <a:effectLst>
            <a:outerShdw sx="100000" sy="100000" kx="0" ky="0" algn="bl" rotWithShape="0" blurRad="38100" dist="20320" dir="2700000">
              <a:srgbClr val="000000">
                <a:alpha val="20000"/>
              </a:srgbClr>
            </a:outerShdw>
          </a:effectLst>
        </p:spPr>
        <p:txBody>
          <a:bodyPr wrap="none" lIns="0" tIns="6096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br/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2</a:t>
            </a:r>
            <a:endParaRPr lang="en-US" sz="900" dirty="0"/>
          </a:p>
        </p:txBody>
      </p:sp>
      <p:sp>
        <p:nvSpPr>
          <p:cNvPr id="22" name="Mission App N"/>
          <p:cNvSpPr/>
          <p:nvPr/>
        </p:nvSpPr>
        <p:spPr>
          <a:xfrm>
            <a:off x="6089333" y="2436305"/>
            <a:ext cx="563499" cy="549783"/>
          </a:xfrm>
          <a:prstGeom prst="ellipse">
            <a:avLst/>
          </a:prstGeom>
          <a:solidFill>
            <a:srgbClr val="BFBFBF"/>
          </a:solidFill>
          <a:ln w="10287">
            <a:solidFill>
              <a:srgbClr val="000000"/>
            </a:solidFill>
          </a:ln>
          <a:effectLst>
            <a:outerShdw sx="100000" sy="100000" kx="0" ky="0" algn="bl" rotWithShape="0" blurRad="38100" dist="20320" dir="27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br/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N</a:t>
            </a:r>
            <a:endParaRPr lang="en-US" sz="900" dirty="0"/>
          </a:p>
        </p:txBody>
      </p:sp>
      <p:sp>
        <p:nvSpPr>
          <p:cNvPr id="23" name="Ellipsis dot 1"/>
          <p:cNvSpPr/>
          <p:nvPr/>
        </p:nvSpPr>
        <p:spPr>
          <a:xfrm>
            <a:off x="3437890" y="2688590"/>
            <a:ext cx="55880" cy="55880"/>
          </a:xfrm>
          <a:prstGeom prst="ellipse">
            <a:avLst/>
          </a:prstGeom>
          <a:solidFill>
            <a:srgbClr val="D9D9D9"/>
          </a:solidFill>
          <a:ln w="10160">
            <a:solidFill>
              <a:srgbClr val="404040"/>
            </a:solidFill>
            <a:prstDash val="solid"/>
          </a:ln>
        </p:spPr>
      </p:sp>
      <p:sp>
        <p:nvSpPr>
          <p:cNvPr id="24" name="Ellipsis center 1"/>
          <p:cNvSpPr/>
          <p:nvPr/>
        </p:nvSpPr>
        <p:spPr>
          <a:xfrm>
            <a:off x="3454400" y="2705100"/>
            <a:ext cx="22860" cy="22860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25" name="Ellipsis dot 2"/>
          <p:cNvSpPr/>
          <p:nvPr/>
        </p:nvSpPr>
        <p:spPr>
          <a:xfrm>
            <a:off x="3543300" y="2688590"/>
            <a:ext cx="55880" cy="55880"/>
          </a:xfrm>
          <a:prstGeom prst="ellipse">
            <a:avLst/>
          </a:prstGeom>
          <a:solidFill>
            <a:srgbClr val="D9D9D9"/>
          </a:solidFill>
          <a:ln w="10160">
            <a:solidFill>
              <a:srgbClr val="404040"/>
            </a:solidFill>
            <a:prstDash val="solid"/>
          </a:ln>
        </p:spPr>
      </p:sp>
      <p:sp>
        <p:nvSpPr>
          <p:cNvPr id="26" name="Ellipsis center 2"/>
          <p:cNvSpPr/>
          <p:nvPr/>
        </p:nvSpPr>
        <p:spPr>
          <a:xfrm>
            <a:off x="3559810" y="2705100"/>
            <a:ext cx="22860" cy="22860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27" name="Ellipsis dot 3"/>
          <p:cNvSpPr/>
          <p:nvPr/>
        </p:nvSpPr>
        <p:spPr>
          <a:xfrm>
            <a:off x="3641090" y="2688590"/>
            <a:ext cx="55880" cy="55880"/>
          </a:xfrm>
          <a:prstGeom prst="ellipse">
            <a:avLst/>
          </a:prstGeom>
          <a:solidFill>
            <a:srgbClr val="D9D9D9"/>
          </a:solidFill>
          <a:ln w="10160">
            <a:solidFill>
              <a:srgbClr val="404040"/>
            </a:solidFill>
            <a:prstDash val="solid"/>
          </a:ln>
        </p:spPr>
      </p:sp>
      <p:sp>
        <p:nvSpPr>
          <p:cNvPr id="28" name="Ellipsis center 3"/>
          <p:cNvSpPr/>
          <p:nvPr/>
        </p:nvSpPr>
        <p:spPr>
          <a:xfrm>
            <a:off x="3657600" y="2705100"/>
            <a:ext cx="22860" cy="22860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29" name="Layer rule 1"/>
          <p:cNvSpPr/>
          <p:nvPr/>
        </p:nvSpPr>
        <p:spPr>
          <a:xfrm>
            <a:off x="1001268" y="3042666"/>
            <a:ext cx="6935724" cy="0"/>
          </a:xfrm>
          <a:prstGeom prst="line">
            <a:avLst/>
          </a:prstGeom>
          <a:noFill/>
          <a:ln w="10287">
            <a:solidFill>
              <a:srgbClr val="000000"/>
            </a:solidFill>
            <a:prstDash val="dash"/>
          </a:ln>
          <a:effectLst>
            <a:outerShdw sx="100000" sy="100000" kx="0" ky="0" algn="bl" rotWithShape="0" blurRad="19050" dist="17780" dir="5400000">
              <a:srgbClr val="000000">
                <a:alpha val="22000"/>
              </a:srgbClr>
            </a:outerShdw>
          </a:effectLst>
        </p:spPr>
      </p:sp>
      <p:sp>
        <p:nvSpPr>
          <p:cNvPr id="30" name="Layer rule 2"/>
          <p:cNvSpPr/>
          <p:nvPr/>
        </p:nvSpPr>
        <p:spPr>
          <a:xfrm>
            <a:off x="955548" y="3929634"/>
            <a:ext cx="6935724" cy="0"/>
          </a:xfrm>
          <a:prstGeom prst="line">
            <a:avLst/>
          </a:prstGeom>
          <a:noFill/>
          <a:ln w="10287">
            <a:solidFill>
              <a:srgbClr val="000000"/>
            </a:solidFill>
            <a:prstDash val="dash"/>
          </a:ln>
          <a:effectLst>
            <a:outerShdw sx="100000" sy="100000" kx="0" ky="0" algn="bl" rotWithShape="0" blurRad="19050" dist="17780" dir="5400000">
              <a:srgbClr val="000000">
                <a:alpha val="22000"/>
              </a:srgbClr>
            </a:outerShdw>
          </a:effectLst>
        </p:spPr>
      </p:sp>
      <p:sp>
        <p:nvSpPr>
          <p:cNvPr id="31" name="Layer rule 3"/>
          <p:cNvSpPr/>
          <p:nvPr/>
        </p:nvSpPr>
        <p:spPr>
          <a:xfrm>
            <a:off x="955548" y="4679442"/>
            <a:ext cx="6935724" cy="0"/>
          </a:xfrm>
          <a:prstGeom prst="line">
            <a:avLst/>
          </a:prstGeom>
          <a:noFill/>
          <a:ln w="10287">
            <a:solidFill>
              <a:srgbClr val="000000"/>
            </a:solidFill>
            <a:prstDash val="dash"/>
          </a:ln>
          <a:effectLst>
            <a:outerShdw sx="100000" sy="100000" kx="0" ky="0" algn="bl" rotWithShape="0" blurRad="19050" dist="17780" dir="5400000">
              <a:srgbClr val="000000">
                <a:alpha val="22000"/>
              </a:srgbClr>
            </a:outerShdw>
          </a:effectLst>
        </p:spPr>
      </p:sp>
      <p:sp>
        <p:nvSpPr>
          <p:cNvPr id="32" name="Layer rule 4"/>
          <p:cNvSpPr/>
          <p:nvPr/>
        </p:nvSpPr>
        <p:spPr>
          <a:xfrm>
            <a:off x="955548" y="5429250"/>
            <a:ext cx="6935724" cy="0"/>
          </a:xfrm>
          <a:prstGeom prst="line">
            <a:avLst/>
          </a:prstGeom>
          <a:noFill/>
          <a:ln w="10287">
            <a:solidFill>
              <a:srgbClr val="000000"/>
            </a:solidFill>
            <a:prstDash val="dash"/>
          </a:ln>
          <a:effectLst>
            <a:outerShdw sx="100000" sy="100000" kx="0" ky="0" algn="bl" rotWithShape="0" blurRad="19050" dist="17780" dir="5400000">
              <a:srgbClr val="000000">
                <a:alpha val="22000"/>
              </a:srgbClr>
            </a:outerShdw>
          </a:effectLst>
        </p:spPr>
      </p:sp>
      <p:sp>
        <p:nvSpPr>
          <p:cNvPr id="33" name="cFS Library"/>
          <p:cNvSpPr/>
          <p:nvPr/>
        </p:nvSpPr>
        <p:spPr>
          <a:xfrm>
            <a:off x="1073848" y="3295841"/>
            <a:ext cx="933831" cy="499491"/>
          </a:xfrm>
          <a:prstGeom prst="rect">
            <a:avLst/>
          </a:prstGeom>
          <a:solidFill>
            <a:srgbClr val="00B0F0"/>
          </a:solidFill>
          <a:ln w="10287">
            <a:solidFill>
              <a:srgbClr val="000000"/>
            </a:solidFill>
          </a:ln>
          <a:effectLst>
            <a:outerShdw sx="100000" sy="100000" kx="0" ky="0" algn="bl" rotWithShape="0" blurRad="19050" dist="17780" dir="5400000">
              <a:srgbClr val="000000">
                <a:alpha val="22000"/>
              </a:srgbClr>
            </a:outerShdw>
          </a:effectLst>
        </p:spPr>
        <p:txBody>
          <a:bodyPr wrap="square" lIns="74041" tIns="37084" rIns="74041" bIns="3708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</a:t>
            </a:r>
            <a:br/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</a:t>
            </a:r>
            <a:endParaRPr lang="en-US" sz="1000" dirty="0"/>
          </a:p>
        </p:txBody>
      </p:sp>
      <p:sp>
        <p:nvSpPr>
          <p:cNvPr id="34" name="Mission Library"/>
          <p:cNvSpPr/>
          <p:nvPr/>
        </p:nvSpPr>
        <p:spPr>
          <a:xfrm>
            <a:off x="2171129" y="3309557"/>
            <a:ext cx="933831" cy="494919"/>
          </a:xfrm>
          <a:prstGeom prst="rect">
            <a:avLst/>
          </a:prstGeom>
          <a:solidFill>
            <a:srgbClr val="BFBFBF"/>
          </a:solidFill>
          <a:ln w="10287">
            <a:solidFill>
              <a:srgbClr val="000000"/>
            </a:solidFill>
          </a:ln>
          <a:effectLst>
            <a:outerShdw sx="100000" sy="100000" kx="0" ky="0" algn="bl" rotWithShape="0" blurRad="19050" dist="17780" dir="5400000">
              <a:srgbClr val="000000">
                <a:alpha val="22000"/>
              </a:srgbClr>
            </a:outerShdw>
          </a:effectLst>
        </p:spPr>
        <p:txBody>
          <a:bodyPr wrap="square" lIns="74041" tIns="37084" rIns="74041" bIns="3708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br/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</a:t>
            </a:r>
            <a:endParaRPr lang="en-US" sz="1000" dirty="0"/>
          </a:p>
        </p:txBody>
      </p:sp>
      <p:sp>
        <p:nvSpPr>
          <p:cNvPr id="35" name="cFE API"/>
          <p:cNvSpPr/>
          <p:nvPr/>
        </p:nvSpPr>
        <p:spPr>
          <a:xfrm>
            <a:off x="1046416" y="4059365"/>
            <a:ext cx="6059043" cy="179451"/>
          </a:xfrm>
          <a:prstGeom prst="rect">
            <a:avLst/>
          </a:prstGeom>
          <a:solidFill>
            <a:srgbClr val="00B0F0"/>
          </a:solidFill>
          <a:ln w="10287">
            <a:solidFill>
              <a:srgbClr val="000000"/>
            </a:solidFill>
          </a:ln>
          <a:effectLst>
            <a:outerShdw sx="100000" sy="100000" kx="0" ky="0" algn="bl" rotWithShape="0" blurRad="19050" dist="17780" dir="5400000">
              <a:srgbClr val="000000">
                <a:alpha val="22000"/>
              </a:srgbClr>
            </a:outerShdw>
          </a:effectLst>
        </p:spPr>
        <p:txBody>
          <a:bodyPr wrap="square" lIns="74041" tIns="0" rIns="74041" bIns="0" rtlCol="0" anchor="ctr"/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cFE API</a:t>
            </a:r>
            <a:endParaRPr lang="en-US" sz="1140" dirty="0"/>
          </a:p>
        </p:txBody>
      </p:sp>
      <p:sp>
        <p:nvSpPr>
          <p:cNvPr id="36" name="cFE Core"/>
          <p:cNvSpPr/>
          <p:nvPr/>
        </p:nvSpPr>
        <p:spPr>
          <a:xfrm>
            <a:off x="1046416" y="4306253"/>
            <a:ext cx="1747647" cy="307467"/>
          </a:xfrm>
          <a:prstGeom prst="rect">
            <a:avLst/>
          </a:prstGeom>
          <a:solidFill>
            <a:srgbClr val="00B0F0"/>
          </a:solidFill>
          <a:ln w="10287">
            <a:solidFill>
              <a:srgbClr val="000000"/>
            </a:solidFill>
          </a:ln>
          <a:effectLst>
            <a:outerShdw sx="100000" sy="100000" kx="0" ky="0" algn="bl" rotWithShape="0" blurRad="19050" dist="17780" dir="5400000">
              <a:srgbClr val="000000">
                <a:alpha val="22000"/>
              </a:srgbClr>
            </a:outerShdw>
          </a:effectLst>
        </p:spPr>
        <p:txBody>
          <a:bodyPr wrap="square" lIns="74041" tIns="37084" rIns="74041" bIns="37084" rtlCol="0" anchor="ctr"/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cFE Core</a:t>
            </a:r>
            <a:endParaRPr lang="en-US" sz="1140" dirty="0"/>
          </a:p>
        </p:txBody>
      </p:sp>
      <p:sp>
        <p:nvSpPr>
          <p:cNvPr id="37" name="ucFE Core"/>
          <p:cNvSpPr/>
          <p:nvPr/>
        </p:nvSpPr>
        <p:spPr>
          <a:xfrm>
            <a:off x="3551873" y="4306253"/>
            <a:ext cx="810387" cy="307467"/>
          </a:xfrm>
          <a:prstGeom prst="rect">
            <a:avLst/>
          </a:prstGeom>
          <a:solidFill>
            <a:srgbClr val="92D050"/>
          </a:solidFill>
          <a:ln w="10287">
            <a:solidFill>
              <a:srgbClr val="000000"/>
            </a:solidFill>
          </a:ln>
          <a:effectLst>
            <a:outerShdw sx="100000" sy="100000" kx="0" ky="0" algn="bl" rotWithShape="0" blurRad="19050" dist="17780" dir="5400000">
              <a:srgbClr val="000000">
                <a:alpha val="22000"/>
              </a:srgbClr>
            </a:outerShdw>
          </a:effectLst>
        </p:spPr>
        <p:txBody>
          <a:bodyPr wrap="square" lIns="74041" tIns="0" rIns="74041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µcFE</a:t>
            </a:r>
            <a:br/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000" dirty="0"/>
          </a:p>
        </p:txBody>
      </p:sp>
      <p:sp>
        <p:nvSpPr>
          <p:cNvPr id="38" name="TSP cFE Core"/>
          <p:cNvSpPr/>
          <p:nvPr/>
        </p:nvSpPr>
        <p:spPr>
          <a:xfrm>
            <a:off x="4882325" y="4297109"/>
            <a:ext cx="1802511" cy="307467"/>
          </a:xfrm>
          <a:prstGeom prst="rect">
            <a:avLst/>
          </a:prstGeom>
          <a:solidFill>
            <a:srgbClr val="92D050"/>
          </a:solidFill>
          <a:ln w="10287">
            <a:solidFill>
              <a:srgbClr val="000000"/>
            </a:solidFill>
          </a:ln>
          <a:effectLst>
            <a:outerShdw sx="100000" sy="100000" kx="0" ky="0" algn="bl" rotWithShape="0" blurRad="19050" dist="17780" dir="5400000">
              <a:srgbClr val="000000">
                <a:alpha val="22000"/>
              </a:srgbClr>
            </a:outerShdw>
          </a:effectLst>
        </p:spPr>
        <p:txBody>
          <a:bodyPr wrap="square" lIns="74041" tIns="0" rIns="74041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&amp; Space Partitioning</a:t>
            </a:r>
            <a:br/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(TSP)  cFE Core</a:t>
            </a:r>
            <a:endParaRPr lang="en-US" sz="1000" dirty="0"/>
          </a:p>
        </p:txBody>
      </p:sp>
      <p:sp>
        <p:nvSpPr>
          <p:cNvPr id="39" name="OS Abstraction API"/>
          <p:cNvSpPr/>
          <p:nvPr/>
        </p:nvSpPr>
        <p:spPr>
          <a:xfrm>
            <a:off x="1046416" y="4745165"/>
            <a:ext cx="4431411" cy="184023"/>
          </a:xfrm>
          <a:prstGeom prst="rect">
            <a:avLst/>
          </a:prstGeom>
          <a:solidFill>
            <a:srgbClr val="00B0F0"/>
          </a:solidFill>
          <a:ln w="10287">
            <a:solidFill>
              <a:srgbClr val="000000"/>
            </a:solidFill>
          </a:ln>
          <a:effectLst>
            <a:outerShdw sx="100000" sy="100000" kx="0" ky="0" algn="bl" rotWithShape="0" blurRad="19050" dist="17780" dir="5400000">
              <a:srgbClr val="000000">
                <a:alpha val="22000"/>
              </a:srgbClr>
            </a:outerShdw>
          </a:effectLst>
        </p:spPr>
        <p:txBody>
          <a:bodyPr wrap="square" lIns="74041" tIns="0" rIns="74041" bIns="0" rtlCol="0" anchor="ctr"/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Abstraction API</a:t>
            </a:r>
            <a:endParaRPr lang="en-US" sz="1140" dirty="0"/>
          </a:p>
        </p:txBody>
      </p:sp>
      <p:sp>
        <p:nvSpPr>
          <p:cNvPr id="40" name="cFE PSP API"/>
          <p:cNvSpPr/>
          <p:nvPr/>
        </p:nvSpPr>
        <p:spPr>
          <a:xfrm>
            <a:off x="5604701" y="4736021"/>
            <a:ext cx="1381887" cy="161163"/>
          </a:xfrm>
          <a:prstGeom prst="rect">
            <a:avLst/>
          </a:prstGeom>
          <a:solidFill>
            <a:srgbClr val="00B0F0"/>
          </a:solidFill>
          <a:ln w="10287">
            <a:solidFill>
              <a:srgbClr val="000000"/>
            </a:solidFill>
          </a:ln>
          <a:effectLst>
            <a:outerShdw sx="100000" sy="100000" kx="0" ky="0" algn="bl" rotWithShape="0" blurRad="19050" dist="17780" dir="5400000">
              <a:srgbClr val="000000">
                <a:alpha val="22000"/>
              </a:srgbClr>
            </a:outerShdw>
          </a:effectLst>
        </p:spPr>
        <p:txBody>
          <a:bodyPr wrap="square" lIns="74041" tIns="0" rIns="74041" bIns="0" rtlCol="0" anchor="ctr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cFE PSP API</a:t>
            </a:r>
            <a:endParaRPr lang="en-US" sz="1140" dirty="0"/>
          </a:p>
        </p:txBody>
      </p:sp>
      <p:sp>
        <p:nvSpPr>
          <p:cNvPr id="41" name="OS Abstraction Linux"/>
          <p:cNvSpPr/>
          <p:nvPr/>
        </p:nvSpPr>
        <p:spPr>
          <a:xfrm>
            <a:off x="1046416" y="4992053"/>
            <a:ext cx="997839" cy="371475"/>
          </a:xfrm>
          <a:prstGeom prst="rect">
            <a:avLst/>
          </a:prstGeom>
          <a:solidFill>
            <a:srgbClr val="00B0F0"/>
          </a:solidFill>
          <a:ln w="10287">
            <a:solidFill>
              <a:srgbClr val="000000"/>
            </a:solidFill>
          </a:ln>
          <a:effectLst>
            <a:outerShdw sx="100000" sy="100000" kx="0" ky="0" algn="bl" rotWithShape="0" blurRad="19050" dist="17780" dir="5400000">
              <a:srgbClr val="000000">
                <a:alpha val="22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Abstraction</a:t>
            </a:r>
            <a:br/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</a:t>
            </a:r>
            <a:endParaRPr lang="en-US" sz="1000" dirty="0"/>
          </a:p>
        </p:txBody>
      </p:sp>
      <p:sp>
        <p:nvSpPr>
          <p:cNvPr id="42" name="OS Abstraction RTEMS"/>
          <p:cNvSpPr/>
          <p:nvPr/>
        </p:nvSpPr>
        <p:spPr>
          <a:xfrm>
            <a:off x="2107121" y="4992053"/>
            <a:ext cx="997839" cy="371475"/>
          </a:xfrm>
          <a:prstGeom prst="rect">
            <a:avLst/>
          </a:prstGeom>
          <a:solidFill>
            <a:srgbClr val="00B0F0"/>
          </a:solidFill>
          <a:ln w="10287">
            <a:solidFill>
              <a:srgbClr val="000000"/>
            </a:solidFill>
          </a:ln>
          <a:effectLst>
            <a:outerShdw sx="100000" sy="100000" kx="0" ky="0" algn="bl" rotWithShape="0" blurRad="19050" dist="17780" dir="5400000">
              <a:srgbClr val="000000">
                <a:alpha val="22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Abstraction</a:t>
            </a:r>
            <a:br/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RTEMS</a:t>
            </a:r>
            <a:endParaRPr lang="en-US" sz="1000" dirty="0"/>
          </a:p>
        </p:txBody>
      </p:sp>
      <p:sp>
        <p:nvSpPr>
          <p:cNvPr id="43" name="OS Abstraction VxWorks"/>
          <p:cNvSpPr/>
          <p:nvPr/>
        </p:nvSpPr>
        <p:spPr>
          <a:xfrm>
            <a:off x="3163252" y="4992053"/>
            <a:ext cx="1002411" cy="371475"/>
          </a:xfrm>
          <a:prstGeom prst="rect">
            <a:avLst/>
          </a:prstGeom>
          <a:gradFill rotWithShape="1">
            <a:gsLst>
              <a:gs pos="0">
                <a:srgbClr val="E3E4DF"/>
              </a:gs>
              <a:gs pos="45000">
                <a:srgbClr val="F3F4EF"/>
              </a:gs>
              <a:gs pos="100000">
                <a:srgbClr val="F9F9F7"/>
              </a:gs>
            </a:gsLst>
            <a:lin ang="5400000" scaled="0"/>
          </a:gradFill>
          <a:ln w="10287">
            <a:solidFill>
              <a:srgbClr val="000000"/>
            </a:solidFill>
          </a:ln>
          <a:effectLst>
            <a:outerShdw sx="100000" sy="100000" kx="0" ky="0" algn="bl" rotWithShape="0" blurRad="19050" dist="17780" dir="5400000">
              <a:srgbClr val="000000">
                <a:alpha val="22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Abstraction</a:t>
            </a:r>
            <a:br/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VxWorks</a:t>
            </a:r>
            <a:endParaRPr lang="en-US" sz="1000" dirty="0"/>
          </a:p>
        </p:txBody>
      </p:sp>
      <p:sp>
        <p:nvSpPr>
          <p:cNvPr id="44" name="OS Abstraction TSP"/>
          <p:cNvSpPr/>
          <p:nvPr/>
        </p:nvSpPr>
        <p:spPr>
          <a:xfrm>
            <a:off x="4287965" y="4992053"/>
            <a:ext cx="1002411" cy="371475"/>
          </a:xfrm>
          <a:prstGeom prst="rect">
            <a:avLst/>
          </a:prstGeom>
          <a:gradFill rotWithShape="1">
            <a:gsLst>
              <a:gs pos="0">
                <a:srgbClr val="E3E4DF"/>
              </a:gs>
              <a:gs pos="45000">
                <a:srgbClr val="F3F4EF"/>
              </a:gs>
              <a:gs pos="100000">
                <a:srgbClr val="F9F9F7"/>
              </a:gs>
            </a:gsLst>
            <a:lin ang="5400000" scaled="0"/>
          </a:gradFill>
          <a:ln w="10287">
            <a:solidFill>
              <a:srgbClr val="000000"/>
            </a:solidFill>
          </a:ln>
          <a:effectLst>
            <a:outerShdw sx="100000" sy="100000" kx="0" ky="0" algn="bl" rotWithShape="0" blurRad="19050" dist="17780" dir="5400000">
              <a:srgbClr val="000000">
                <a:alpha val="22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Abstraction</a:t>
            </a:r>
            <a:br/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TSP</a:t>
            </a:r>
            <a:endParaRPr lang="en-US" sz="1000" dirty="0"/>
          </a:p>
        </p:txBody>
      </p:sp>
      <p:sp>
        <p:nvSpPr>
          <p:cNvPr id="45" name="cFE PSPs stack 2"/>
          <p:cNvSpPr/>
          <p:nvPr/>
        </p:nvSpPr>
        <p:spPr>
          <a:xfrm>
            <a:off x="5660073" y="5030153"/>
            <a:ext cx="1377315" cy="371475"/>
          </a:xfrm>
          <a:prstGeom prst="rect">
            <a:avLst/>
          </a:prstGeom>
          <a:solidFill>
            <a:srgbClr val="BFBFBF"/>
          </a:solidFill>
          <a:ln w="10287">
            <a:solidFill>
              <a:srgbClr val="000000"/>
            </a:solidFill>
            <a:prstDash val="solid"/>
          </a:ln>
          <a:effectLst>
            <a:outerShdw sx="100000" sy="100000" kx="0" ky="0" algn="bl" rotWithShape="0" blurRad="19050" dist="17780" dir="5400000">
              <a:srgbClr val="000000">
                <a:alpha val="22000"/>
              </a:srgbClr>
            </a:outerShdw>
          </a:effectLst>
        </p:spPr>
      </p:sp>
      <p:sp>
        <p:nvSpPr>
          <p:cNvPr id="46" name="cFE PSPs stack 1"/>
          <p:cNvSpPr/>
          <p:nvPr/>
        </p:nvSpPr>
        <p:spPr>
          <a:xfrm>
            <a:off x="5634673" y="5011103"/>
            <a:ext cx="1377315" cy="371475"/>
          </a:xfrm>
          <a:prstGeom prst="rect">
            <a:avLst/>
          </a:prstGeom>
          <a:solidFill>
            <a:srgbClr val="BFBFBF"/>
          </a:solidFill>
          <a:ln w="10287">
            <a:solidFill>
              <a:srgbClr val="000000"/>
            </a:solidFill>
            <a:prstDash val="solid"/>
          </a:ln>
          <a:effectLst>
            <a:outerShdw sx="100000" sy="100000" kx="0" ky="0" algn="bl" rotWithShape="0" blurRad="19050" dist="17780" dir="5400000">
              <a:srgbClr val="000000">
                <a:alpha val="22000"/>
              </a:srgbClr>
            </a:outerShdw>
          </a:effectLst>
        </p:spPr>
      </p:sp>
      <p:sp>
        <p:nvSpPr>
          <p:cNvPr id="47" name="cFE Platform Support Packages"/>
          <p:cNvSpPr/>
          <p:nvPr/>
        </p:nvSpPr>
        <p:spPr>
          <a:xfrm>
            <a:off x="5609272" y="4992053"/>
            <a:ext cx="1377315" cy="371475"/>
          </a:xfrm>
          <a:prstGeom prst="rect">
            <a:avLst/>
          </a:prstGeom>
          <a:solidFill>
            <a:srgbClr val="BFBFBF"/>
          </a:solidFill>
          <a:ln w="10287">
            <a:solidFill>
              <a:srgbClr val="000000"/>
            </a:solidFill>
          </a:ln>
          <a:effectLst>
            <a:outerShdw sx="100000" sy="100000" kx="0" ky="0" algn="bl" rotWithShape="0" blurRad="19050" dist="17780" dir="5400000">
              <a:srgbClr val="000000">
                <a:alpha val="22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cFE Platform Support</a:t>
            </a:r>
            <a:br/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</a:t>
            </a:r>
            <a:endParaRPr lang="en-US" sz="1000" dirty="0"/>
          </a:p>
        </p:txBody>
      </p:sp>
      <p:sp>
        <p:nvSpPr>
          <p:cNvPr id="48" name="Real Time OS"/>
          <p:cNvSpPr/>
          <p:nvPr/>
        </p:nvSpPr>
        <p:spPr>
          <a:xfrm>
            <a:off x="1046416" y="5618417"/>
            <a:ext cx="1432179" cy="494919"/>
          </a:xfrm>
          <a:prstGeom prst="rect">
            <a:avLst/>
          </a:prstGeom>
          <a:solidFill>
            <a:srgbClr val="FF4040"/>
          </a:solidFill>
          <a:ln w="10287">
            <a:solidFill>
              <a:srgbClr val="000000"/>
            </a:solidFill>
          </a:ln>
          <a:effectLst>
            <a:outerShdw sx="100000" sy="100000" kx="0" ky="0" algn="bl" rotWithShape="0" blurRad="19050" dist="17780" dir="5400000">
              <a:srgbClr val="000000">
                <a:alpha val="22000"/>
              </a:srgbClr>
            </a:outerShdw>
          </a:effectLst>
        </p:spPr>
        <p:txBody>
          <a:bodyPr wrap="square" lIns="74041" tIns="37084" rIns="74041" bIns="3708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Time OS</a:t>
            </a:r>
            <a:endParaRPr lang="en-US" sz="1000" dirty="0"/>
          </a:p>
        </p:txBody>
      </p:sp>
      <p:sp>
        <p:nvSpPr>
          <p:cNvPr id="49" name="Board Support Package"/>
          <p:cNvSpPr/>
          <p:nvPr/>
        </p:nvSpPr>
        <p:spPr>
          <a:xfrm>
            <a:off x="2482025" y="5618417"/>
            <a:ext cx="1436751" cy="494919"/>
          </a:xfrm>
          <a:prstGeom prst="rect">
            <a:avLst/>
          </a:prstGeom>
          <a:solidFill>
            <a:srgbClr val="BFBFBF"/>
          </a:solidFill>
          <a:ln w="10287">
            <a:solidFill>
              <a:srgbClr val="000000"/>
            </a:solidFill>
          </a:ln>
          <a:effectLst>
            <a:outerShdw sx="100000" sy="100000" kx="0" ky="0" algn="bl" rotWithShape="0" blurRad="19050" dist="17780" dir="5400000">
              <a:srgbClr val="000000">
                <a:alpha val="22000"/>
              </a:srgbClr>
            </a:outerShdw>
          </a:effectLst>
        </p:spPr>
        <p:txBody>
          <a:bodyPr wrap="square" lIns="74041" tIns="37084" rIns="74041" bIns="3708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Support</a:t>
            </a:r>
            <a:br/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</a:t>
            </a:r>
            <a:endParaRPr lang="en-US" sz="1000" dirty="0"/>
          </a:p>
        </p:txBody>
      </p:sp>
      <p:sp>
        <p:nvSpPr>
          <p:cNvPr id="50" name="PROM Boot FSW"/>
          <p:cNvSpPr/>
          <p:nvPr/>
        </p:nvSpPr>
        <p:spPr>
          <a:xfrm>
            <a:off x="1046416" y="6368225"/>
            <a:ext cx="2995803" cy="312039"/>
          </a:xfrm>
          <a:prstGeom prst="rect">
            <a:avLst/>
          </a:prstGeom>
          <a:solidFill>
            <a:srgbClr val="BFBFBF"/>
          </a:solidFill>
          <a:ln w="10287">
            <a:solidFill>
              <a:srgbClr val="000000"/>
            </a:solidFill>
          </a:ln>
          <a:effectLst>
            <a:outerShdw sx="100000" sy="100000" kx="0" ky="0" algn="bl" rotWithShape="0" blurRad="19050" dist="17780" dir="5400000">
              <a:srgbClr val="000000">
                <a:alpha val="22000"/>
              </a:srgbClr>
            </a:outerShdw>
          </a:effectLst>
        </p:spPr>
        <p:txBody>
          <a:bodyPr wrap="square" lIns="74041" tIns="37084" rIns="74041" bIns="3708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 Boot FSW</a:t>
            </a:r>
            <a:endParaRPr lang="en-US" sz="1000" dirty="0"/>
          </a:p>
        </p:txBody>
      </p:sp>
      <p:sp>
        <p:nvSpPr>
          <p:cNvPr id="51" name="Legend"/>
          <p:cNvSpPr/>
          <p:nvPr/>
        </p:nvSpPr>
        <p:spPr>
          <a:xfrm>
            <a:off x="4987481" y="5755577"/>
            <a:ext cx="1994535" cy="897255"/>
          </a:xfrm>
          <a:prstGeom prst="rect">
            <a:avLst/>
          </a:prstGeom>
          <a:solidFill>
            <a:srgbClr val="FFFFFF"/>
          </a:solidFill>
          <a:ln w="10287">
            <a:solidFill>
              <a:srgbClr val="000000"/>
            </a:solidFill>
            <a:prstDash val="solid"/>
          </a:ln>
          <a:effectLst>
            <a:outerShdw sx="100000" sy="100000" kx="0" ky="0" algn="bl" rotWithShape="0" blurRad="19050" dist="17780" dir="5400000">
              <a:srgbClr val="000000">
                <a:alpha val="22000"/>
              </a:srgbClr>
            </a:outerShdw>
          </a:effectLst>
        </p:spPr>
      </p:sp>
      <p:sp>
        <p:nvSpPr>
          <p:cNvPr id="52" name="Legend swatch 1"/>
          <p:cNvSpPr/>
          <p:nvPr/>
        </p:nvSpPr>
        <p:spPr>
          <a:xfrm>
            <a:off x="5056061" y="5869877"/>
            <a:ext cx="193167" cy="120015"/>
          </a:xfrm>
          <a:prstGeom prst="rect">
            <a:avLst/>
          </a:prstGeom>
          <a:solidFill>
            <a:srgbClr val="BFBFBF"/>
          </a:solidFill>
          <a:ln w="10287">
            <a:solidFill>
              <a:srgbClr val="000000"/>
            </a:solidFill>
            <a:prstDash val="solid"/>
          </a:ln>
          <a:effectLst>
            <a:outerShdw sx="100000" sy="100000" kx="0" ky="0" algn="bl" rotWithShape="0" blurRad="19050" dist="17780" dir="5400000">
              <a:srgbClr val="000000">
                <a:alpha val="22000"/>
              </a:srgbClr>
            </a:outerShdw>
          </a:effectLst>
        </p:spPr>
      </p:sp>
      <p:sp>
        <p:nvSpPr>
          <p:cNvPr id="53" name="Legend label 1"/>
          <p:cNvSpPr/>
          <p:nvPr/>
        </p:nvSpPr>
        <p:spPr>
          <a:xfrm>
            <a:off x="5385816" y="5906008"/>
            <a:ext cx="1573784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Developed</a:t>
            </a:r>
            <a:endParaRPr lang="en-US" sz="800" dirty="0"/>
          </a:p>
        </p:txBody>
      </p:sp>
      <p:sp>
        <p:nvSpPr>
          <p:cNvPr id="54" name="Legend swatch 2"/>
          <p:cNvSpPr/>
          <p:nvPr/>
        </p:nvSpPr>
        <p:spPr>
          <a:xfrm>
            <a:off x="5060633" y="6052757"/>
            <a:ext cx="197739" cy="120015"/>
          </a:xfrm>
          <a:prstGeom prst="rect">
            <a:avLst/>
          </a:prstGeom>
          <a:solidFill>
            <a:srgbClr val="92D050"/>
          </a:solidFill>
          <a:ln w="10287">
            <a:solidFill>
              <a:srgbClr val="000000"/>
            </a:solidFill>
            <a:prstDash val="solid"/>
          </a:ln>
          <a:effectLst>
            <a:outerShdw sx="100000" sy="100000" kx="0" ky="0" algn="bl" rotWithShape="0" blurRad="19050" dist="17780" dir="5400000">
              <a:srgbClr val="000000">
                <a:alpha val="22000"/>
              </a:srgbClr>
            </a:outerShdw>
          </a:effectLst>
        </p:spPr>
      </p:sp>
      <p:sp>
        <p:nvSpPr>
          <p:cNvPr id="55" name="Legend label 2"/>
          <p:cNvSpPr/>
          <p:nvPr/>
        </p:nvSpPr>
        <p:spPr>
          <a:xfrm>
            <a:off x="5399532" y="6069838"/>
            <a:ext cx="156006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development</a:t>
            </a:r>
            <a:endParaRPr lang="en-US" sz="800" dirty="0"/>
          </a:p>
        </p:txBody>
      </p:sp>
      <p:sp>
        <p:nvSpPr>
          <p:cNvPr id="56" name="Legend swatch 3"/>
          <p:cNvSpPr/>
          <p:nvPr/>
        </p:nvSpPr>
        <p:spPr>
          <a:xfrm>
            <a:off x="5051489" y="6263069"/>
            <a:ext cx="211455" cy="124587"/>
          </a:xfrm>
          <a:prstGeom prst="rect">
            <a:avLst/>
          </a:prstGeom>
          <a:solidFill>
            <a:srgbClr val="00B0F0"/>
          </a:solidFill>
          <a:ln w="10287">
            <a:solidFill>
              <a:srgbClr val="000000"/>
            </a:solidFill>
            <a:prstDash val="solid"/>
          </a:ln>
          <a:effectLst>
            <a:outerShdw sx="100000" sy="100000" kx="0" ky="0" algn="bl" rotWithShape="0" blurRad="19050" dist="17780" dir="5400000">
              <a:srgbClr val="000000">
                <a:alpha val="22000"/>
              </a:srgbClr>
            </a:outerShdw>
          </a:effectLst>
        </p:spPr>
      </p:sp>
      <p:sp>
        <p:nvSpPr>
          <p:cNvPr id="57" name="Legend label 3"/>
          <p:cNvSpPr/>
          <p:nvPr/>
        </p:nvSpPr>
        <p:spPr>
          <a:xfrm>
            <a:off x="5404104" y="6248908"/>
            <a:ext cx="1555496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source/NASA Maintained</a:t>
            </a:r>
            <a:endParaRPr lang="en-US" sz="800" dirty="0"/>
          </a:p>
        </p:txBody>
      </p:sp>
      <p:sp>
        <p:nvSpPr>
          <p:cNvPr id="58" name="Legend swatch 4"/>
          <p:cNvSpPr/>
          <p:nvPr/>
        </p:nvSpPr>
        <p:spPr>
          <a:xfrm>
            <a:off x="5060633" y="6468809"/>
            <a:ext cx="197739" cy="120015"/>
          </a:xfrm>
          <a:prstGeom prst="rect">
            <a:avLst/>
          </a:prstGeom>
          <a:solidFill>
            <a:srgbClr val="FF4040"/>
          </a:solidFill>
          <a:ln w="10287">
            <a:solidFill>
              <a:srgbClr val="000000"/>
            </a:solidFill>
            <a:prstDash val="solid"/>
          </a:ln>
          <a:effectLst>
            <a:outerShdw sx="100000" sy="100000" kx="0" ky="0" algn="bl" rotWithShape="0" blurRad="19050" dist="17780" dir="5400000">
              <a:srgbClr val="000000">
                <a:alpha val="22000"/>
              </a:srgbClr>
            </a:outerShdw>
          </a:effectLst>
        </p:spPr>
      </p:sp>
      <p:sp>
        <p:nvSpPr>
          <p:cNvPr id="59" name="Legend label 4"/>
          <p:cNvSpPr/>
          <p:nvPr/>
        </p:nvSpPr>
        <p:spPr>
          <a:xfrm>
            <a:off x="5445252" y="6473698"/>
            <a:ext cx="15143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r>
              <a:rPr lang="en-US" sz="800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Party</a:t>
            </a:r>
            <a:endParaRPr lang="en-US" sz="800" dirty="0"/>
          </a:p>
        </p:txBody>
      </p:sp>
      <p:sp>
        <p:nvSpPr>
          <p:cNvPr id="60" name="Layer label 1"/>
          <p:cNvSpPr/>
          <p:nvPr/>
        </p:nvSpPr>
        <p:spPr>
          <a:xfrm>
            <a:off x="6973062" y="2524760"/>
            <a:ext cx="121920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70"/>
              </a:lnSpc>
              <a:buNone/>
            </a:pPr>
            <a:r>
              <a:rPr lang="en-US" sz="11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and CFS</a:t>
            </a:r>
            <a:br/>
            <a:pPr algn="ctr" indent="0" marL="0">
              <a:lnSpc>
                <a:spcPts val="1370"/>
              </a:lnSpc>
              <a:buNone/>
            </a:pPr>
            <a:r>
              <a:rPr lang="en-US" sz="11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Layer</a:t>
            </a:r>
            <a:endParaRPr lang="en-US" sz="1140" dirty="0"/>
          </a:p>
        </p:txBody>
      </p:sp>
      <p:sp>
        <p:nvSpPr>
          <p:cNvPr id="61" name="Layer label 2"/>
          <p:cNvSpPr/>
          <p:nvPr/>
        </p:nvSpPr>
        <p:spPr>
          <a:xfrm>
            <a:off x="6990588" y="3402330"/>
            <a:ext cx="121920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1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and CFS</a:t>
            </a:r>
            <a:br/>
            <a:pPr algn="l" indent="0" marL="0">
              <a:lnSpc>
                <a:spcPts val="1370"/>
              </a:lnSpc>
              <a:buNone/>
            </a:pPr>
            <a:r>
              <a:rPr lang="en-US" sz="11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Layer</a:t>
            </a:r>
            <a:endParaRPr lang="en-US" sz="1140" dirty="0"/>
          </a:p>
        </p:txBody>
      </p:sp>
      <p:sp>
        <p:nvSpPr>
          <p:cNvPr id="62" name="Layer label 3"/>
          <p:cNvSpPr/>
          <p:nvPr/>
        </p:nvSpPr>
        <p:spPr>
          <a:xfrm>
            <a:off x="7266940" y="4152900"/>
            <a:ext cx="121920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1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cFE Core</a:t>
            </a:r>
            <a:br/>
            <a:pPr algn="l" indent="0" marL="0">
              <a:lnSpc>
                <a:spcPts val="1370"/>
              </a:lnSpc>
              <a:buNone/>
            </a:pPr>
            <a:r>
              <a:rPr lang="en-US" sz="11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1140" dirty="0"/>
          </a:p>
        </p:txBody>
      </p:sp>
      <p:sp>
        <p:nvSpPr>
          <p:cNvPr id="63" name="Layer label 4"/>
          <p:cNvSpPr/>
          <p:nvPr/>
        </p:nvSpPr>
        <p:spPr>
          <a:xfrm>
            <a:off x="7195820" y="4902200"/>
            <a:ext cx="121920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1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Abstraction</a:t>
            </a:r>
            <a:br/>
            <a:pPr algn="l" indent="0" marL="0">
              <a:lnSpc>
                <a:spcPts val="1370"/>
              </a:lnSpc>
              <a:buNone/>
            </a:pPr>
            <a:r>
              <a:rPr lang="en-US" sz="11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Layer</a:t>
            </a:r>
            <a:endParaRPr lang="en-US" sz="1140" dirty="0"/>
          </a:p>
        </p:txBody>
      </p:sp>
      <p:sp>
        <p:nvSpPr>
          <p:cNvPr id="64" name="Layer label 5"/>
          <p:cNvSpPr/>
          <p:nvPr/>
        </p:nvSpPr>
        <p:spPr>
          <a:xfrm>
            <a:off x="7068312" y="5652770"/>
            <a:ext cx="121920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1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RTOS / BOOT</a:t>
            </a:r>
            <a:br/>
            <a:pPr algn="l" indent="0" marL="0">
              <a:lnSpc>
                <a:spcPts val="1370"/>
              </a:lnSpc>
              <a:buNone/>
            </a:pPr>
            <a:r>
              <a:rPr lang="en-US" sz="11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1140" dirty="0"/>
          </a:p>
        </p:txBody>
      </p:sp>
      <p:sp>
        <p:nvSpPr>
          <p:cNvPr id="65" name="Highlight apps"/>
          <p:cNvSpPr/>
          <p:nvPr/>
        </p:nvSpPr>
        <p:spPr>
          <a:xfrm>
            <a:off x="4344162" y="2170938"/>
            <a:ext cx="2514600" cy="1030224"/>
          </a:xfrm>
          <a:prstGeom prst="ellipse">
            <a:avLst/>
          </a:prstGeom>
          <a:ln w="28956">
            <a:solidFill>
              <a:srgbClr val="C000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66" name="Highlight library"/>
          <p:cNvSpPr/>
          <p:nvPr/>
        </p:nvSpPr>
        <p:spPr>
          <a:xfrm>
            <a:off x="2058162" y="3048762"/>
            <a:ext cx="1219200" cy="954024"/>
          </a:xfrm>
          <a:prstGeom prst="ellipse">
            <a:avLst/>
          </a:prstGeom>
          <a:ln w="28956">
            <a:solidFill>
              <a:srgbClr val="C000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67" name="Footer date"/>
          <p:cNvSpPr/>
          <p:nvPr/>
        </p:nvSpPr>
        <p:spPr>
          <a:xfrm>
            <a:off x="117348" y="6560820"/>
            <a:ext cx="140665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2015</a:t>
            </a:r>
            <a:endParaRPr lang="en-US" sz="1200" dirty="0"/>
          </a:p>
        </p:txBody>
      </p:sp>
      <p:sp>
        <p:nvSpPr>
          <p:cNvPr id="68" name="Page number"/>
          <p:cNvSpPr/>
          <p:nvPr/>
        </p:nvSpPr>
        <p:spPr>
          <a:xfrm>
            <a:off x="8891016" y="6544945"/>
            <a:ext cx="15138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69" name="Portfolio footer"/>
          <p:cNvSpPr/>
          <p:nvPr/>
        </p:nvSpPr>
        <p:spPr>
          <a:xfrm>
            <a:off x="1234440" y="55880"/>
            <a:ext cx="473456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reconstruction of a public NASA slide. Not a NASA document.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PptxGenJS 4.0.1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Arial</vt:lpstr>
      <vt:lpstr>Office Theme</vt:lpstr>
      <vt:lpstr>Slide 1</vt:lpstr>
    </vt:vector>
  </TitlesOfParts>
  <Company/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cFS Key Features (faithful rebuild)</dc:title>
  <dc:subject>Portfolio reconstruction of a public NASA slide. Not a NASA document.</dc:subject>
  <dc:creator>Logan Ankenbrandt</dc:creator>
  <dc:description>Generated by src/02-cfs-key-features-faithful.js with PptxGenJS 4.0.1.</dc:description>
  <cp:lastModifiedBy>PptxGenJS 4.0.1</cp:lastModifiedBy>
  <cp:revision>1</cp:revision>
  <dcterms:created xsi:type="dcterms:W3CDTF">2026-10-08T14:51:40Z</dcterms:created>
  <dcterms:modified xsi:type="dcterms:W3CDTF">2026-10-08T14:51:40Z</dcterms:modified>
</cp:coreProperties>
</file>